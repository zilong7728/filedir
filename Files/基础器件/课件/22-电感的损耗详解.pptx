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304" r:id="rId2"/>
    <p:sldId id="310" r:id="rId3"/>
    <p:sldId id="316" r:id="rId4"/>
    <p:sldId id="319" r:id="rId5"/>
    <p:sldId id="317" r:id="rId6"/>
    <p:sldId id="320" r:id="rId7"/>
    <p:sldId id="318" r:id="rId8"/>
    <p:sldId id="315" r:id="rId9"/>
    <p:sldId id="321" r:id="rId10"/>
    <p:sldId id="312" r:id="rId11"/>
    <p:sldId id="323" r:id="rId12"/>
    <p:sldId id="322" r:id="rId13"/>
    <p:sldId id="314" r:id="rId14"/>
    <p:sldId id="324" r:id="rId15"/>
    <p:sldId id="325" r:id="rId16"/>
    <p:sldId id="327" r:id="rId17"/>
    <p:sldId id="308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0" userDrawn="1">
          <p15:clr>
            <a:srgbClr val="A4A3A4"/>
          </p15:clr>
        </p15:guide>
        <p15:guide id="2" pos="1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05F9"/>
    <a:srgbClr val="41719C"/>
    <a:srgbClr val="5B83A7"/>
    <a:srgbClr val="9E4F0D"/>
    <a:srgbClr val="1DF10D"/>
    <a:srgbClr val="7030A0"/>
    <a:srgbClr val="C55A11"/>
    <a:srgbClr val="E6E6E6"/>
    <a:srgbClr val="F3F3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6" autoAdjust="0"/>
    <p:restoredTop sz="91129" autoAdjust="0"/>
  </p:normalViewPr>
  <p:slideViewPr>
    <p:cSldViewPr snapToGrid="0">
      <p:cViewPr>
        <p:scale>
          <a:sx n="50" d="100"/>
          <a:sy n="50" d="100"/>
        </p:scale>
        <p:origin x="864" y="1254"/>
      </p:cViewPr>
      <p:guideLst>
        <p:guide orient="horz" pos="1230"/>
        <p:guide pos="1912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65AE0-690F-4E1E-A814-50BF005BB22A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32911-2138-4BB8-8059-3830608EDD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33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32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6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33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332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767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50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31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640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79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37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60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137E7-C718-4E91-A476-3082A6A9DA68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34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EC17423-7AB2-439E-9EBC-0090B03B346B}"/>
              </a:ext>
            </a:extLst>
          </p:cNvPr>
          <p:cNvSpPr txBox="1"/>
          <p:nvPr/>
        </p:nvSpPr>
        <p:spPr>
          <a:xfrm>
            <a:off x="3772752" y="1729136"/>
            <a:ext cx="5265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电感的损耗有哪些？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C983C7-0279-4C69-8DFA-93AA813EA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930" y="1774094"/>
            <a:ext cx="408489" cy="43330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BAA4595-A71C-4EC7-BEAB-56B1FCBD4E6B}"/>
              </a:ext>
            </a:extLst>
          </p:cNvPr>
          <p:cNvSpPr txBox="1"/>
          <p:nvPr/>
        </p:nvSpPr>
        <p:spPr>
          <a:xfrm>
            <a:off x="3772753" y="2543069"/>
            <a:ext cx="45264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电感的损耗如何计算？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DAA8849-EFCB-4587-B520-7B10DBC1E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930" y="2588027"/>
            <a:ext cx="408489" cy="43330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C79B124-555F-4084-83BA-A28A5AB964E2}"/>
              </a:ext>
            </a:extLst>
          </p:cNvPr>
          <p:cNvSpPr txBox="1"/>
          <p:nvPr/>
        </p:nvSpPr>
        <p:spPr>
          <a:xfrm>
            <a:off x="4899862" y="437270"/>
            <a:ext cx="2392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电感的损耗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0834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921"/>
    </mc:Choice>
    <mc:Fallback>
      <p:transition spd="slow" advTm="109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3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F7148FA5-431F-44F7-8F24-969FDA6113F5}"/>
              </a:ext>
            </a:extLst>
          </p:cNvPr>
          <p:cNvGrpSpPr/>
          <p:nvPr/>
        </p:nvGrpSpPr>
        <p:grpSpPr>
          <a:xfrm>
            <a:off x="3649317" y="1795600"/>
            <a:ext cx="2472692" cy="2408835"/>
            <a:chOff x="3155831" y="1879582"/>
            <a:chExt cx="2472692" cy="2408835"/>
          </a:xfrm>
        </p:grpSpPr>
        <p:sp>
          <p:nvSpPr>
            <p:cNvPr id="2" name="左大括号 1">
              <a:extLst>
                <a:ext uri="{FF2B5EF4-FFF2-40B4-BE49-F238E27FC236}">
                  <a16:creationId xmlns:a16="http://schemas.microsoft.com/office/drawing/2014/main" id="{E4C1DE6E-055D-4D74-8FF1-5896C6306D9F}"/>
                </a:ext>
              </a:extLst>
            </p:cNvPr>
            <p:cNvSpPr/>
            <p:nvPr/>
          </p:nvSpPr>
          <p:spPr>
            <a:xfrm>
              <a:off x="4622899" y="2079636"/>
              <a:ext cx="224367" cy="1999785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1F77AB7-4877-4B24-ADC3-750C27C5E884}"/>
                </a:ext>
              </a:extLst>
            </p:cNvPr>
            <p:cNvSpPr/>
            <p:nvPr/>
          </p:nvSpPr>
          <p:spPr>
            <a:xfrm>
              <a:off x="4930896" y="1879582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线圈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7E6B19B-63F4-4BAC-9772-C86283F5EB7A}"/>
                </a:ext>
              </a:extLst>
            </p:cNvPr>
            <p:cNvSpPr/>
            <p:nvPr/>
          </p:nvSpPr>
          <p:spPr>
            <a:xfrm>
              <a:off x="4924592" y="3888307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磁芯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FC3C23F-FAEF-4317-81D7-DAFFFFBAD1D4}"/>
                </a:ext>
              </a:extLst>
            </p:cNvPr>
            <p:cNvSpPr/>
            <p:nvPr/>
          </p:nvSpPr>
          <p:spPr>
            <a:xfrm>
              <a:off x="3155831" y="2879473"/>
              <a:ext cx="14670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电感的损耗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E8723E5-883D-4B1C-92B2-2C8AAC9139D1}"/>
              </a:ext>
            </a:extLst>
          </p:cNvPr>
          <p:cNvGrpSpPr/>
          <p:nvPr/>
        </p:nvGrpSpPr>
        <p:grpSpPr>
          <a:xfrm>
            <a:off x="6174949" y="1433443"/>
            <a:ext cx="942833" cy="1137591"/>
            <a:chOff x="5681463" y="1517425"/>
            <a:chExt cx="942833" cy="1137591"/>
          </a:xfrm>
        </p:grpSpPr>
        <p:sp>
          <p:nvSpPr>
            <p:cNvPr id="6" name="左大括号 5">
              <a:extLst>
                <a:ext uri="{FF2B5EF4-FFF2-40B4-BE49-F238E27FC236}">
                  <a16:creationId xmlns:a16="http://schemas.microsoft.com/office/drawing/2014/main" id="{A7040055-8AB1-4D99-AEFB-26931A7DFF83}"/>
                </a:ext>
              </a:extLst>
            </p:cNvPr>
            <p:cNvSpPr/>
            <p:nvPr/>
          </p:nvSpPr>
          <p:spPr>
            <a:xfrm>
              <a:off x="5681463" y="1704311"/>
              <a:ext cx="224367" cy="750650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9F4B78E-74C6-4926-B7E8-5FC2554D1B78}"/>
                </a:ext>
              </a:extLst>
            </p:cNvPr>
            <p:cNvSpPr/>
            <p:nvPr/>
          </p:nvSpPr>
          <p:spPr>
            <a:xfrm>
              <a:off x="5905830" y="1517425"/>
              <a:ext cx="7184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DCR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B9A3A36-FBF4-4ECA-A337-13D94858FD83}"/>
                </a:ext>
              </a:extLst>
            </p:cNvPr>
            <p:cNvSpPr/>
            <p:nvPr/>
          </p:nvSpPr>
          <p:spPr>
            <a:xfrm>
              <a:off x="5905830" y="2254906"/>
              <a:ext cx="7184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ACR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D25D672-47F8-4459-AC6F-11BAB2FE3226}"/>
              </a:ext>
            </a:extLst>
          </p:cNvPr>
          <p:cNvGrpSpPr/>
          <p:nvPr/>
        </p:nvGrpSpPr>
        <p:grpSpPr>
          <a:xfrm>
            <a:off x="6227889" y="3429000"/>
            <a:ext cx="1434955" cy="1150760"/>
            <a:chOff x="5734403" y="3512982"/>
            <a:chExt cx="1434955" cy="1150760"/>
          </a:xfrm>
        </p:grpSpPr>
        <p:sp>
          <p:nvSpPr>
            <p:cNvPr id="7" name="左大括号 6">
              <a:extLst>
                <a:ext uri="{FF2B5EF4-FFF2-40B4-BE49-F238E27FC236}">
                  <a16:creationId xmlns:a16="http://schemas.microsoft.com/office/drawing/2014/main" id="{F66124E7-D38B-4D9B-91E0-EDEEB65D54BC}"/>
                </a:ext>
              </a:extLst>
            </p:cNvPr>
            <p:cNvSpPr/>
            <p:nvPr/>
          </p:nvSpPr>
          <p:spPr>
            <a:xfrm>
              <a:off x="5734403" y="3713037"/>
              <a:ext cx="224367" cy="750650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DE14D5B-3F05-4D15-A31F-05E5C86B67E4}"/>
                </a:ext>
              </a:extLst>
            </p:cNvPr>
            <p:cNvSpPr/>
            <p:nvPr/>
          </p:nvSpPr>
          <p:spPr>
            <a:xfrm>
              <a:off x="5926669" y="351298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磁滞损耗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0CC3B7C-BFFB-43AB-92DA-FD8AF5916CB5}"/>
                </a:ext>
              </a:extLst>
            </p:cNvPr>
            <p:cNvSpPr/>
            <p:nvPr/>
          </p:nvSpPr>
          <p:spPr>
            <a:xfrm>
              <a:off x="5958770" y="4263632"/>
              <a:ext cx="121058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涡流损耗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1208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85"/>
    </mc:Choice>
    <mc:Fallback>
      <p:transition spd="slow" advTm="68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8FF3D240-C3E0-4BF0-9A14-B2EEF361DEA0}"/>
              </a:ext>
            </a:extLst>
          </p:cNvPr>
          <p:cNvSpPr/>
          <p:nvPr/>
        </p:nvSpPr>
        <p:spPr>
          <a:xfrm>
            <a:off x="6399316" y="1433443"/>
            <a:ext cx="7184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DCR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1CDB4D7-D59C-404C-8781-9EF7F6ABFB1F}"/>
              </a:ext>
            </a:extLst>
          </p:cNvPr>
          <p:cNvGrpSpPr/>
          <p:nvPr/>
        </p:nvGrpSpPr>
        <p:grpSpPr>
          <a:xfrm>
            <a:off x="3649317" y="1620329"/>
            <a:ext cx="4013527" cy="2959431"/>
            <a:chOff x="3649317" y="1620329"/>
            <a:chExt cx="4013527" cy="2959431"/>
          </a:xfrm>
        </p:grpSpPr>
        <p:sp>
          <p:nvSpPr>
            <p:cNvPr id="16" name="左大括号 15">
              <a:extLst>
                <a:ext uri="{FF2B5EF4-FFF2-40B4-BE49-F238E27FC236}">
                  <a16:creationId xmlns:a16="http://schemas.microsoft.com/office/drawing/2014/main" id="{8A36F9F6-F821-4408-B43F-7A5A4874CCA6}"/>
                </a:ext>
              </a:extLst>
            </p:cNvPr>
            <p:cNvSpPr/>
            <p:nvPr/>
          </p:nvSpPr>
          <p:spPr>
            <a:xfrm>
              <a:off x="5116385" y="1995654"/>
              <a:ext cx="224367" cy="1999785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7EB3F38-569C-445E-92AC-9A7CDB9BDE86}"/>
                </a:ext>
              </a:extLst>
            </p:cNvPr>
            <p:cNvSpPr/>
            <p:nvPr/>
          </p:nvSpPr>
          <p:spPr>
            <a:xfrm>
              <a:off x="5424382" y="1795600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线圈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35765D4-195D-4B89-BF3B-F877966379BD}"/>
                </a:ext>
              </a:extLst>
            </p:cNvPr>
            <p:cNvSpPr/>
            <p:nvPr/>
          </p:nvSpPr>
          <p:spPr>
            <a:xfrm>
              <a:off x="5418078" y="3804325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磁芯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CF532DC-9908-44D2-943D-2E7FCEE29393}"/>
                </a:ext>
              </a:extLst>
            </p:cNvPr>
            <p:cNvSpPr/>
            <p:nvPr/>
          </p:nvSpPr>
          <p:spPr>
            <a:xfrm>
              <a:off x="3649317" y="2795491"/>
              <a:ext cx="14670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电感的损耗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左大括号 20">
              <a:extLst>
                <a:ext uri="{FF2B5EF4-FFF2-40B4-BE49-F238E27FC236}">
                  <a16:creationId xmlns:a16="http://schemas.microsoft.com/office/drawing/2014/main" id="{4C769D52-1764-4DB5-BB5C-A088F4A06C82}"/>
                </a:ext>
              </a:extLst>
            </p:cNvPr>
            <p:cNvSpPr/>
            <p:nvPr/>
          </p:nvSpPr>
          <p:spPr>
            <a:xfrm>
              <a:off x="6174949" y="1620329"/>
              <a:ext cx="224367" cy="750650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B10E32E-3C1F-4414-B402-4CF9546EF8CC}"/>
                </a:ext>
              </a:extLst>
            </p:cNvPr>
            <p:cNvSpPr/>
            <p:nvPr/>
          </p:nvSpPr>
          <p:spPr>
            <a:xfrm>
              <a:off x="6399316" y="2170924"/>
              <a:ext cx="7184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ACR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左大括号 24">
              <a:extLst>
                <a:ext uri="{FF2B5EF4-FFF2-40B4-BE49-F238E27FC236}">
                  <a16:creationId xmlns:a16="http://schemas.microsoft.com/office/drawing/2014/main" id="{C882818E-814F-44EA-90B6-D8225797F392}"/>
                </a:ext>
              </a:extLst>
            </p:cNvPr>
            <p:cNvSpPr/>
            <p:nvPr/>
          </p:nvSpPr>
          <p:spPr>
            <a:xfrm>
              <a:off x="6227889" y="3629055"/>
              <a:ext cx="224367" cy="750650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54E7828-90B9-4465-9D91-65EE2F767EE5}"/>
                </a:ext>
              </a:extLst>
            </p:cNvPr>
            <p:cNvSpPr/>
            <p:nvPr/>
          </p:nvSpPr>
          <p:spPr>
            <a:xfrm>
              <a:off x="6420155" y="3429000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磁滞损耗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04EAC4E-1A61-4ACE-8CBF-809F637137C0}"/>
                </a:ext>
              </a:extLst>
            </p:cNvPr>
            <p:cNvSpPr/>
            <p:nvPr/>
          </p:nvSpPr>
          <p:spPr>
            <a:xfrm>
              <a:off x="6452256" y="4179650"/>
              <a:ext cx="121058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涡流损耗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05E53B07-D957-4999-9A66-A0D8F3283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64" y="1833553"/>
            <a:ext cx="10124273" cy="4351200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03A551F6-5EB4-4159-BF78-3A8E3626D150}"/>
              </a:ext>
            </a:extLst>
          </p:cNvPr>
          <p:cNvSpPr/>
          <p:nvPr/>
        </p:nvSpPr>
        <p:spPr>
          <a:xfrm>
            <a:off x="4777572" y="3804325"/>
            <a:ext cx="1475718" cy="229167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1577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21"/>
    </mc:Choice>
    <mc:Fallback>
      <p:transition spd="slow" advTm="53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44444E-6 L -0.05899 -0.08217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56" y="-4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7D490148-6B18-4909-80F7-8FBAA6CF7519}"/>
              </a:ext>
            </a:extLst>
          </p:cNvPr>
          <p:cNvGrpSpPr/>
          <p:nvPr/>
        </p:nvGrpSpPr>
        <p:grpSpPr>
          <a:xfrm>
            <a:off x="3649317" y="1433443"/>
            <a:ext cx="4013527" cy="3146317"/>
            <a:chOff x="3649317" y="1433443"/>
            <a:chExt cx="4013527" cy="3146317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7148FA5-431F-44F7-8F24-969FDA6113F5}"/>
                </a:ext>
              </a:extLst>
            </p:cNvPr>
            <p:cNvGrpSpPr/>
            <p:nvPr/>
          </p:nvGrpSpPr>
          <p:grpSpPr>
            <a:xfrm>
              <a:off x="3649317" y="1795600"/>
              <a:ext cx="2472692" cy="2408835"/>
              <a:chOff x="3155831" y="1879582"/>
              <a:chExt cx="2472692" cy="2408835"/>
            </a:xfrm>
          </p:grpSpPr>
          <p:sp>
            <p:nvSpPr>
              <p:cNvPr id="2" name="左大括号 1">
                <a:extLst>
                  <a:ext uri="{FF2B5EF4-FFF2-40B4-BE49-F238E27FC236}">
                    <a16:creationId xmlns:a16="http://schemas.microsoft.com/office/drawing/2014/main" id="{E4C1DE6E-055D-4D74-8FF1-5896C6306D9F}"/>
                  </a:ext>
                </a:extLst>
              </p:cNvPr>
              <p:cNvSpPr/>
              <p:nvPr/>
            </p:nvSpPr>
            <p:spPr>
              <a:xfrm>
                <a:off x="4622899" y="2079636"/>
                <a:ext cx="224367" cy="1999785"/>
              </a:xfrm>
              <a:prstGeom prst="leftBrac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1F77AB7-4877-4B24-ADC3-750C27C5E884}"/>
                  </a:ext>
                </a:extLst>
              </p:cNvPr>
              <p:cNvSpPr/>
              <p:nvPr/>
            </p:nvSpPr>
            <p:spPr>
              <a:xfrm>
                <a:off x="4930896" y="1879582"/>
                <a:ext cx="69762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线圈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7E6B19B-63F4-4BAC-9772-C86283F5EB7A}"/>
                  </a:ext>
                </a:extLst>
              </p:cNvPr>
              <p:cNvSpPr/>
              <p:nvPr/>
            </p:nvSpPr>
            <p:spPr>
              <a:xfrm>
                <a:off x="4924592" y="3888307"/>
                <a:ext cx="69762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磁芯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FC3C23F-FAEF-4317-81D7-DAFFFFBAD1D4}"/>
                  </a:ext>
                </a:extLst>
              </p:cNvPr>
              <p:cNvSpPr/>
              <p:nvPr/>
            </p:nvSpPr>
            <p:spPr>
              <a:xfrm>
                <a:off x="3155831" y="2879473"/>
                <a:ext cx="146706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电感的损耗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6E8723E5-883D-4B1C-92B2-2C8AAC9139D1}"/>
                </a:ext>
              </a:extLst>
            </p:cNvPr>
            <p:cNvGrpSpPr/>
            <p:nvPr/>
          </p:nvGrpSpPr>
          <p:grpSpPr>
            <a:xfrm>
              <a:off x="6174949" y="1433443"/>
              <a:ext cx="942833" cy="1137591"/>
              <a:chOff x="5681463" y="1517425"/>
              <a:chExt cx="942833" cy="1137591"/>
            </a:xfrm>
          </p:grpSpPr>
          <p:sp>
            <p:nvSpPr>
              <p:cNvPr id="6" name="左大括号 5">
                <a:extLst>
                  <a:ext uri="{FF2B5EF4-FFF2-40B4-BE49-F238E27FC236}">
                    <a16:creationId xmlns:a16="http://schemas.microsoft.com/office/drawing/2014/main" id="{A7040055-8AB1-4D99-AEFB-26931A7DFF83}"/>
                  </a:ext>
                </a:extLst>
              </p:cNvPr>
              <p:cNvSpPr/>
              <p:nvPr/>
            </p:nvSpPr>
            <p:spPr>
              <a:xfrm>
                <a:off x="5681463" y="1704311"/>
                <a:ext cx="224367" cy="750650"/>
              </a:xfrm>
              <a:prstGeom prst="leftBrac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9F4B78E-74C6-4926-B7E8-5FC2554D1B78}"/>
                  </a:ext>
                </a:extLst>
              </p:cNvPr>
              <p:cNvSpPr/>
              <p:nvPr/>
            </p:nvSpPr>
            <p:spPr>
              <a:xfrm>
                <a:off x="5905830" y="1517425"/>
                <a:ext cx="71846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DCR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B9A3A36-FBF4-4ECA-A337-13D94858FD83}"/>
                  </a:ext>
                </a:extLst>
              </p:cNvPr>
              <p:cNvSpPr/>
              <p:nvPr/>
            </p:nvSpPr>
            <p:spPr>
              <a:xfrm>
                <a:off x="5905830" y="2254906"/>
                <a:ext cx="71846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ACR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D25D672-47F8-4459-AC6F-11BAB2FE3226}"/>
                </a:ext>
              </a:extLst>
            </p:cNvPr>
            <p:cNvGrpSpPr/>
            <p:nvPr/>
          </p:nvGrpSpPr>
          <p:grpSpPr>
            <a:xfrm>
              <a:off x="6227889" y="3429000"/>
              <a:ext cx="1434955" cy="1150760"/>
              <a:chOff x="5734403" y="3512982"/>
              <a:chExt cx="1434955" cy="1150760"/>
            </a:xfrm>
          </p:grpSpPr>
          <p:sp>
            <p:nvSpPr>
              <p:cNvPr id="7" name="左大括号 6">
                <a:extLst>
                  <a:ext uri="{FF2B5EF4-FFF2-40B4-BE49-F238E27FC236}">
                    <a16:creationId xmlns:a16="http://schemas.microsoft.com/office/drawing/2014/main" id="{F66124E7-D38B-4D9B-91E0-EDEEB65D54BC}"/>
                  </a:ext>
                </a:extLst>
              </p:cNvPr>
              <p:cNvSpPr/>
              <p:nvPr/>
            </p:nvSpPr>
            <p:spPr>
              <a:xfrm>
                <a:off x="5734403" y="3713037"/>
                <a:ext cx="224367" cy="750650"/>
              </a:xfrm>
              <a:prstGeom prst="leftBrac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DE14D5B-3F05-4D15-A31F-05E5C86B67E4}"/>
                  </a:ext>
                </a:extLst>
              </p:cNvPr>
              <p:cNvSpPr/>
              <p:nvPr/>
            </p:nvSpPr>
            <p:spPr>
              <a:xfrm>
                <a:off x="5926669" y="3512982"/>
                <a:ext cx="12105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磁滞损耗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0CC3B7C-BFFB-43AB-92DA-FD8AF5916CB5}"/>
                  </a:ext>
                </a:extLst>
              </p:cNvPr>
              <p:cNvSpPr/>
              <p:nvPr/>
            </p:nvSpPr>
            <p:spPr>
              <a:xfrm>
                <a:off x="5958770" y="4263632"/>
                <a:ext cx="121058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涡流损耗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69463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02"/>
    </mc:Choice>
    <mc:Fallback>
      <p:transition spd="slow" advTm="41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EB10E32E-3C1F-4414-B402-4CF9546EF8CC}"/>
              </a:ext>
            </a:extLst>
          </p:cNvPr>
          <p:cNvSpPr/>
          <p:nvPr/>
        </p:nvSpPr>
        <p:spPr>
          <a:xfrm>
            <a:off x="6399316" y="2170924"/>
            <a:ext cx="7184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ACR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C06B4AE-0EE9-405C-8016-AA17CC069338}"/>
              </a:ext>
            </a:extLst>
          </p:cNvPr>
          <p:cNvGrpSpPr/>
          <p:nvPr/>
        </p:nvGrpSpPr>
        <p:grpSpPr>
          <a:xfrm>
            <a:off x="3649317" y="1433443"/>
            <a:ext cx="4013527" cy="3146317"/>
            <a:chOff x="3649317" y="1433443"/>
            <a:chExt cx="4013527" cy="3146317"/>
          </a:xfrm>
        </p:grpSpPr>
        <p:sp>
          <p:nvSpPr>
            <p:cNvPr id="16" name="左大括号 15">
              <a:extLst>
                <a:ext uri="{FF2B5EF4-FFF2-40B4-BE49-F238E27FC236}">
                  <a16:creationId xmlns:a16="http://schemas.microsoft.com/office/drawing/2014/main" id="{8A36F9F6-F821-4408-B43F-7A5A4874CCA6}"/>
                </a:ext>
              </a:extLst>
            </p:cNvPr>
            <p:cNvSpPr/>
            <p:nvPr/>
          </p:nvSpPr>
          <p:spPr>
            <a:xfrm>
              <a:off x="5116385" y="1995654"/>
              <a:ext cx="224367" cy="1999785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7EB3F38-569C-445E-92AC-9A7CDB9BDE86}"/>
                </a:ext>
              </a:extLst>
            </p:cNvPr>
            <p:cNvSpPr/>
            <p:nvPr/>
          </p:nvSpPr>
          <p:spPr>
            <a:xfrm>
              <a:off x="5424382" y="1795600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线圈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35765D4-195D-4B89-BF3B-F877966379BD}"/>
                </a:ext>
              </a:extLst>
            </p:cNvPr>
            <p:cNvSpPr/>
            <p:nvPr/>
          </p:nvSpPr>
          <p:spPr>
            <a:xfrm>
              <a:off x="5418078" y="3804325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磁芯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CF532DC-9908-44D2-943D-2E7FCEE29393}"/>
                </a:ext>
              </a:extLst>
            </p:cNvPr>
            <p:cNvSpPr/>
            <p:nvPr/>
          </p:nvSpPr>
          <p:spPr>
            <a:xfrm>
              <a:off x="3649317" y="2795491"/>
              <a:ext cx="14670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电感的损耗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左大括号 20">
              <a:extLst>
                <a:ext uri="{FF2B5EF4-FFF2-40B4-BE49-F238E27FC236}">
                  <a16:creationId xmlns:a16="http://schemas.microsoft.com/office/drawing/2014/main" id="{4C769D52-1764-4DB5-BB5C-A088F4A06C82}"/>
                </a:ext>
              </a:extLst>
            </p:cNvPr>
            <p:cNvSpPr/>
            <p:nvPr/>
          </p:nvSpPr>
          <p:spPr>
            <a:xfrm>
              <a:off x="6174949" y="1620329"/>
              <a:ext cx="224367" cy="750650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FF3D240-C3E0-4BF0-9A14-B2EEF361DEA0}"/>
                </a:ext>
              </a:extLst>
            </p:cNvPr>
            <p:cNvSpPr/>
            <p:nvPr/>
          </p:nvSpPr>
          <p:spPr>
            <a:xfrm>
              <a:off x="6399316" y="1433443"/>
              <a:ext cx="7184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DCR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左大括号 24">
              <a:extLst>
                <a:ext uri="{FF2B5EF4-FFF2-40B4-BE49-F238E27FC236}">
                  <a16:creationId xmlns:a16="http://schemas.microsoft.com/office/drawing/2014/main" id="{C882818E-814F-44EA-90B6-D8225797F392}"/>
                </a:ext>
              </a:extLst>
            </p:cNvPr>
            <p:cNvSpPr/>
            <p:nvPr/>
          </p:nvSpPr>
          <p:spPr>
            <a:xfrm>
              <a:off x="6227889" y="3629055"/>
              <a:ext cx="224367" cy="750650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54E7828-90B9-4465-9D91-65EE2F767EE5}"/>
                </a:ext>
              </a:extLst>
            </p:cNvPr>
            <p:cNvSpPr/>
            <p:nvPr/>
          </p:nvSpPr>
          <p:spPr>
            <a:xfrm>
              <a:off x="6420155" y="3429000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磁滞损耗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04EAC4E-1A61-4ACE-8CBF-809F637137C0}"/>
                </a:ext>
              </a:extLst>
            </p:cNvPr>
            <p:cNvSpPr/>
            <p:nvPr/>
          </p:nvSpPr>
          <p:spPr>
            <a:xfrm>
              <a:off x="6452256" y="4179650"/>
              <a:ext cx="121058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涡流损耗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" name="Picture 2" descr="查看源图像">
            <a:extLst>
              <a:ext uri="{FF2B5EF4-FFF2-40B4-BE49-F238E27FC236}">
                <a16:creationId xmlns:a16="http://schemas.microsoft.com/office/drawing/2014/main" id="{241096CC-B244-4A45-9F7C-AB2E1D2AB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1795600"/>
            <a:ext cx="2540000" cy="3776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D9F8ECA-3E3D-484A-967B-7C7C2C668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503005"/>
            <a:ext cx="7532369" cy="466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00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39"/>
    </mc:Choice>
    <mc:Fallback>
      <p:transition spd="slow" advTm="110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3.33333E-6 L -0.05899 -0.18356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56" y="-9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35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2.96296E-6 L -0.3612 2.96296E-6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0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7D490148-6B18-4909-80F7-8FBAA6CF7519}"/>
              </a:ext>
            </a:extLst>
          </p:cNvPr>
          <p:cNvGrpSpPr/>
          <p:nvPr/>
        </p:nvGrpSpPr>
        <p:grpSpPr>
          <a:xfrm>
            <a:off x="3649317" y="1433443"/>
            <a:ext cx="4013527" cy="3146317"/>
            <a:chOff x="3649317" y="1433443"/>
            <a:chExt cx="4013527" cy="3146317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7148FA5-431F-44F7-8F24-969FDA6113F5}"/>
                </a:ext>
              </a:extLst>
            </p:cNvPr>
            <p:cNvGrpSpPr/>
            <p:nvPr/>
          </p:nvGrpSpPr>
          <p:grpSpPr>
            <a:xfrm>
              <a:off x="3649317" y="1795600"/>
              <a:ext cx="2472692" cy="2408835"/>
              <a:chOff x="3155831" y="1879582"/>
              <a:chExt cx="2472692" cy="2408835"/>
            </a:xfrm>
          </p:grpSpPr>
          <p:sp>
            <p:nvSpPr>
              <p:cNvPr id="2" name="左大括号 1">
                <a:extLst>
                  <a:ext uri="{FF2B5EF4-FFF2-40B4-BE49-F238E27FC236}">
                    <a16:creationId xmlns:a16="http://schemas.microsoft.com/office/drawing/2014/main" id="{E4C1DE6E-055D-4D74-8FF1-5896C6306D9F}"/>
                  </a:ext>
                </a:extLst>
              </p:cNvPr>
              <p:cNvSpPr/>
              <p:nvPr/>
            </p:nvSpPr>
            <p:spPr>
              <a:xfrm>
                <a:off x="4622899" y="2079636"/>
                <a:ext cx="224367" cy="1999785"/>
              </a:xfrm>
              <a:prstGeom prst="leftBrac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1F77AB7-4877-4B24-ADC3-750C27C5E884}"/>
                  </a:ext>
                </a:extLst>
              </p:cNvPr>
              <p:cNvSpPr/>
              <p:nvPr/>
            </p:nvSpPr>
            <p:spPr>
              <a:xfrm>
                <a:off x="4930896" y="1879582"/>
                <a:ext cx="69762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线圈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7E6B19B-63F4-4BAC-9772-C86283F5EB7A}"/>
                  </a:ext>
                </a:extLst>
              </p:cNvPr>
              <p:cNvSpPr/>
              <p:nvPr/>
            </p:nvSpPr>
            <p:spPr>
              <a:xfrm>
                <a:off x="4924592" y="3888307"/>
                <a:ext cx="69762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磁芯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FC3C23F-FAEF-4317-81D7-DAFFFFBAD1D4}"/>
                  </a:ext>
                </a:extLst>
              </p:cNvPr>
              <p:cNvSpPr/>
              <p:nvPr/>
            </p:nvSpPr>
            <p:spPr>
              <a:xfrm>
                <a:off x="3155831" y="2879473"/>
                <a:ext cx="146706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电感的损耗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6E8723E5-883D-4B1C-92B2-2C8AAC9139D1}"/>
                </a:ext>
              </a:extLst>
            </p:cNvPr>
            <p:cNvGrpSpPr/>
            <p:nvPr/>
          </p:nvGrpSpPr>
          <p:grpSpPr>
            <a:xfrm>
              <a:off x="6174949" y="1433443"/>
              <a:ext cx="942833" cy="1137591"/>
              <a:chOff x="5681463" y="1517425"/>
              <a:chExt cx="942833" cy="1137591"/>
            </a:xfrm>
          </p:grpSpPr>
          <p:sp>
            <p:nvSpPr>
              <p:cNvPr id="6" name="左大括号 5">
                <a:extLst>
                  <a:ext uri="{FF2B5EF4-FFF2-40B4-BE49-F238E27FC236}">
                    <a16:creationId xmlns:a16="http://schemas.microsoft.com/office/drawing/2014/main" id="{A7040055-8AB1-4D99-AEFB-26931A7DFF83}"/>
                  </a:ext>
                </a:extLst>
              </p:cNvPr>
              <p:cNvSpPr/>
              <p:nvPr/>
            </p:nvSpPr>
            <p:spPr>
              <a:xfrm>
                <a:off x="5681463" y="1704311"/>
                <a:ext cx="224367" cy="750650"/>
              </a:xfrm>
              <a:prstGeom prst="leftBrac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9F4B78E-74C6-4926-B7E8-5FC2554D1B78}"/>
                  </a:ext>
                </a:extLst>
              </p:cNvPr>
              <p:cNvSpPr/>
              <p:nvPr/>
            </p:nvSpPr>
            <p:spPr>
              <a:xfrm>
                <a:off x="5905830" y="1517425"/>
                <a:ext cx="71846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DCR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B9A3A36-FBF4-4ECA-A337-13D94858FD83}"/>
                  </a:ext>
                </a:extLst>
              </p:cNvPr>
              <p:cNvSpPr/>
              <p:nvPr/>
            </p:nvSpPr>
            <p:spPr>
              <a:xfrm>
                <a:off x="5905830" y="2254906"/>
                <a:ext cx="71846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ACR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D25D672-47F8-4459-AC6F-11BAB2FE3226}"/>
                </a:ext>
              </a:extLst>
            </p:cNvPr>
            <p:cNvGrpSpPr/>
            <p:nvPr/>
          </p:nvGrpSpPr>
          <p:grpSpPr>
            <a:xfrm>
              <a:off x="6227889" y="3429000"/>
              <a:ext cx="1434955" cy="1150760"/>
              <a:chOff x="5734403" y="3512982"/>
              <a:chExt cx="1434955" cy="1150760"/>
            </a:xfrm>
          </p:grpSpPr>
          <p:sp>
            <p:nvSpPr>
              <p:cNvPr id="7" name="左大括号 6">
                <a:extLst>
                  <a:ext uri="{FF2B5EF4-FFF2-40B4-BE49-F238E27FC236}">
                    <a16:creationId xmlns:a16="http://schemas.microsoft.com/office/drawing/2014/main" id="{F66124E7-D38B-4D9B-91E0-EDEEB65D54BC}"/>
                  </a:ext>
                </a:extLst>
              </p:cNvPr>
              <p:cNvSpPr/>
              <p:nvPr/>
            </p:nvSpPr>
            <p:spPr>
              <a:xfrm>
                <a:off x="5734403" y="3713037"/>
                <a:ext cx="224367" cy="750650"/>
              </a:xfrm>
              <a:prstGeom prst="leftBrac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DE14D5B-3F05-4D15-A31F-05E5C86B67E4}"/>
                  </a:ext>
                </a:extLst>
              </p:cNvPr>
              <p:cNvSpPr/>
              <p:nvPr/>
            </p:nvSpPr>
            <p:spPr>
              <a:xfrm>
                <a:off x="5926669" y="3512982"/>
                <a:ext cx="12105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磁滞损耗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0CC3B7C-BFFB-43AB-92DA-FD8AF5916CB5}"/>
                  </a:ext>
                </a:extLst>
              </p:cNvPr>
              <p:cNvSpPr/>
              <p:nvPr/>
            </p:nvSpPr>
            <p:spPr>
              <a:xfrm>
                <a:off x="5958770" y="4263632"/>
                <a:ext cx="121058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涡流损耗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52925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75"/>
    </mc:Choice>
    <mc:Fallback>
      <p:transition spd="slow" advTm="39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DE14D5B-3F05-4D15-A31F-05E5C86B67E4}"/>
              </a:ext>
            </a:extLst>
          </p:cNvPr>
          <p:cNvSpPr/>
          <p:nvPr/>
        </p:nvSpPr>
        <p:spPr>
          <a:xfrm>
            <a:off x="6420155" y="3429000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磁滞损耗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15D3C7A-320D-45AC-B61A-FD94E77D4C05}"/>
              </a:ext>
            </a:extLst>
          </p:cNvPr>
          <p:cNvGrpSpPr/>
          <p:nvPr/>
        </p:nvGrpSpPr>
        <p:grpSpPr>
          <a:xfrm>
            <a:off x="3649317" y="1433443"/>
            <a:ext cx="4013527" cy="3146317"/>
            <a:chOff x="3649317" y="1433443"/>
            <a:chExt cx="4013527" cy="3146317"/>
          </a:xfrm>
        </p:grpSpPr>
        <p:sp>
          <p:nvSpPr>
            <p:cNvPr id="2" name="左大括号 1">
              <a:extLst>
                <a:ext uri="{FF2B5EF4-FFF2-40B4-BE49-F238E27FC236}">
                  <a16:creationId xmlns:a16="http://schemas.microsoft.com/office/drawing/2014/main" id="{E4C1DE6E-055D-4D74-8FF1-5896C6306D9F}"/>
                </a:ext>
              </a:extLst>
            </p:cNvPr>
            <p:cNvSpPr/>
            <p:nvPr/>
          </p:nvSpPr>
          <p:spPr>
            <a:xfrm>
              <a:off x="5116385" y="1995654"/>
              <a:ext cx="224367" cy="1999785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1F77AB7-4877-4B24-ADC3-750C27C5E884}"/>
                </a:ext>
              </a:extLst>
            </p:cNvPr>
            <p:cNvSpPr/>
            <p:nvPr/>
          </p:nvSpPr>
          <p:spPr>
            <a:xfrm>
              <a:off x="5424382" y="1795600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线圈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7E6B19B-63F4-4BAC-9772-C86283F5EB7A}"/>
                </a:ext>
              </a:extLst>
            </p:cNvPr>
            <p:cNvSpPr/>
            <p:nvPr/>
          </p:nvSpPr>
          <p:spPr>
            <a:xfrm>
              <a:off x="5418078" y="3804325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磁芯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FC3C23F-FAEF-4317-81D7-DAFFFFBAD1D4}"/>
                </a:ext>
              </a:extLst>
            </p:cNvPr>
            <p:cNvSpPr/>
            <p:nvPr/>
          </p:nvSpPr>
          <p:spPr>
            <a:xfrm>
              <a:off x="3649317" y="2795491"/>
              <a:ext cx="14670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电感的损耗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左大括号 5">
              <a:extLst>
                <a:ext uri="{FF2B5EF4-FFF2-40B4-BE49-F238E27FC236}">
                  <a16:creationId xmlns:a16="http://schemas.microsoft.com/office/drawing/2014/main" id="{A7040055-8AB1-4D99-AEFB-26931A7DFF83}"/>
                </a:ext>
              </a:extLst>
            </p:cNvPr>
            <p:cNvSpPr/>
            <p:nvPr/>
          </p:nvSpPr>
          <p:spPr>
            <a:xfrm>
              <a:off x="6174949" y="1620329"/>
              <a:ext cx="224367" cy="750650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9F4B78E-74C6-4926-B7E8-5FC2554D1B78}"/>
                </a:ext>
              </a:extLst>
            </p:cNvPr>
            <p:cNvSpPr/>
            <p:nvPr/>
          </p:nvSpPr>
          <p:spPr>
            <a:xfrm>
              <a:off x="6399316" y="1433443"/>
              <a:ext cx="7184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DCR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B9A3A36-FBF4-4ECA-A337-13D94858FD83}"/>
                </a:ext>
              </a:extLst>
            </p:cNvPr>
            <p:cNvSpPr/>
            <p:nvPr/>
          </p:nvSpPr>
          <p:spPr>
            <a:xfrm>
              <a:off x="6399316" y="2170924"/>
              <a:ext cx="7184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ACR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左大括号 6">
              <a:extLst>
                <a:ext uri="{FF2B5EF4-FFF2-40B4-BE49-F238E27FC236}">
                  <a16:creationId xmlns:a16="http://schemas.microsoft.com/office/drawing/2014/main" id="{F66124E7-D38B-4D9B-91E0-EDEEB65D54BC}"/>
                </a:ext>
              </a:extLst>
            </p:cNvPr>
            <p:cNvSpPr/>
            <p:nvPr/>
          </p:nvSpPr>
          <p:spPr>
            <a:xfrm>
              <a:off x="6227889" y="3629055"/>
              <a:ext cx="224367" cy="750650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0CC3B7C-BFFB-43AB-92DA-FD8AF5916CB5}"/>
                </a:ext>
              </a:extLst>
            </p:cNvPr>
            <p:cNvSpPr/>
            <p:nvPr/>
          </p:nvSpPr>
          <p:spPr>
            <a:xfrm>
              <a:off x="6452256" y="4179650"/>
              <a:ext cx="121058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涡流损耗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B1AD0467-B890-4470-8E99-A88940C34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171" y="1405355"/>
            <a:ext cx="8921658" cy="4797939"/>
          </a:xfrm>
          <a:prstGeom prst="rect">
            <a:avLst/>
          </a:prstGeom>
        </p:spPr>
      </p:pic>
      <p:sp>
        <p:nvSpPr>
          <p:cNvPr id="18" name="椭圆 17">
            <a:extLst>
              <a:ext uri="{FF2B5EF4-FFF2-40B4-BE49-F238E27FC236}">
                <a16:creationId xmlns:a16="http://schemas.microsoft.com/office/drawing/2014/main" id="{B3F663A0-CC6D-49D4-BB51-446D44E99DC6}"/>
              </a:ext>
            </a:extLst>
          </p:cNvPr>
          <p:cNvSpPr/>
          <p:nvPr/>
        </p:nvSpPr>
        <p:spPr>
          <a:xfrm>
            <a:off x="5605826" y="3428999"/>
            <a:ext cx="562819" cy="37532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A486E043-5839-470D-BEE7-E674B7409AD2}"/>
              </a:ext>
            </a:extLst>
          </p:cNvPr>
          <p:cNvSpPr/>
          <p:nvPr/>
        </p:nvSpPr>
        <p:spPr>
          <a:xfrm>
            <a:off x="4891597" y="3137283"/>
            <a:ext cx="2448182" cy="2907942"/>
          </a:xfrm>
          <a:custGeom>
            <a:avLst/>
            <a:gdLst>
              <a:gd name="connsiteX0" fmla="*/ 2446463 w 2448182"/>
              <a:gd name="connsiteY0" fmla="*/ 2157 h 2907942"/>
              <a:gd name="connsiteX1" fmla="*/ 1958783 w 2448182"/>
              <a:gd name="connsiteY1" fmla="*/ 154557 h 2907942"/>
              <a:gd name="connsiteX2" fmla="*/ 1509203 w 2448182"/>
              <a:gd name="connsiteY2" fmla="*/ 360297 h 2907942"/>
              <a:gd name="connsiteX3" fmla="*/ 1242503 w 2448182"/>
              <a:gd name="connsiteY3" fmla="*/ 543177 h 2907942"/>
              <a:gd name="connsiteX4" fmla="*/ 1013903 w 2448182"/>
              <a:gd name="connsiteY4" fmla="*/ 916557 h 2907942"/>
              <a:gd name="connsiteX5" fmla="*/ 808163 w 2448182"/>
              <a:gd name="connsiteY5" fmla="*/ 1564257 h 2907942"/>
              <a:gd name="connsiteX6" fmla="*/ 724343 w 2448182"/>
              <a:gd name="connsiteY6" fmla="*/ 2128137 h 2907942"/>
              <a:gd name="connsiteX7" fmla="*/ 625283 w 2448182"/>
              <a:gd name="connsiteY7" fmla="*/ 2402457 h 2907942"/>
              <a:gd name="connsiteX8" fmla="*/ 443 w 2448182"/>
              <a:gd name="connsiteY8" fmla="*/ 2897757 h 2907942"/>
              <a:gd name="connsiteX9" fmla="*/ 731963 w 2448182"/>
              <a:gd name="connsiteY9" fmla="*/ 2707257 h 2907942"/>
              <a:gd name="connsiteX10" fmla="*/ 1364423 w 2448182"/>
              <a:gd name="connsiteY10" fmla="*/ 2356737 h 2907942"/>
              <a:gd name="connsiteX11" fmla="*/ 1585403 w 2448182"/>
              <a:gd name="connsiteY11" fmla="*/ 1655697 h 2907942"/>
              <a:gd name="connsiteX12" fmla="*/ 1760663 w 2448182"/>
              <a:gd name="connsiteY12" fmla="*/ 954657 h 2907942"/>
              <a:gd name="connsiteX13" fmla="*/ 1859723 w 2448182"/>
              <a:gd name="connsiteY13" fmla="*/ 566037 h 2907942"/>
              <a:gd name="connsiteX14" fmla="*/ 2111183 w 2448182"/>
              <a:gd name="connsiteY14" fmla="*/ 268857 h 2907942"/>
              <a:gd name="connsiteX15" fmla="*/ 2446463 w 2448182"/>
              <a:gd name="connsiteY15" fmla="*/ 2157 h 2907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48182" h="2907942">
                <a:moveTo>
                  <a:pt x="2446463" y="2157"/>
                </a:moveTo>
                <a:cubicBezTo>
                  <a:pt x="2421063" y="-16893"/>
                  <a:pt x="2114993" y="94867"/>
                  <a:pt x="1958783" y="154557"/>
                </a:cubicBezTo>
                <a:cubicBezTo>
                  <a:pt x="1802573" y="214247"/>
                  <a:pt x="1628583" y="295527"/>
                  <a:pt x="1509203" y="360297"/>
                </a:cubicBezTo>
                <a:cubicBezTo>
                  <a:pt x="1389823" y="425067"/>
                  <a:pt x="1325053" y="450467"/>
                  <a:pt x="1242503" y="543177"/>
                </a:cubicBezTo>
                <a:cubicBezTo>
                  <a:pt x="1159953" y="635887"/>
                  <a:pt x="1086293" y="746377"/>
                  <a:pt x="1013903" y="916557"/>
                </a:cubicBezTo>
                <a:cubicBezTo>
                  <a:pt x="941513" y="1086737"/>
                  <a:pt x="856423" y="1362327"/>
                  <a:pt x="808163" y="1564257"/>
                </a:cubicBezTo>
                <a:cubicBezTo>
                  <a:pt x="759903" y="1766187"/>
                  <a:pt x="754823" y="1988437"/>
                  <a:pt x="724343" y="2128137"/>
                </a:cubicBezTo>
                <a:cubicBezTo>
                  <a:pt x="693863" y="2267837"/>
                  <a:pt x="745933" y="2274187"/>
                  <a:pt x="625283" y="2402457"/>
                </a:cubicBezTo>
                <a:cubicBezTo>
                  <a:pt x="504633" y="2530727"/>
                  <a:pt x="-17337" y="2846957"/>
                  <a:pt x="443" y="2897757"/>
                </a:cubicBezTo>
                <a:cubicBezTo>
                  <a:pt x="18223" y="2948557"/>
                  <a:pt x="504633" y="2797427"/>
                  <a:pt x="731963" y="2707257"/>
                </a:cubicBezTo>
                <a:cubicBezTo>
                  <a:pt x="959293" y="2617087"/>
                  <a:pt x="1222183" y="2531997"/>
                  <a:pt x="1364423" y="2356737"/>
                </a:cubicBezTo>
                <a:cubicBezTo>
                  <a:pt x="1506663" y="2181477"/>
                  <a:pt x="1519363" y="1889377"/>
                  <a:pt x="1585403" y="1655697"/>
                </a:cubicBezTo>
                <a:cubicBezTo>
                  <a:pt x="1651443" y="1422017"/>
                  <a:pt x="1714943" y="1136267"/>
                  <a:pt x="1760663" y="954657"/>
                </a:cubicBezTo>
                <a:cubicBezTo>
                  <a:pt x="1806383" y="773047"/>
                  <a:pt x="1801303" y="680337"/>
                  <a:pt x="1859723" y="566037"/>
                </a:cubicBezTo>
                <a:cubicBezTo>
                  <a:pt x="1918143" y="451737"/>
                  <a:pt x="2013393" y="360297"/>
                  <a:pt x="2111183" y="268857"/>
                </a:cubicBezTo>
                <a:cubicBezTo>
                  <a:pt x="2208973" y="177417"/>
                  <a:pt x="2471863" y="21207"/>
                  <a:pt x="2446463" y="2157"/>
                </a:cubicBezTo>
                <a:close/>
              </a:path>
            </a:pathLst>
          </a:cu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0587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512"/>
    </mc:Choice>
    <mc:Fallback>
      <p:transition spd="slow" advTm="105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42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3.33333E-6 L -0.08489 -0.36922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45" y="-18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/>
      <p:bldP spid="10" grpId="2"/>
      <p:bldP spid="18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3BBF8B41-8B27-4D3E-A479-D7C36629A2EE}"/>
              </a:ext>
            </a:extLst>
          </p:cNvPr>
          <p:cNvGrpSpPr/>
          <p:nvPr/>
        </p:nvGrpSpPr>
        <p:grpSpPr>
          <a:xfrm>
            <a:off x="3649317" y="1433443"/>
            <a:ext cx="4013527" cy="3146317"/>
            <a:chOff x="3649317" y="1433443"/>
            <a:chExt cx="4013527" cy="3146317"/>
          </a:xfrm>
        </p:grpSpPr>
        <p:sp>
          <p:nvSpPr>
            <p:cNvPr id="12" name="左大括号 11">
              <a:extLst>
                <a:ext uri="{FF2B5EF4-FFF2-40B4-BE49-F238E27FC236}">
                  <a16:creationId xmlns:a16="http://schemas.microsoft.com/office/drawing/2014/main" id="{8B93F89E-4BB8-45C6-B7ED-078A84B20EC3}"/>
                </a:ext>
              </a:extLst>
            </p:cNvPr>
            <p:cNvSpPr/>
            <p:nvPr/>
          </p:nvSpPr>
          <p:spPr>
            <a:xfrm>
              <a:off x="5116385" y="1995654"/>
              <a:ext cx="224367" cy="1999785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7F33C12-DD01-408C-AB7E-21A6DD4C019D}"/>
                </a:ext>
              </a:extLst>
            </p:cNvPr>
            <p:cNvSpPr/>
            <p:nvPr/>
          </p:nvSpPr>
          <p:spPr>
            <a:xfrm>
              <a:off x="5424382" y="1795600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线圈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06A6B60-AA58-4222-9B9E-102F1491E67A}"/>
                </a:ext>
              </a:extLst>
            </p:cNvPr>
            <p:cNvSpPr/>
            <p:nvPr/>
          </p:nvSpPr>
          <p:spPr>
            <a:xfrm>
              <a:off x="5418078" y="3804325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磁芯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2D6B6E5-FB86-43D9-A5DE-42EDA93A50B1}"/>
                </a:ext>
              </a:extLst>
            </p:cNvPr>
            <p:cNvSpPr/>
            <p:nvPr/>
          </p:nvSpPr>
          <p:spPr>
            <a:xfrm>
              <a:off x="3649317" y="2795491"/>
              <a:ext cx="14670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电感的损耗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左大括号 8">
              <a:extLst>
                <a:ext uri="{FF2B5EF4-FFF2-40B4-BE49-F238E27FC236}">
                  <a16:creationId xmlns:a16="http://schemas.microsoft.com/office/drawing/2014/main" id="{756A8502-54A3-4454-8116-DC60AA9567A5}"/>
                </a:ext>
              </a:extLst>
            </p:cNvPr>
            <p:cNvSpPr/>
            <p:nvPr/>
          </p:nvSpPr>
          <p:spPr>
            <a:xfrm>
              <a:off x="6174949" y="1620329"/>
              <a:ext cx="224367" cy="750650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09F109B-9A1F-4ED7-9FB7-D79D8DF5130C}"/>
                </a:ext>
              </a:extLst>
            </p:cNvPr>
            <p:cNvSpPr/>
            <p:nvPr/>
          </p:nvSpPr>
          <p:spPr>
            <a:xfrm>
              <a:off x="6399316" y="1433443"/>
              <a:ext cx="7184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DCR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E755CD4-214E-4549-870E-DCBD201B4713}"/>
                </a:ext>
              </a:extLst>
            </p:cNvPr>
            <p:cNvSpPr/>
            <p:nvPr/>
          </p:nvSpPr>
          <p:spPr>
            <a:xfrm>
              <a:off x="6399316" y="2170924"/>
              <a:ext cx="7184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ACR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左大括号 5">
              <a:extLst>
                <a:ext uri="{FF2B5EF4-FFF2-40B4-BE49-F238E27FC236}">
                  <a16:creationId xmlns:a16="http://schemas.microsoft.com/office/drawing/2014/main" id="{E8DD847F-60E7-42F9-B8A0-E51F2A19AE37}"/>
                </a:ext>
              </a:extLst>
            </p:cNvPr>
            <p:cNvSpPr/>
            <p:nvPr/>
          </p:nvSpPr>
          <p:spPr>
            <a:xfrm>
              <a:off x="6227889" y="3629055"/>
              <a:ext cx="224367" cy="750650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2E34375-D813-47F2-9207-725027623C0A}"/>
                </a:ext>
              </a:extLst>
            </p:cNvPr>
            <p:cNvSpPr/>
            <p:nvPr/>
          </p:nvSpPr>
          <p:spPr>
            <a:xfrm>
              <a:off x="6420155" y="3429000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磁滞损耗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7FCCD37-AFDD-4F83-AE66-1E5CD8C64210}"/>
                </a:ext>
              </a:extLst>
            </p:cNvPr>
            <p:cNvSpPr/>
            <p:nvPr/>
          </p:nvSpPr>
          <p:spPr>
            <a:xfrm>
              <a:off x="6452256" y="4179650"/>
              <a:ext cx="121058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涡流损耗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31629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353"/>
    </mc:Choice>
    <mc:Fallback>
      <p:transition spd="slow" advTm="103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AFC118D-81AE-4E8C-94EE-52F36F634927}"/>
              </a:ext>
            </a:extLst>
          </p:cNvPr>
          <p:cNvGrpSpPr/>
          <p:nvPr/>
        </p:nvGrpSpPr>
        <p:grpSpPr>
          <a:xfrm>
            <a:off x="3649317" y="1433443"/>
            <a:ext cx="3981426" cy="2946262"/>
            <a:chOff x="3649317" y="1433443"/>
            <a:chExt cx="3981426" cy="2946262"/>
          </a:xfrm>
        </p:grpSpPr>
        <p:sp>
          <p:nvSpPr>
            <p:cNvPr id="12" name="左大括号 11">
              <a:extLst>
                <a:ext uri="{FF2B5EF4-FFF2-40B4-BE49-F238E27FC236}">
                  <a16:creationId xmlns:a16="http://schemas.microsoft.com/office/drawing/2014/main" id="{8B93F89E-4BB8-45C6-B7ED-078A84B20EC3}"/>
                </a:ext>
              </a:extLst>
            </p:cNvPr>
            <p:cNvSpPr/>
            <p:nvPr/>
          </p:nvSpPr>
          <p:spPr>
            <a:xfrm>
              <a:off x="5116385" y="1995654"/>
              <a:ext cx="224367" cy="1999785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7F33C12-DD01-408C-AB7E-21A6DD4C019D}"/>
                </a:ext>
              </a:extLst>
            </p:cNvPr>
            <p:cNvSpPr/>
            <p:nvPr/>
          </p:nvSpPr>
          <p:spPr>
            <a:xfrm>
              <a:off x="5424382" y="1795600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线圈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06A6B60-AA58-4222-9B9E-102F1491E67A}"/>
                </a:ext>
              </a:extLst>
            </p:cNvPr>
            <p:cNvSpPr/>
            <p:nvPr/>
          </p:nvSpPr>
          <p:spPr>
            <a:xfrm>
              <a:off x="5418078" y="3804325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磁芯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2D6B6E5-FB86-43D9-A5DE-42EDA93A50B1}"/>
                </a:ext>
              </a:extLst>
            </p:cNvPr>
            <p:cNvSpPr/>
            <p:nvPr/>
          </p:nvSpPr>
          <p:spPr>
            <a:xfrm>
              <a:off x="3649317" y="2795491"/>
              <a:ext cx="14670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电感的损耗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左大括号 8">
              <a:extLst>
                <a:ext uri="{FF2B5EF4-FFF2-40B4-BE49-F238E27FC236}">
                  <a16:creationId xmlns:a16="http://schemas.microsoft.com/office/drawing/2014/main" id="{756A8502-54A3-4454-8116-DC60AA9567A5}"/>
                </a:ext>
              </a:extLst>
            </p:cNvPr>
            <p:cNvSpPr/>
            <p:nvPr/>
          </p:nvSpPr>
          <p:spPr>
            <a:xfrm>
              <a:off x="6174949" y="1620329"/>
              <a:ext cx="224367" cy="750650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09F109B-9A1F-4ED7-9FB7-D79D8DF5130C}"/>
                </a:ext>
              </a:extLst>
            </p:cNvPr>
            <p:cNvSpPr/>
            <p:nvPr/>
          </p:nvSpPr>
          <p:spPr>
            <a:xfrm>
              <a:off x="6399316" y="1433443"/>
              <a:ext cx="7184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DCR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E755CD4-214E-4549-870E-DCBD201B4713}"/>
                </a:ext>
              </a:extLst>
            </p:cNvPr>
            <p:cNvSpPr/>
            <p:nvPr/>
          </p:nvSpPr>
          <p:spPr>
            <a:xfrm>
              <a:off x="6399316" y="2170924"/>
              <a:ext cx="7184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ACR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左大括号 5">
              <a:extLst>
                <a:ext uri="{FF2B5EF4-FFF2-40B4-BE49-F238E27FC236}">
                  <a16:creationId xmlns:a16="http://schemas.microsoft.com/office/drawing/2014/main" id="{E8DD847F-60E7-42F9-B8A0-E51F2A19AE37}"/>
                </a:ext>
              </a:extLst>
            </p:cNvPr>
            <p:cNvSpPr/>
            <p:nvPr/>
          </p:nvSpPr>
          <p:spPr>
            <a:xfrm>
              <a:off x="6227889" y="3629055"/>
              <a:ext cx="224367" cy="750650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2E34375-D813-47F2-9207-725027623C0A}"/>
                </a:ext>
              </a:extLst>
            </p:cNvPr>
            <p:cNvSpPr/>
            <p:nvPr/>
          </p:nvSpPr>
          <p:spPr>
            <a:xfrm>
              <a:off x="6420155" y="3429000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磁滞损耗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77FCCD37-AFDD-4F83-AE66-1E5CD8C64210}"/>
              </a:ext>
            </a:extLst>
          </p:cNvPr>
          <p:cNvSpPr/>
          <p:nvPr/>
        </p:nvSpPr>
        <p:spPr>
          <a:xfrm>
            <a:off x="6452256" y="4179650"/>
            <a:ext cx="12105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涡流损耗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8799758-E089-4973-98CD-BECEA365362A}"/>
              </a:ext>
            </a:extLst>
          </p:cNvPr>
          <p:cNvGrpSpPr/>
          <p:nvPr/>
        </p:nvGrpSpPr>
        <p:grpSpPr>
          <a:xfrm>
            <a:off x="5771846" y="2370979"/>
            <a:ext cx="1091816" cy="735218"/>
            <a:chOff x="2620075" y="3122814"/>
            <a:chExt cx="1091816" cy="735218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75AFE934-9665-4ECE-92DA-2490E5F6995C}"/>
                </a:ext>
              </a:extLst>
            </p:cNvPr>
            <p:cNvSpPr/>
            <p:nvPr/>
          </p:nvSpPr>
          <p:spPr>
            <a:xfrm>
              <a:off x="2844630" y="3279113"/>
              <a:ext cx="645846" cy="431236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41B67F26-49C4-42DD-A477-8A9E38718FCF}"/>
                </a:ext>
              </a:extLst>
            </p:cNvPr>
            <p:cNvSpPr/>
            <p:nvPr/>
          </p:nvSpPr>
          <p:spPr>
            <a:xfrm>
              <a:off x="2722543" y="3194252"/>
              <a:ext cx="891764" cy="595436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90091C79-E12B-4D15-9A87-5B60B79E9163}"/>
                </a:ext>
              </a:extLst>
            </p:cNvPr>
            <p:cNvSpPr/>
            <p:nvPr/>
          </p:nvSpPr>
          <p:spPr>
            <a:xfrm>
              <a:off x="2620075" y="3129019"/>
              <a:ext cx="1091816" cy="729013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EECE60F4-6BCF-4E11-9647-1C487B6911D3}"/>
                </a:ext>
              </a:extLst>
            </p:cNvPr>
            <p:cNvCxnSpPr/>
            <p:nvPr/>
          </p:nvCxnSpPr>
          <p:spPr>
            <a:xfrm flipH="1">
              <a:off x="3186112" y="3122814"/>
              <a:ext cx="4428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6B5907E9-2298-48C8-8387-29C7D4DE4586}"/>
                </a:ext>
              </a:extLst>
            </p:cNvPr>
            <p:cNvCxnSpPr/>
            <p:nvPr/>
          </p:nvCxnSpPr>
          <p:spPr>
            <a:xfrm flipH="1">
              <a:off x="3192292" y="3200575"/>
              <a:ext cx="4428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EE83A485-0F0A-43C9-850F-697771F5DC66}"/>
                </a:ext>
              </a:extLst>
            </p:cNvPr>
            <p:cNvCxnSpPr/>
            <p:nvPr/>
          </p:nvCxnSpPr>
          <p:spPr>
            <a:xfrm flipH="1">
              <a:off x="3186112" y="3279977"/>
              <a:ext cx="4428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5FEACF7A-14D3-4594-A07E-D4D51C9829AA}"/>
              </a:ext>
            </a:extLst>
          </p:cNvPr>
          <p:cNvGrpSpPr/>
          <p:nvPr/>
        </p:nvGrpSpPr>
        <p:grpSpPr>
          <a:xfrm>
            <a:off x="5540024" y="2219292"/>
            <a:ext cx="1565103" cy="3117670"/>
            <a:chOff x="10028910" y="2270275"/>
            <a:chExt cx="1565103" cy="3117670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388C83A5-979F-4B89-8F73-F7F8C7D420F2}"/>
                </a:ext>
              </a:extLst>
            </p:cNvPr>
            <p:cNvSpPr/>
            <p:nvPr/>
          </p:nvSpPr>
          <p:spPr>
            <a:xfrm>
              <a:off x="10028910" y="2270275"/>
              <a:ext cx="1555461" cy="1038592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任意多边形 13">
              <a:extLst>
                <a:ext uri="{FF2B5EF4-FFF2-40B4-BE49-F238E27FC236}">
                  <a16:creationId xmlns:a16="http://schemas.microsoft.com/office/drawing/2014/main" id="{C928BEB1-D8C9-4D1E-9E89-A82646AD9E09}"/>
                </a:ext>
              </a:extLst>
            </p:cNvPr>
            <p:cNvSpPr/>
            <p:nvPr/>
          </p:nvSpPr>
          <p:spPr>
            <a:xfrm>
              <a:off x="10028910" y="2270275"/>
              <a:ext cx="1565103" cy="3117670"/>
            </a:xfrm>
            <a:custGeom>
              <a:avLst/>
              <a:gdLst>
                <a:gd name="connsiteX0" fmla="*/ 782552 w 1565103"/>
                <a:gd name="connsiteY0" fmla="*/ 0 h 3117670"/>
                <a:gd name="connsiteX1" fmla="*/ 1561063 w 1565103"/>
                <a:gd name="connsiteY1" fmla="*/ 469091 h 3117670"/>
                <a:gd name="connsiteX2" fmla="*/ 1565103 w 1565103"/>
                <a:gd name="connsiteY2" fmla="*/ 522514 h 3117670"/>
                <a:gd name="connsiteX3" fmla="*/ 1565103 w 1565103"/>
                <a:gd name="connsiteY3" fmla="*/ 522514 h 3117670"/>
                <a:gd name="connsiteX4" fmla="*/ 1565103 w 1565103"/>
                <a:gd name="connsiteY4" fmla="*/ 522515 h 3117670"/>
                <a:gd name="connsiteX5" fmla="*/ 1565103 w 1565103"/>
                <a:gd name="connsiteY5" fmla="*/ 2595155 h 3117670"/>
                <a:gd name="connsiteX6" fmla="*/ 782552 w 1565103"/>
                <a:gd name="connsiteY6" fmla="*/ 3117670 h 3117670"/>
                <a:gd name="connsiteX7" fmla="*/ 1 w 1565103"/>
                <a:gd name="connsiteY7" fmla="*/ 2595155 h 3117670"/>
                <a:gd name="connsiteX8" fmla="*/ 0 w 1565103"/>
                <a:gd name="connsiteY8" fmla="*/ 2595155 h 3117670"/>
                <a:gd name="connsiteX9" fmla="*/ 0 w 1565103"/>
                <a:gd name="connsiteY9" fmla="*/ 522514 h 3117670"/>
                <a:gd name="connsiteX10" fmla="*/ 1 w 1565103"/>
                <a:gd name="connsiteY10" fmla="*/ 522514 h 3117670"/>
                <a:gd name="connsiteX11" fmla="*/ 4042 w 1565103"/>
                <a:gd name="connsiteY11" fmla="*/ 469091 h 3117670"/>
                <a:gd name="connsiteX12" fmla="*/ 782552 w 1565103"/>
                <a:gd name="connsiteY12" fmla="*/ 0 h 311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5103" h="3117670">
                  <a:moveTo>
                    <a:pt x="782552" y="0"/>
                  </a:moveTo>
                  <a:cubicBezTo>
                    <a:pt x="1187731" y="0"/>
                    <a:pt x="1520989" y="205610"/>
                    <a:pt x="1561063" y="469091"/>
                  </a:cubicBezTo>
                  <a:lnTo>
                    <a:pt x="1565103" y="522514"/>
                  </a:lnTo>
                  <a:lnTo>
                    <a:pt x="1565103" y="522514"/>
                  </a:lnTo>
                  <a:lnTo>
                    <a:pt x="1565103" y="522515"/>
                  </a:lnTo>
                  <a:lnTo>
                    <a:pt x="1565103" y="2595155"/>
                  </a:lnTo>
                  <a:cubicBezTo>
                    <a:pt x="1565103" y="2883732"/>
                    <a:pt x="1214743" y="3117670"/>
                    <a:pt x="782552" y="3117670"/>
                  </a:cubicBezTo>
                  <a:cubicBezTo>
                    <a:pt x="350361" y="3117670"/>
                    <a:pt x="1" y="2883732"/>
                    <a:pt x="1" y="2595155"/>
                  </a:cubicBezTo>
                  <a:lnTo>
                    <a:pt x="0" y="2595155"/>
                  </a:lnTo>
                  <a:lnTo>
                    <a:pt x="0" y="522514"/>
                  </a:lnTo>
                  <a:lnTo>
                    <a:pt x="1" y="522514"/>
                  </a:lnTo>
                  <a:lnTo>
                    <a:pt x="4042" y="469091"/>
                  </a:lnTo>
                  <a:cubicBezTo>
                    <a:pt x="44116" y="205610"/>
                    <a:pt x="377373" y="0"/>
                    <a:pt x="782552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80ECD9A-3EAF-42BE-832A-1074489E3FBF}"/>
              </a:ext>
            </a:extLst>
          </p:cNvPr>
          <p:cNvGrpSpPr/>
          <p:nvPr/>
        </p:nvGrpSpPr>
        <p:grpSpPr>
          <a:xfrm>
            <a:off x="5691753" y="1649154"/>
            <a:ext cx="1179866" cy="3962400"/>
            <a:chOff x="10180639" y="1700137"/>
            <a:chExt cx="1179866" cy="3962400"/>
          </a:xfrm>
        </p:grpSpPr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5A706ABE-2493-4BF3-BE73-C7502AE6C42D}"/>
                </a:ext>
              </a:extLst>
            </p:cNvPr>
            <p:cNvCxnSpPr/>
            <p:nvPr/>
          </p:nvCxnSpPr>
          <p:spPr>
            <a:xfrm>
              <a:off x="10797172" y="1700137"/>
              <a:ext cx="0" cy="3962400"/>
            </a:xfrm>
            <a:prstGeom prst="line">
              <a:avLst/>
            </a:prstGeom>
            <a:ln w="22225">
              <a:solidFill>
                <a:srgbClr val="92D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任意多边形 66">
              <a:extLst>
                <a:ext uri="{FF2B5EF4-FFF2-40B4-BE49-F238E27FC236}">
                  <a16:creationId xmlns:a16="http://schemas.microsoft.com/office/drawing/2014/main" id="{C972363F-5C8B-483E-B497-774E728B58D8}"/>
                </a:ext>
              </a:extLst>
            </p:cNvPr>
            <p:cNvSpPr/>
            <p:nvPr/>
          </p:nvSpPr>
          <p:spPr>
            <a:xfrm>
              <a:off x="10180639" y="1779511"/>
              <a:ext cx="451299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任意多边形 67">
              <a:extLst>
                <a:ext uri="{FF2B5EF4-FFF2-40B4-BE49-F238E27FC236}">
                  <a16:creationId xmlns:a16="http://schemas.microsoft.com/office/drawing/2014/main" id="{2F871637-69C4-43A3-84E8-6857E417240B}"/>
                </a:ext>
              </a:extLst>
            </p:cNvPr>
            <p:cNvSpPr/>
            <p:nvPr/>
          </p:nvSpPr>
          <p:spPr>
            <a:xfrm flipH="1">
              <a:off x="10990212" y="1779510"/>
              <a:ext cx="370293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64A40E9-FD0E-4C39-AD67-078150A217D7}"/>
              </a:ext>
            </a:extLst>
          </p:cNvPr>
          <p:cNvSpPr txBox="1"/>
          <p:nvPr/>
        </p:nvSpPr>
        <p:spPr>
          <a:xfrm>
            <a:off x="5874314" y="154840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i="1" dirty="0">
                <a:solidFill>
                  <a:srgbClr val="92D050"/>
                </a:solidFill>
                <a:latin typeface="+mn-ea"/>
              </a:rPr>
              <a:t>B</a:t>
            </a:r>
            <a:endParaRPr lang="zh-CN" altLang="en-US" sz="3200" i="1" dirty="0">
              <a:solidFill>
                <a:srgbClr val="92D050"/>
              </a:solidFill>
              <a:latin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947BD7C-67E8-46AB-83C6-DBA9324567D3}"/>
              </a:ext>
            </a:extLst>
          </p:cNvPr>
          <p:cNvSpPr txBox="1"/>
          <p:nvPr/>
        </p:nvSpPr>
        <p:spPr>
          <a:xfrm>
            <a:off x="6754741" y="2338263"/>
            <a:ext cx="401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i="1" dirty="0">
                <a:solidFill>
                  <a:srgbClr val="FF0000"/>
                </a:solidFill>
                <a:latin typeface="+mn-ea"/>
              </a:rPr>
              <a:t>e</a:t>
            </a:r>
            <a:endParaRPr lang="zh-CN" altLang="en-US" sz="3200" i="1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68F430E8-80F9-4668-8169-B561FC0D7508}"/>
              </a:ext>
            </a:extLst>
          </p:cNvPr>
          <p:cNvGrpSpPr/>
          <p:nvPr/>
        </p:nvGrpSpPr>
        <p:grpSpPr>
          <a:xfrm>
            <a:off x="4022609" y="2749860"/>
            <a:ext cx="3188061" cy="1794884"/>
            <a:chOff x="8511495" y="2800843"/>
            <a:chExt cx="3188061" cy="1794884"/>
          </a:xfrm>
        </p:grpSpPr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DBAC5110-BF96-4B29-96C2-72A551A06834}"/>
                </a:ext>
              </a:extLst>
            </p:cNvPr>
            <p:cNvCxnSpPr>
              <a:cxnSpLocks/>
            </p:cNvCxnSpPr>
            <p:nvPr/>
          </p:nvCxnSpPr>
          <p:spPr>
            <a:xfrm>
              <a:off x="8747011" y="3382026"/>
              <a:ext cx="0" cy="1213701"/>
            </a:xfrm>
            <a:prstGeom prst="line">
              <a:avLst/>
            </a:prstGeom>
            <a:ln w="12700">
              <a:solidFill>
                <a:srgbClr val="5B83A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63DE6396-0952-4137-B30E-1912F3F67563}"/>
                </a:ext>
              </a:extLst>
            </p:cNvPr>
            <p:cNvSpPr/>
            <p:nvPr/>
          </p:nvSpPr>
          <p:spPr>
            <a:xfrm>
              <a:off x="8511495" y="3813870"/>
              <a:ext cx="471033" cy="4640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28">
              <a:extLst>
                <a:ext uri="{FF2B5EF4-FFF2-40B4-BE49-F238E27FC236}">
                  <a16:creationId xmlns:a16="http://schemas.microsoft.com/office/drawing/2014/main" id="{036D080C-7833-4498-B6CD-9DBEBF7525F3}"/>
                </a:ext>
              </a:extLst>
            </p:cNvPr>
            <p:cNvSpPr/>
            <p:nvPr/>
          </p:nvSpPr>
          <p:spPr>
            <a:xfrm>
              <a:off x="8597707" y="3979577"/>
              <a:ext cx="298608" cy="132153"/>
            </a:xfrm>
            <a:custGeom>
              <a:avLst/>
              <a:gdLst>
                <a:gd name="connsiteX0" fmla="*/ 0 w 330548"/>
                <a:gd name="connsiteY0" fmla="*/ 84051 h 107995"/>
                <a:gd name="connsiteX1" fmla="*/ 106680 w 330548"/>
                <a:gd name="connsiteY1" fmla="*/ 231 h 107995"/>
                <a:gd name="connsiteX2" fmla="*/ 213360 w 330548"/>
                <a:gd name="connsiteY2" fmla="*/ 106911 h 107995"/>
                <a:gd name="connsiteX3" fmla="*/ 327660 w 330548"/>
                <a:gd name="connsiteY3" fmla="*/ 53571 h 107995"/>
                <a:gd name="connsiteX4" fmla="*/ 312420 w 330548"/>
                <a:gd name="connsiteY4" fmla="*/ 23091 h 107995"/>
                <a:gd name="connsiteX0" fmla="*/ 0 w 400527"/>
                <a:gd name="connsiteY0" fmla="*/ 106204 h 130313"/>
                <a:gd name="connsiteX1" fmla="*/ 106680 w 400527"/>
                <a:gd name="connsiteY1" fmla="*/ 22384 h 130313"/>
                <a:gd name="connsiteX2" fmla="*/ 213360 w 400527"/>
                <a:gd name="connsiteY2" fmla="*/ 129064 h 130313"/>
                <a:gd name="connsiteX3" fmla="*/ 327660 w 400527"/>
                <a:gd name="connsiteY3" fmla="*/ 75724 h 130313"/>
                <a:gd name="connsiteX4" fmla="*/ 400527 w 400527"/>
                <a:gd name="connsiteY4" fmla="*/ 0 h 130313"/>
                <a:gd name="connsiteX0" fmla="*/ 0 w 332457"/>
                <a:gd name="connsiteY0" fmla="*/ 84052 h 107893"/>
                <a:gd name="connsiteX1" fmla="*/ 106680 w 332457"/>
                <a:gd name="connsiteY1" fmla="*/ 232 h 107893"/>
                <a:gd name="connsiteX2" fmla="*/ 213360 w 332457"/>
                <a:gd name="connsiteY2" fmla="*/ 106912 h 107893"/>
                <a:gd name="connsiteX3" fmla="*/ 327660 w 332457"/>
                <a:gd name="connsiteY3" fmla="*/ 53572 h 107893"/>
                <a:gd name="connsiteX4" fmla="*/ 329089 w 332457"/>
                <a:gd name="connsiteY4" fmla="*/ 58811 h 107893"/>
                <a:gd name="connsiteX0" fmla="*/ 0 w 379541"/>
                <a:gd name="connsiteY0" fmla="*/ 84052 h 107954"/>
                <a:gd name="connsiteX1" fmla="*/ 106680 w 379541"/>
                <a:gd name="connsiteY1" fmla="*/ 232 h 107954"/>
                <a:gd name="connsiteX2" fmla="*/ 213360 w 379541"/>
                <a:gd name="connsiteY2" fmla="*/ 106912 h 107954"/>
                <a:gd name="connsiteX3" fmla="*/ 327660 w 379541"/>
                <a:gd name="connsiteY3" fmla="*/ 53572 h 107954"/>
                <a:gd name="connsiteX4" fmla="*/ 379541 w 379541"/>
                <a:gd name="connsiteY4" fmla="*/ 36928 h 107954"/>
                <a:gd name="connsiteX0" fmla="*/ 0 w 327660"/>
                <a:gd name="connsiteY0" fmla="*/ 84052 h 107954"/>
                <a:gd name="connsiteX1" fmla="*/ 106680 w 327660"/>
                <a:gd name="connsiteY1" fmla="*/ 232 h 107954"/>
                <a:gd name="connsiteX2" fmla="*/ 213360 w 327660"/>
                <a:gd name="connsiteY2" fmla="*/ 106912 h 107954"/>
                <a:gd name="connsiteX3" fmla="*/ 327660 w 327660"/>
                <a:gd name="connsiteY3" fmla="*/ 53572 h 107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660" h="107954">
                  <a:moveTo>
                    <a:pt x="0" y="84052"/>
                  </a:moveTo>
                  <a:cubicBezTo>
                    <a:pt x="35560" y="40237"/>
                    <a:pt x="71120" y="-3578"/>
                    <a:pt x="106680" y="232"/>
                  </a:cubicBezTo>
                  <a:cubicBezTo>
                    <a:pt x="142240" y="4042"/>
                    <a:pt x="176530" y="98022"/>
                    <a:pt x="213360" y="106912"/>
                  </a:cubicBezTo>
                  <a:cubicBezTo>
                    <a:pt x="250190" y="115802"/>
                    <a:pt x="299963" y="65236"/>
                    <a:pt x="327660" y="5357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46">
              <a:extLst>
                <a:ext uri="{FF2B5EF4-FFF2-40B4-BE49-F238E27FC236}">
                  <a16:creationId xmlns:a16="http://schemas.microsoft.com/office/drawing/2014/main" id="{C4A14F00-69AD-47CA-A321-36AB5791A82F}"/>
                </a:ext>
              </a:extLst>
            </p:cNvPr>
            <p:cNvSpPr/>
            <p:nvPr/>
          </p:nvSpPr>
          <p:spPr>
            <a:xfrm>
              <a:off x="9914760" y="3382820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 47">
              <a:extLst>
                <a:ext uri="{FF2B5EF4-FFF2-40B4-BE49-F238E27FC236}">
                  <a16:creationId xmlns:a16="http://schemas.microsoft.com/office/drawing/2014/main" id="{AEA43A66-0EA6-4CD7-AAB3-5005016C9BE4}"/>
                </a:ext>
              </a:extLst>
            </p:cNvPr>
            <p:cNvSpPr/>
            <p:nvPr/>
          </p:nvSpPr>
          <p:spPr>
            <a:xfrm>
              <a:off x="9923368" y="3854509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任意多边形 48">
              <a:extLst>
                <a:ext uri="{FF2B5EF4-FFF2-40B4-BE49-F238E27FC236}">
                  <a16:creationId xmlns:a16="http://schemas.microsoft.com/office/drawing/2014/main" id="{A9D73447-DC0A-4AD0-8BD5-1F90FFE1CBAE}"/>
                </a:ext>
              </a:extLst>
            </p:cNvPr>
            <p:cNvSpPr/>
            <p:nvPr/>
          </p:nvSpPr>
          <p:spPr>
            <a:xfrm>
              <a:off x="10028814" y="4392474"/>
              <a:ext cx="1655030" cy="198330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  <a:gd name="connsiteX0" fmla="*/ 0 w 1695492"/>
                <a:gd name="connsiteY0" fmla="*/ 286629 h 286629"/>
                <a:gd name="connsiteX1" fmla="*/ 885825 w 1695492"/>
                <a:gd name="connsiteY1" fmla="*/ 223621 h 286629"/>
                <a:gd name="connsiteX2" fmla="*/ 1609724 w 1695492"/>
                <a:gd name="connsiteY2" fmla="*/ 179404 h 286629"/>
                <a:gd name="connsiteX3" fmla="*/ 1595437 w 1695492"/>
                <a:gd name="connsiteY3" fmla="*/ 0 h 286629"/>
                <a:gd name="connsiteX0" fmla="*/ 0 w 1674061"/>
                <a:gd name="connsiteY0" fmla="*/ 279420 h 279420"/>
                <a:gd name="connsiteX1" fmla="*/ 864394 w 1674061"/>
                <a:gd name="connsiteY1" fmla="*/ 223621 h 279420"/>
                <a:gd name="connsiteX2" fmla="*/ 1588293 w 1674061"/>
                <a:gd name="connsiteY2" fmla="*/ 179404 h 279420"/>
                <a:gd name="connsiteX3" fmla="*/ 1574006 w 1674061"/>
                <a:gd name="connsiteY3" fmla="*/ 0 h 279420"/>
                <a:gd name="connsiteX0" fmla="*/ 0 w 1648609"/>
                <a:gd name="connsiteY0" fmla="*/ 279420 h 279420"/>
                <a:gd name="connsiteX1" fmla="*/ 1293019 w 1648609"/>
                <a:gd name="connsiteY1" fmla="*/ 246047 h 279420"/>
                <a:gd name="connsiteX2" fmla="*/ 1588293 w 1648609"/>
                <a:gd name="connsiteY2" fmla="*/ 179404 h 279420"/>
                <a:gd name="connsiteX3" fmla="*/ 1574006 w 1648609"/>
                <a:gd name="connsiteY3" fmla="*/ 0 h 279420"/>
                <a:gd name="connsiteX0" fmla="*/ 0 w 1671916"/>
                <a:gd name="connsiteY0" fmla="*/ 279420 h 280449"/>
                <a:gd name="connsiteX1" fmla="*/ 897732 w 1671916"/>
                <a:gd name="connsiteY1" fmla="*/ 277284 h 280449"/>
                <a:gd name="connsiteX2" fmla="*/ 1588293 w 1671916"/>
                <a:gd name="connsiteY2" fmla="*/ 179404 h 280449"/>
                <a:gd name="connsiteX3" fmla="*/ 1574006 w 1671916"/>
                <a:gd name="connsiteY3" fmla="*/ 0 h 280449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59386"/>
                <a:gd name="connsiteY0" fmla="*/ 279420 h 279972"/>
                <a:gd name="connsiteX1" fmla="*/ 897732 w 1659386"/>
                <a:gd name="connsiteY1" fmla="*/ 277284 h 279972"/>
                <a:gd name="connsiteX2" fmla="*/ 1562099 w 1659386"/>
                <a:gd name="connsiteY2" fmla="*/ 251489 h 279972"/>
                <a:gd name="connsiteX3" fmla="*/ 1574006 w 1659386"/>
                <a:gd name="connsiteY3" fmla="*/ 0 h 279972"/>
                <a:gd name="connsiteX0" fmla="*/ 0 w 1670026"/>
                <a:gd name="connsiteY0" fmla="*/ 200127 h 200127"/>
                <a:gd name="connsiteX1" fmla="*/ 897732 w 1670026"/>
                <a:gd name="connsiteY1" fmla="*/ 197991 h 200127"/>
                <a:gd name="connsiteX2" fmla="*/ 1562099 w 1670026"/>
                <a:gd name="connsiteY2" fmla="*/ 172196 h 200127"/>
                <a:gd name="connsiteX3" fmla="*/ 1590675 w 1670026"/>
                <a:gd name="connsiteY3" fmla="*/ 0 h 200127"/>
                <a:gd name="connsiteX0" fmla="*/ 0 w 1662359"/>
                <a:gd name="connsiteY0" fmla="*/ 209738 h 209738"/>
                <a:gd name="connsiteX1" fmla="*/ 897732 w 1662359"/>
                <a:gd name="connsiteY1" fmla="*/ 207602 h 209738"/>
                <a:gd name="connsiteX2" fmla="*/ 1562099 w 1662359"/>
                <a:gd name="connsiteY2" fmla="*/ 181807 h 209738"/>
                <a:gd name="connsiteX3" fmla="*/ 1578768 w 1662359"/>
                <a:gd name="connsiteY3" fmla="*/ 0 h 209738"/>
                <a:gd name="connsiteX0" fmla="*/ 0 w 1668069"/>
                <a:gd name="connsiteY0" fmla="*/ 209738 h 209738"/>
                <a:gd name="connsiteX1" fmla="*/ 897732 w 1668069"/>
                <a:gd name="connsiteY1" fmla="*/ 207602 h 209738"/>
                <a:gd name="connsiteX2" fmla="*/ 1562099 w 1668069"/>
                <a:gd name="connsiteY2" fmla="*/ 181807 h 209738"/>
                <a:gd name="connsiteX3" fmla="*/ 1578768 w 1668069"/>
                <a:gd name="connsiteY3" fmla="*/ 0 h 209738"/>
                <a:gd name="connsiteX0" fmla="*/ 0 w 1655030"/>
                <a:gd name="connsiteY0" fmla="*/ 200127 h 200127"/>
                <a:gd name="connsiteX1" fmla="*/ 897732 w 1655030"/>
                <a:gd name="connsiteY1" fmla="*/ 197991 h 200127"/>
                <a:gd name="connsiteX2" fmla="*/ 1562099 w 1655030"/>
                <a:gd name="connsiteY2" fmla="*/ 172196 h 200127"/>
                <a:gd name="connsiteX3" fmla="*/ 1566862 w 1655030"/>
                <a:gd name="connsiteY3" fmla="*/ 0 h 20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5030" h="200127">
                  <a:moveTo>
                    <a:pt x="0" y="200127"/>
                  </a:moveTo>
                  <a:lnTo>
                    <a:pt x="897732" y="197991"/>
                  </a:lnTo>
                  <a:cubicBezTo>
                    <a:pt x="1158082" y="193336"/>
                    <a:pt x="1450577" y="205194"/>
                    <a:pt x="1562099" y="172196"/>
                  </a:cubicBezTo>
                  <a:cubicBezTo>
                    <a:pt x="1673621" y="139198"/>
                    <a:pt x="1696044" y="39778"/>
                    <a:pt x="1566862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6E35F13-9246-4286-8CBE-F20E6C5E4E1F}"/>
                </a:ext>
              </a:extLst>
            </p:cNvPr>
            <p:cNvSpPr txBox="1"/>
            <p:nvPr/>
          </p:nvSpPr>
          <p:spPr>
            <a:xfrm>
              <a:off x="9038534" y="2800843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>
                  <a:solidFill>
                    <a:srgbClr val="00B0F0"/>
                  </a:solidFill>
                  <a:latin typeface="+mn-ea"/>
                </a:rPr>
                <a:t>i</a:t>
              </a:r>
              <a:endParaRPr lang="zh-CN" altLang="en-US" sz="3200" i="1" dirty="0">
                <a:solidFill>
                  <a:srgbClr val="00B0F0"/>
                </a:solidFill>
                <a:latin typeface="+mn-ea"/>
              </a:endParaRP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92394FD2-90CE-4EBD-BEB0-CD605F638EDB}"/>
                </a:ext>
              </a:extLst>
            </p:cNvPr>
            <p:cNvCxnSpPr/>
            <p:nvPr/>
          </p:nvCxnSpPr>
          <p:spPr>
            <a:xfrm>
              <a:off x="8747011" y="3382820"/>
              <a:ext cx="1281803" cy="0"/>
            </a:xfrm>
            <a:prstGeom prst="line">
              <a:avLst/>
            </a:prstGeom>
            <a:ln w="12700">
              <a:solidFill>
                <a:srgbClr val="5B83A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46B3FEC-9769-4CC0-BDA1-B6B1A17E1CFE}"/>
                </a:ext>
              </a:extLst>
            </p:cNvPr>
            <p:cNvCxnSpPr/>
            <p:nvPr/>
          </p:nvCxnSpPr>
          <p:spPr>
            <a:xfrm>
              <a:off x="8747011" y="4590029"/>
              <a:ext cx="1281803" cy="0"/>
            </a:xfrm>
            <a:prstGeom prst="line">
              <a:avLst/>
            </a:prstGeom>
            <a:ln w="12700">
              <a:solidFill>
                <a:srgbClr val="5B83A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149E0971-9A9E-4C56-B17A-318149CE55FC}"/>
              </a:ext>
            </a:extLst>
          </p:cNvPr>
          <p:cNvGrpSpPr/>
          <p:nvPr/>
        </p:nvGrpSpPr>
        <p:grpSpPr>
          <a:xfrm>
            <a:off x="4831459" y="3331837"/>
            <a:ext cx="1561613" cy="1207830"/>
            <a:chOff x="9320345" y="3382820"/>
            <a:chExt cx="1561613" cy="1207830"/>
          </a:xfrm>
        </p:grpSpPr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42DF2D3D-5A09-410B-AB31-C763C6F6F8C8}"/>
                </a:ext>
              </a:extLst>
            </p:cNvPr>
            <p:cNvCxnSpPr/>
            <p:nvPr/>
          </p:nvCxnSpPr>
          <p:spPr>
            <a:xfrm>
              <a:off x="9320345" y="3382820"/>
              <a:ext cx="67615" cy="0"/>
            </a:xfrm>
            <a:prstGeom prst="straightConnector1">
              <a:avLst/>
            </a:prstGeom>
            <a:ln>
              <a:solidFill>
                <a:srgbClr val="41719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1AEFB6B5-472D-4762-B99A-CF21E1E76292}"/>
                </a:ext>
              </a:extLst>
            </p:cNvPr>
            <p:cNvCxnSpPr/>
            <p:nvPr/>
          </p:nvCxnSpPr>
          <p:spPr>
            <a:xfrm flipH="1" flipV="1">
              <a:off x="10797172" y="3605140"/>
              <a:ext cx="70497" cy="2066"/>
            </a:xfrm>
            <a:prstGeom prst="straightConnector1">
              <a:avLst/>
            </a:prstGeom>
            <a:ln>
              <a:solidFill>
                <a:srgbClr val="41719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61244F78-F820-48DF-8F44-5AF91676C380}"/>
                </a:ext>
              </a:extLst>
            </p:cNvPr>
            <p:cNvCxnSpPr/>
            <p:nvPr/>
          </p:nvCxnSpPr>
          <p:spPr>
            <a:xfrm flipH="1" flipV="1">
              <a:off x="10811461" y="4588584"/>
              <a:ext cx="70497" cy="2066"/>
            </a:xfrm>
            <a:prstGeom prst="straightConnector1">
              <a:avLst/>
            </a:prstGeom>
            <a:ln>
              <a:solidFill>
                <a:srgbClr val="41719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AA687B89-F07C-4BE8-A710-BEC4B5A0B2D6}"/>
                </a:ext>
              </a:extLst>
            </p:cNvPr>
            <p:cNvCxnSpPr/>
            <p:nvPr/>
          </p:nvCxnSpPr>
          <p:spPr>
            <a:xfrm flipH="1" flipV="1">
              <a:off x="10807222" y="4073290"/>
              <a:ext cx="70497" cy="2066"/>
            </a:xfrm>
            <a:prstGeom prst="straightConnector1">
              <a:avLst/>
            </a:prstGeom>
            <a:ln>
              <a:solidFill>
                <a:srgbClr val="41719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5BA7B870-AF17-400A-8334-51DED7B3E9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24975" y="4588584"/>
              <a:ext cx="57415" cy="0"/>
            </a:xfrm>
            <a:prstGeom prst="straightConnector1">
              <a:avLst/>
            </a:prstGeom>
            <a:ln>
              <a:solidFill>
                <a:srgbClr val="41719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259013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53"/>
    </mc:Choice>
    <mc:Fallback>
      <p:transition spd="slow" advTm="110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59259E-6 L -0.07227 -0.4838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0" y="-2419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40" grpId="0"/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62D6F98-B450-4617-992C-4A0157383F1F}"/>
              </a:ext>
            </a:extLst>
          </p:cNvPr>
          <p:cNvSpPr txBox="1"/>
          <p:nvPr/>
        </p:nvSpPr>
        <p:spPr>
          <a:xfrm>
            <a:off x="4397514" y="437270"/>
            <a:ext cx="3396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电感的损耗计算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50DA81-F05B-4A50-AA3D-AC1B3954BACE}"/>
              </a:ext>
            </a:extLst>
          </p:cNvPr>
          <p:cNvSpPr txBox="1"/>
          <p:nvPr/>
        </p:nvSpPr>
        <p:spPr>
          <a:xfrm>
            <a:off x="5556437" y="2905780"/>
            <a:ext cx="10791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  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值</a:t>
            </a:r>
            <a:endParaRPr lang="zh-CN" alt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8433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425"/>
    </mc:Choice>
    <mc:Fallback>
      <p:transition spd="slow" advTm="114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62D6F98-B450-4617-992C-4A0157383F1F}"/>
              </a:ext>
            </a:extLst>
          </p:cNvPr>
          <p:cNvSpPr txBox="1"/>
          <p:nvPr/>
        </p:nvSpPr>
        <p:spPr>
          <a:xfrm>
            <a:off x="4397514" y="437270"/>
            <a:ext cx="3396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电感的损耗计算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3A7D9A-3000-446F-933C-3EA582D24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492" y="1423151"/>
            <a:ext cx="7583016" cy="401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897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76"/>
    </mc:Choice>
    <mc:Fallback>
      <p:transition spd="slow" advTm="63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62D6F98-B450-4617-992C-4A0157383F1F}"/>
              </a:ext>
            </a:extLst>
          </p:cNvPr>
          <p:cNvSpPr txBox="1"/>
          <p:nvPr/>
        </p:nvSpPr>
        <p:spPr>
          <a:xfrm>
            <a:off x="4397514" y="437270"/>
            <a:ext cx="3396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电感的损耗计算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3A7D9A-3000-446F-933C-3EA582D24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492" y="1423151"/>
            <a:ext cx="7583016" cy="40116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8D3FC2A-BCEB-4D97-975F-CCCAA744BDFA}"/>
                  </a:ext>
                </a:extLst>
              </p:cNvPr>
              <p:cNvSpPr/>
              <p:nvPr/>
            </p:nvSpPr>
            <p:spPr>
              <a:xfrm>
                <a:off x="8105117" y="1563361"/>
                <a:ext cx="3506312" cy="37312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sz="2000" kern="1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已知条件：</a:t>
                </a:r>
                <a:endParaRPr lang="en-US" altLang="zh-CN" sz="2000" b="0" kern="1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kern="1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kern="1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kern="1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altLang="zh-CN" sz="2000" b="0" i="1" kern="1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=12</m:t>
                      </m:r>
                      <m:r>
                        <a:rPr lang="en-US" altLang="zh-CN" sz="2000" b="0" i="1" kern="1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CN" sz="2000" b="0" i="1" kern="1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sz="20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=3.3</m:t>
                      </m:r>
                      <m:r>
                        <a:rPr lang="en-US" altLang="zh-CN" sz="20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CN" sz="2000" b="0" i="1" kern="1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sz="20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CN" sz="2000" b="0" i="1" kern="1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0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=800</m:t>
                      </m:r>
                      <m:r>
                        <a:rPr lang="en-US" altLang="zh-CN" sz="20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𝐾𝐻𝑧</m:t>
                      </m:r>
                    </m:oMath>
                  </m:oMathPara>
                </a14:m>
                <a:endParaRPr lang="en-US" altLang="zh-CN" sz="2000" b="0" i="1" kern="1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20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zh-CN" sz="2000" b="0" i="1" kern="1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=2.2uH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电感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1255AY-2R2N</a:t>
                </a:r>
                <a:endParaRPr lang="en-US" altLang="zh-CN" sz="2000" b="0" i="1" kern="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sz="2000" kern="1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求：</a:t>
                </a:r>
                <a:endParaRPr lang="en-US" altLang="zh-CN" sz="2000" kern="1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sz="2000" b="0" kern="1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电感的</a:t>
                </a:r>
                <a:r>
                  <a:rPr lang="zh-CN" altLang="en-US" sz="2000" b="0" kern="1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总损耗占比</a:t>
                </a:r>
                <a14:m>
                  <m:oMath xmlns:m="http://schemas.openxmlformats.org/officeDocument/2006/math">
                    <m:r>
                      <a:rPr lang="zh-CN" altLang="en-US" sz="2000" b="0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endParaRPr lang="en-US" altLang="zh-CN" sz="2000" b="0" kern="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8D3FC2A-BCEB-4D97-975F-CCCAA744BD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5117" y="1563361"/>
                <a:ext cx="3506312" cy="3731278"/>
              </a:xfrm>
              <a:prstGeom prst="rect">
                <a:avLst/>
              </a:prstGeom>
              <a:blipFill>
                <a:blip r:embed="rId4"/>
                <a:stretch>
                  <a:fillRect l="-1913" b="-17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135875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517"/>
    </mc:Choice>
    <mc:Fallback>
      <p:transition spd="slow" advTm="105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750" fill="hold"/>
                                        <p:tgtEl>
                                          <p:spTgt spid="5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482 0 " pathEditMode="relative" rAng="0" ptsTypes="AA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7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75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750"/>
                            </p:stCondLst>
                            <p:childTnLst>
                              <p:par>
                                <p:cTn id="18" presetID="35" presetClass="path" presetSubtype="0" accel="50000" decel="50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75E-6 0 L -0.54427 0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21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1281550-E7C4-4F1A-8BA0-69F24936E234}"/>
                  </a:ext>
                </a:extLst>
              </p:cNvPr>
              <p:cNvSpPr/>
              <p:nvPr/>
            </p:nvSpPr>
            <p:spPr>
              <a:xfrm>
                <a:off x="1469117" y="1563361"/>
                <a:ext cx="3506312" cy="37312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sz="2000" kern="1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已知条件：</a:t>
                </a:r>
                <a:endParaRPr lang="en-US" altLang="zh-CN" sz="2000" b="0" kern="1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kern="1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kern="1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kern="1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altLang="zh-CN" sz="2000" b="0" i="1" kern="1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=12</m:t>
                      </m:r>
                      <m:r>
                        <a:rPr lang="en-US" altLang="zh-CN" sz="2000" b="0" i="1" kern="1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CN" sz="2000" b="0" i="1" kern="1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sz="20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=3.3</m:t>
                      </m:r>
                      <m:r>
                        <a:rPr lang="en-US" altLang="zh-CN" sz="20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CN" sz="2000" b="0" i="1" kern="1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sz="20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CN" sz="2000" b="0" i="1" kern="1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0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=800</m:t>
                      </m:r>
                      <m:r>
                        <a:rPr lang="en-US" altLang="zh-CN" sz="20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𝐾𝐻𝑧</m:t>
                      </m:r>
                    </m:oMath>
                  </m:oMathPara>
                </a14:m>
                <a:endParaRPr lang="en-US" altLang="zh-CN" sz="2000" b="0" i="1" kern="1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20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zh-CN" sz="2000" b="0" i="1" kern="1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=2.2uH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电感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1255AY-2R2N</a:t>
                </a:r>
                <a:endParaRPr lang="en-US" altLang="zh-CN" sz="2000" b="0" i="1" kern="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sz="2000" kern="1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求：</a:t>
                </a:r>
                <a:endParaRPr lang="en-US" altLang="zh-CN" sz="2000" kern="1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sz="2000" b="0" kern="1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电感的</a:t>
                </a:r>
                <a:r>
                  <a:rPr lang="zh-CN" altLang="en-US" sz="2000" b="0" kern="1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总损耗占比</a:t>
                </a:r>
                <a14:m>
                  <m:oMath xmlns:m="http://schemas.openxmlformats.org/officeDocument/2006/math">
                    <m:r>
                      <a:rPr lang="zh-CN" altLang="en-US" sz="2000" b="0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endParaRPr lang="en-US" altLang="zh-CN" sz="2000" b="0" kern="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1281550-E7C4-4F1A-8BA0-69F24936E2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117" y="1563361"/>
                <a:ext cx="3506312" cy="3731278"/>
              </a:xfrm>
              <a:prstGeom prst="rect">
                <a:avLst/>
              </a:prstGeom>
              <a:blipFill>
                <a:blip r:embed="rId3"/>
                <a:stretch>
                  <a:fillRect l="-1913" b="-17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06DB4D37-E582-4AD8-98EC-B33C5D95D6DD}"/>
              </a:ext>
            </a:extLst>
          </p:cNvPr>
          <p:cNvSpPr txBox="1"/>
          <p:nvPr/>
        </p:nvSpPr>
        <p:spPr>
          <a:xfrm>
            <a:off x="4397514" y="437270"/>
            <a:ext cx="3396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电感的损耗计算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EA359C1D-0F2C-4634-AE76-B20AEE291384}"/>
              </a:ext>
            </a:extLst>
          </p:cNvPr>
          <p:cNvGrpSpPr/>
          <p:nvPr/>
        </p:nvGrpSpPr>
        <p:grpSpPr>
          <a:xfrm>
            <a:off x="5235489" y="1563361"/>
            <a:ext cx="4286284" cy="1865639"/>
            <a:chOff x="4074842" y="2054943"/>
            <a:chExt cx="6313758" cy="2748113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A032A820-9E12-4E86-80DB-F491E3C6AF52}"/>
                </a:ext>
              </a:extLst>
            </p:cNvPr>
            <p:cNvGrpSpPr/>
            <p:nvPr/>
          </p:nvGrpSpPr>
          <p:grpSpPr>
            <a:xfrm>
              <a:off x="5319344" y="2660137"/>
              <a:ext cx="4952338" cy="394723"/>
              <a:chOff x="2864503" y="2889411"/>
              <a:chExt cx="4952338" cy="394723"/>
            </a:xfrm>
          </p:grpSpPr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8C0EF20E-97FB-445B-9B6C-2891CB6E7D16}"/>
                  </a:ext>
                </a:extLst>
              </p:cNvPr>
              <p:cNvCxnSpPr/>
              <p:nvPr/>
            </p:nvCxnSpPr>
            <p:spPr>
              <a:xfrm flipV="1">
                <a:off x="2864503" y="2893541"/>
                <a:ext cx="1593617" cy="39059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427582D1-4AE2-4CFA-8EAF-B8BADF6B01FA}"/>
                  </a:ext>
                </a:extLst>
              </p:cNvPr>
              <p:cNvCxnSpPr/>
              <p:nvPr/>
            </p:nvCxnSpPr>
            <p:spPr>
              <a:xfrm>
                <a:off x="4458120" y="2889411"/>
                <a:ext cx="1792819" cy="39472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B6800AE8-B1FF-451E-B83E-5280C10ECB27}"/>
                  </a:ext>
                </a:extLst>
              </p:cNvPr>
              <p:cNvCxnSpPr/>
              <p:nvPr/>
            </p:nvCxnSpPr>
            <p:spPr>
              <a:xfrm flipV="1">
                <a:off x="6223224" y="2893541"/>
                <a:ext cx="1593617" cy="39059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0E0FA4F-15B8-4CC3-BD40-D791E4F59B2C}"/>
                </a:ext>
              </a:extLst>
            </p:cNvPr>
            <p:cNvSpPr txBox="1"/>
            <p:nvPr/>
          </p:nvSpPr>
          <p:spPr>
            <a:xfrm>
              <a:off x="4074842" y="2054943"/>
              <a:ext cx="82747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电流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/A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0A9CA5F7-FD6D-49D9-BD7F-B10CBFDDD0CA}"/>
                </a:ext>
              </a:extLst>
            </p:cNvPr>
            <p:cNvGrpSpPr/>
            <p:nvPr/>
          </p:nvGrpSpPr>
          <p:grpSpPr>
            <a:xfrm>
              <a:off x="5319344" y="2054943"/>
              <a:ext cx="5069256" cy="2748113"/>
              <a:chOff x="2864503" y="2284217"/>
              <a:chExt cx="5069256" cy="2748113"/>
            </a:xfrm>
          </p:grpSpPr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F5B5CB97-6491-46CD-859E-C65D2BAD5B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316" y="4588713"/>
                <a:ext cx="5061443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3C5072E2-B61E-4372-AD3A-69DC9F227FDE}"/>
                  </a:ext>
                </a:extLst>
              </p:cNvPr>
              <p:cNvCxnSpPr/>
              <p:nvPr/>
            </p:nvCxnSpPr>
            <p:spPr>
              <a:xfrm flipV="1">
                <a:off x="2864503" y="2284217"/>
                <a:ext cx="0" cy="230449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DECA7C8-8924-488E-BA59-D989482737AE}"/>
                  </a:ext>
                </a:extLst>
              </p:cNvPr>
              <p:cNvSpPr txBox="1"/>
              <p:nvPr/>
            </p:nvSpPr>
            <p:spPr>
              <a:xfrm>
                <a:off x="4172524" y="4632220"/>
                <a:ext cx="25891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DC-DC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电感电流波形</a:t>
                </a:r>
              </a:p>
            </p:txBody>
          </p:sp>
        </p:grpSp>
      </p:grpSp>
      <p:pic>
        <p:nvPicPr>
          <p:cNvPr id="40" name="图片 39">
            <a:extLst>
              <a:ext uri="{FF2B5EF4-FFF2-40B4-BE49-F238E27FC236}">
                <a16:creationId xmlns:a16="http://schemas.microsoft.com/office/drawing/2014/main" id="{61586265-A209-41D6-BF41-8B58A6A19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0506" y="3690802"/>
            <a:ext cx="3811268" cy="2345949"/>
          </a:xfrm>
          <a:prstGeom prst="rect">
            <a:avLst/>
          </a:prstGeom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3965A4C0-E9F3-460C-9D66-E7B5853FE8EC}"/>
              </a:ext>
            </a:extLst>
          </p:cNvPr>
          <p:cNvSpPr/>
          <p:nvPr/>
        </p:nvSpPr>
        <p:spPr>
          <a:xfrm>
            <a:off x="7252733" y="4003654"/>
            <a:ext cx="3040280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2000" b="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一，三，五次谐波占主要</a:t>
            </a:r>
            <a:endParaRPr lang="en-US" altLang="zh-CN" sz="2000" b="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C604831B-37A3-4496-B933-FC2652E34BDB}"/>
              </a:ext>
            </a:extLst>
          </p:cNvPr>
          <p:cNvGrpSpPr/>
          <p:nvPr/>
        </p:nvGrpSpPr>
        <p:grpSpPr>
          <a:xfrm>
            <a:off x="6266882" y="5480050"/>
            <a:ext cx="1727200" cy="260350"/>
            <a:chOff x="6266882" y="5480050"/>
            <a:chExt cx="1727200" cy="260350"/>
          </a:xfrm>
        </p:grpSpPr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31CB061C-5C99-4E57-A7AC-F92F5D147C29}"/>
                </a:ext>
              </a:extLst>
            </p:cNvPr>
            <p:cNvSpPr/>
            <p:nvPr/>
          </p:nvSpPr>
          <p:spPr>
            <a:xfrm>
              <a:off x="6997132" y="5492750"/>
              <a:ext cx="317500" cy="24765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9882B224-191A-44FE-B4E4-B677749D1B4A}"/>
                </a:ext>
              </a:extLst>
            </p:cNvPr>
            <p:cNvSpPr/>
            <p:nvPr/>
          </p:nvSpPr>
          <p:spPr>
            <a:xfrm>
              <a:off x="7676582" y="5486400"/>
              <a:ext cx="317500" cy="24765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85BBBAAD-02AD-410F-BB99-8DEDC2E24C0D}"/>
                </a:ext>
              </a:extLst>
            </p:cNvPr>
            <p:cNvSpPr/>
            <p:nvPr/>
          </p:nvSpPr>
          <p:spPr>
            <a:xfrm>
              <a:off x="6266882" y="5480050"/>
              <a:ext cx="317500" cy="24765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972526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799"/>
    </mc:Choice>
    <mc:Fallback>
      <p:transition spd="slow" advTm="117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65B4456-DB50-48E4-8ABA-4802E82BF12A}"/>
              </a:ext>
            </a:extLst>
          </p:cNvPr>
          <p:cNvSpPr txBox="1"/>
          <p:nvPr/>
        </p:nvSpPr>
        <p:spPr>
          <a:xfrm>
            <a:off x="4397514" y="437270"/>
            <a:ext cx="3396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电感的损耗计算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85A6FB-802E-41AC-9F32-C09346A26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09" y="1578376"/>
            <a:ext cx="6869232" cy="444505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E41FFEC-2ECD-41F4-AEB9-513BFEBAA817}"/>
              </a:ext>
            </a:extLst>
          </p:cNvPr>
          <p:cNvSpPr txBox="1"/>
          <p:nvPr/>
        </p:nvSpPr>
        <p:spPr>
          <a:xfrm>
            <a:off x="2844801" y="1084767"/>
            <a:ext cx="1552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1105F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电感</a:t>
            </a:r>
            <a:r>
              <a:rPr lang="en-US" altLang="zh-CN" dirty="0">
                <a:solidFill>
                  <a:srgbClr val="1105F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dirty="0">
                <a:solidFill>
                  <a:srgbClr val="1105F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值曲线</a:t>
            </a:r>
            <a:endParaRPr lang="zh-CN" altLang="en-US" dirty="0">
              <a:solidFill>
                <a:srgbClr val="1105F9"/>
              </a:solidFill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53F4693-C263-4B3F-9EEC-FD4A5C099536}"/>
              </a:ext>
            </a:extLst>
          </p:cNvPr>
          <p:cNvGrpSpPr/>
          <p:nvPr/>
        </p:nvGrpSpPr>
        <p:grpSpPr>
          <a:xfrm>
            <a:off x="2063750" y="3244334"/>
            <a:ext cx="692149" cy="2024352"/>
            <a:chOff x="2063750" y="3244334"/>
            <a:chExt cx="692149" cy="2024352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064FA2-714B-4363-8078-1DEBA0FB563A}"/>
                </a:ext>
              </a:extLst>
            </p:cNvPr>
            <p:cNvCxnSpPr/>
            <p:nvPr/>
          </p:nvCxnSpPr>
          <p:spPr>
            <a:xfrm flipV="1">
              <a:off x="2627086" y="3556000"/>
              <a:ext cx="0" cy="1712686"/>
            </a:xfrm>
            <a:prstGeom prst="line">
              <a:avLst/>
            </a:prstGeom>
            <a:ln w="12700">
              <a:solidFill>
                <a:srgbClr val="FF0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506966B-AB84-4916-853B-64C09CDEDFC6}"/>
                    </a:ext>
                  </a:extLst>
                </p:cNvPr>
                <p:cNvSpPr txBox="1"/>
                <p:nvPr/>
              </p:nvSpPr>
              <p:spPr>
                <a:xfrm>
                  <a:off x="2063750" y="3244334"/>
                  <a:ext cx="69214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kern="1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26</m:t>
                        </m:r>
                      </m:oMath>
                    </m:oMathPara>
                  </a14:m>
                  <a:endParaRPr lang="zh-CN" alt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506966B-AB84-4916-853B-64C09CDEDF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3750" y="3244334"/>
                  <a:ext cx="692149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A6C9AAF-44B4-4BE8-912A-4BCDAECD6D49}"/>
              </a:ext>
            </a:extLst>
          </p:cNvPr>
          <p:cNvGrpSpPr/>
          <p:nvPr/>
        </p:nvGrpSpPr>
        <p:grpSpPr>
          <a:xfrm>
            <a:off x="2600192" y="2449989"/>
            <a:ext cx="692149" cy="2818697"/>
            <a:chOff x="2600192" y="2449989"/>
            <a:chExt cx="692149" cy="2818697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EFD4EDB8-4947-4D3E-91AB-095F363C1F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2386" y="2755900"/>
              <a:ext cx="0" cy="2512786"/>
            </a:xfrm>
            <a:prstGeom prst="line">
              <a:avLst/>
            </a:prstGeom>
            <a:ln w="12700">
              <a:solidFill>
                <a:srgbClr val="FF0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7DC2CDA8-C84F-4FAE-9CF7-D35F46C6B306}"/>
                    </a:ext>
                  </a:extLst>
                </p:cNvPr>
                <p:cNvSpPr txBox="1"/>
                <p:nvPr/>
              </p:nvSpPr>
              <p:spPr>
                <a:xfrm>
                  <a:off x="2600192" y="2449989"/>
                  <a:ext cx="69214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kern="1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38</m:t>
                        </m:r>
                      </m:oMath>
                    </m:oMathPara>
                  </a14:m>
                  <a:endParaRPr lang="zh-CN" alt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7DC2CDA8-C84F-4FAE-9CF7-D35F46C6B3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0192" y="2449989"/>
                  <a:ext cx="692149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20F4EC8-13A8-46B5-BDBC-AE6726774801}"/>
              </a:ext>
            </a:extLst>
          </p:cNvPr>
          <p:cNvGrpSpPr/>
          <p:nvPr/>
        </p:nvGrpSpPr>
        <p:grpSpPr>
          <a:xfrm>
            <a:off x="3037407" y="2206379"/>
            <a:ext cx="692149" cy="3075007"/>
            <a:chOff x="3037407" y="2206379"/>
            <a:chExt cx="692149" cy="3075007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BA8BB5E6-71D8-429F-A58A-FE9755F959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4635" y="2597906"/>
              <a:ext cx="0" cy="2683480"/>
            </a:xfrm>
            <a:prstGeom prst="line">
              <a:avLst/>
            </a:prstGeom>
            <a:ln w="12700">
              <a:solidFill>
                <a:srgbClr val="FF0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2008751D-789F-4EC5-ACD1-26B7B3AEC294}"/>
                    </a:ext>
                  </a:extLst>
                </p:cNvPr>
                <p:cNvSpPr txBox="1"/>
                <p:nvPr/>
              </p:nvSpPr>
              <p:spPr>
                <a:xfrm>
                  <a:off x="3037407" y="2206379"/>
                  <a:ext cx="69214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kern="1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40</m:t>
                        </m:r>
                      </m:oMath>
                    </m:oMathPara>
                  </a14:m>
                  <a:endParaRPr lang="zh-CN" alt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2008751D-789F-4EC5-ACD1-26B7B3AEC2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7407" y="2206379"/>
                  <a:ext cx="692149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233107E-442F-4FDC-8915-8FF44EDC61F3}"/>
                  </a:ext>
                </a:extLst>
              </p:cNvPr>
              <p:cNvSpPr txBox="1"/>
              <p:nvPr/>
            </p:nvSpPr>
            <p:spPr>
              <a:xfrm>
                <a:off x="8641924" y="3385403"/>
                <a:ext cx="157194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3200" i="1" kern="1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US" altLang="zh-CN" sz="3200" b="0" i="1" kern="1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3200" b="0" i="1" kern="1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30</m:t>
                      </m:r>
                    </m:oMath>
                  </m:oMathPara>
                </a14:m>
                <a:endParaRPr lang="en-US" altLang="zh-CN" sz="3200" b="0" i="1" kern="1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233107E-442F-4FDC-8915-8FF44EDC6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1924" y="3385403"/>
                <a:ext cx="1571943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96009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208"/>
    </mc:Choice>
    <mc:Fallback>
      <p:transition spd="slow" advTm="152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9EA303A-B9EE-4D1A-B345-A5AD7F8133A5}"/>
                  </a:ext>
                </a:extLst>
              </p:cNvPr>
              <p:cNvSpPr/>
              <p:nvPr/>
            </p:nvSpPr>
            <p:spPr>
              <a:xfrm>
                <a:off x="841246" y="1234749"/>
                <a:ext cx="3506312" cy="46546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sz="2000" kern="1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已知条件： </a:t>
                </a:r>
                <a:endParaRPr lang="en-US" altLang="zh-CN" sz="2000" b="0" kern="1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kern="1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kern="1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kern="1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altLang="zh-CN" sz="2000" b="0" i="1" kern="1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=12</m:t>
                      </m:r>
                      <m:r>
                        <a:rPr lang="en-US" altLang="zh-CN" sz="2000" b="0" i="1" kern="1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CN" sz="2000" b="0" i="1" kern="1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sz="20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=3.3</m:t>
                      </m:r>
                      <m:r>
                        <a:rPr lang="en-US" altLang="zh-CN" sz="20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CN" sz="2000" b="0" i="1" kern="1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sz="20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CN" sz="2000" b="0" i="1" kern="1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0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=800</m:t>
                      </m:r>
                      <m:r>
                        <a:rPr lang="en-US" altLang="zh-CN" sz="20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𝐾𝐻𝑧</m:t>
                      </m:r>
                    </m:oMath>
                  </m:oMathPara>
                </a14:m>
                <a:endParaRPr lang="en-US" altLang="zh-CN" sz="2000" b="0" i="1" kern="1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20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zh-CN" sz="2000" b="0" i="1" kern="1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=2.2uH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电感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1255AY-2R2N</a:t>
                </a: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𝐷𝐶</m:t>
                          </m:r>
                        </m:sub>
                      </m:sSub>
                      <m:r>
                        <a:rPr lang="en-US" altLang="zh-CN" sz="20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=0.0192</m:t>
                      </m:r>
                      <m:r>
                        <m:rPr>
                          <m:sty m:val="p"/>
                        </m:rPr>
                        <a:rPr lang="en-US" altLang="zh-CN" sz="200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Ω</m:t>
                      </m:r>
                    </m:oMath>
                  </m:oMathPara>
                </a14:m>
                <a:endParaRPr lang="en-US" altLang="zh-CN" sz="2000" b="0" i="1" kern="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endParaRPr lang="en-US" altLang="zh-CN" sz="2000" b="0" i="1" kern="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sz="2000" kern="1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求：</a:t>
                </a:r>
                <a:endParaRPr lang="en-US" altLang="zh-CN" sz="2000" kern="1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sz="2000" b="0" kern="1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电感的</a:t>
                </a:r>
                <a:r>
                  <a:rPr lang="zh-CN" altLang="en-US" sz="2000" b="0" kern="1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总损耗占比</a:t>
                </a:r>
                <a14:m>
                  <m:oMath xmlns:m="http://schemas.openxmlformats.org/officeDocument/2006/math">
                    <m:r>
                      <a:rPr lang="zh-CN" altLang="en-US" sz="2000" b="0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endParaRPr lang="en-US" altLang="zh-CN" sz="2000" b="0" kern="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9EA303A-B9EE-4D1A-B345-A5AD7F8133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6" y="1234749"/>
                <a:ext cx="3506312" cy="4654608"/>
              </a:xfrm>
              <a:prstGeom prst="rect">
                <a:avLst/>
              </a:prstGeom>
              <a:blipFill>
                <a:blip r:embed="rId2"/>
                <a:stretch>
                  <a:fillRect l="-1739" b="-1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35207A42-1998-431C-8504-C05B511CD281}"/>
              </a:ext>
            </a:extLst>
          </p:cNvPr>
          <p:cNvSpPr txBox="1"/>
          <p:nvPr/>
        </p:nvSpPr>
        <p:spPr>
          <a:xfrm>
            <a:off x="4397514" y="437270"/>
            <a:ext cx="3396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电感的损耗计算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A5F4EA8-F94F-44EF-9227-2E6F6FA590B0}"/>
                  </a:ext>
                </a:extLst>
              </p:cNvPr>
              <p:cNvSpPr txBox="1"/>
              <p:nvPr/>
            </p:nvSpPr>
            <p:spPr>
              <a:xfrm>
                <a:off x="841246" y="4412029"/>
                <a:ext cx="1053703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kern="10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US" altLang="zh-CN" sz="2000" b="0" i="1" kern="10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=30</m:t>
                      </m:r>
                    </m:oMath>
                  </m:oMathPara>
                </a14:m>
                <a:endParaRPr lang="en-US" altLang="zh-CN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A5F4EA8-F94F-44EF-9227-2E6F6FA59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6" y="4412029"/>
                <a:ext cx="1053703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F77A00C-CF80-462E-9F7B-821F7CABDDB1}"/>
                  </a:ext>
                </a:extLst>
              </p:cNvPr>
              <p:cNvSpPr txBox="1"/>
              <p:nvPr/>
            </p:nvSpPr>
            <p:spPr>
              <a:xfrm>
                <a:off x="5691961" y="1234749"/>
                <a:ext cx="5658793" cy="491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:r>
                  <a:rPr lang="zh-CN" altLang="en-US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电感纹波电流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：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𝐿𝑃𝑃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𝑂𝑈𝑇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𝐿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𝑂𝑈𝑇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𝐼𝑁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=1.36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zh-CN" altLang="en-US" sz="2000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F77A00C-CF80-462E-9F7B-821F7CABD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961" y="1234749"/>
                <a:ext cx="5658793" cy="491609"/>
              </a:xfrm>
              <a:prstGeom prst="rect">
                <a:avLst/>
              </a:prstGeom>
              <a:blipFill>
                <a:blip r:embed="rId4"/>
                <a:stretch>
                  <a:fillRect l="-2802" t="-1250" b="-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箭头: 右 9">
            <a:extLst>
              <a:ext uri="{FF2B5EF4-FFF2-40B4-BE49-F238E27FC236}">
                <a16:creationId xmlns:a16="http://schemas.microsoft.com/office/drawing/2014/main" id="{64C1E000-E5FA-48E6-AAB0-3E9CEF8E3D32}"/>
              </a:ext>
            </a:extLst>
          </p:cNvPr>
          <p:cNvSpPr/>
          <p:nvPr/>
        </p:nvSpPr>
        <p:spPr>
          <a:xfrm>
            <a:off x="4347558" y="3020369"/>
            <a:ext cx="431661" cy="342900"/>
          </a:xfrm>
          <a:prstGeom prst="rightArrow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613F05A-DF12-43B4-98EF-C28788509DF2}"/>
                  </a:ext>
                </a:extLst>
              </p:cNvPr>
              <p:cNvSpPr txBox="1"/>
              <p:nvPr/>
            </p:nvSpPr>
            <p:spPr>
              <a:xfrm>
                <a:off x="5691961" y="2008327"/>
                <a:ext cx="5842882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一个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周期</a:t>
                </a:r>
                <a:r>
                  <a:rPr lang="zh-CN" altLang="en-US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充能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无</m:t>
                        </m:r>
                        <m:r>
                          <a:rPr lang="zh-CN" alt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功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𝐿𝑃𝑃</m:t>
                            </m:r>
                          </m:sub>
                        </m:sSub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2.03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zh-CN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焦耳</m:t>
                    </m:r>
                  </m:oMath>
                </a14:m>
                <a:endParaRPr lang="zh-CN" altLang="en-US" sz="2000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613F05A-DF12-43B4-98EF-C28788509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961" y="2008327"/>
                <a:ext cx="5842882" cy="474361"/>
              </a:xfrm>
              <a:prstGeom prst="rect">
                <a:avLst/>
              </a:prstGeom>
              <a:blipFill>
                <a:blip r:embed="rId5"/>
                <a:stretch>
                  <a:fillRect l="-2714" t="-3846"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E4D6941-96AC-4031-83D2-FB61A7B080D0}"/>
                  </a:ext>
                </a:extLst>
              </p:cNvPr>
              <p:cNvSpPr txBox="1"/>
              <p:nvPr/>
            </p:nvSpPr>
            <p:spPr>
              <a:xfrm>
                <a:off x="5691961" y="2775109"/>
                <a:ext cx="4708405" cy="5839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交流损耗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有</m:t>
                        </m:r>
                        <m:r>
                          <a:rPr lang="zh-CN" alt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功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无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功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0.068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焦耳</m:t>
                    </m:r>
                  </m:oMath>
                </a14:m>
                <a:endParaRPr lang="zh-CN" altLang="en-US" sz="2000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E4D6941-96AC-4031-83D2-FB61A7B08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961" y="2775109"/>
                <a:ext cx="4708405" cy="583942"/>
              </a:xfrm>
              <a:prstGeom prst="rect">
                <a:avLst/>
              </a:prstGeom>
              <a:blipFill>
                <a:blip r:embed="rId6"/>
                <a:stretch>
                  <a:fillRect l="-3368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A49673A-1C98-437A-8D5B-D2A62BA878FD}"/>
                  </a:ext>
                </a:extLst>
              </p:cNvPr>
              <p:cNvSpPr txBox="1"/>
              <p:nvPr/>
            </p:nvSpPr>
            <p:spPr>
              <a:xfrm>
                <a:off x="5691961" y="3641020"/>
                <a:ext cx="5422062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直流损耗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直流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i="1" kern="1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𝐷𝐶</m:t>
                        </m:r>
                      </m:sub>
                    </m:sSub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0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0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𝑜𝑢𝑡</m:t>
                            </m:r>
                          </m:sub>
                        </m:sSub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216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焦耳</m:t>
                    </m:r>
                  </m:oMath>
                </a14:m>
                <a:endParaRPr lang="zh-CN" altLang="en-US" sz="2000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A49673A-1C98-437A-8D5B-D2A62BA87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961" y="3641020"/>
                <a:ext cx="5422062" cy="474361"/>
              </a:xfrm>
              <a:prstGeom prst="rect">
                <a:avLst/>
              </a:prstGeom>
              <a:blipFill>
                <a:blip r:embed="rId7"/>
                <a:stretch>
                  <a:fillRect l="-2925" t="-3846"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56FDE16-530C-4B1C-B1D6-D24BCBD6FDE3}"/>
                  </a:ext>
                </a:extLst>
              </p:cNvPr>
              <p:cNvSpPr txBox="1"/>
              <p:nvPr/>
            </p:nvSpPr>
            <p:spPr>
              <a:xfrm>
                <a:off x="5691961" y="4397350"/>
                <a:ext cx="6284413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负载获得能量</a:t>
                </a:r>
                <a14:m>
                  <m:oMath xmlns:m="http://schemas.openxmlformats.org/officeDocument/2006/math"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zh-CN" alt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负载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altLang="zh-CN" sz="20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CN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altLang="zh-CN" sz="20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=12.375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焦耳</m:t>
                    </m:r>
                  </m:oMath>
                </a14:m>
                <a:endParaRPr lang="zh-CN" altLang="en-US" sz="2000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56FDE16-530C-4B1C-B1D6-D24BCBD6F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961" y="4397350"/>
                <a:ext cx="6284413" cy="474361"/>
              </a:xfrm>
              <a:prstGeom prst="rect">
                <a:avLst/>
              </a:prstGeom>
              <a:blipFill>
                <a:blip r:embed="rId8"/>
                <a:stretch>
                  <a:fillRect l="-2522" t="-3846"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1CF4113-BE43-4B08-B423-667DC6ECF983}"/>
                  </a:ext>
                </a:extLst>
              </p:cNvPr>
              <p:cNvSpPr txBox="1"/>
              <p:nvPr/>
            </p:nvSpPr>
            <p:spPr>
              <a:xfrm>
                <a:off x="5691961" y="5153678"/>
                <a:ext cx="6025111" cy="8682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𝜂</m:t>
                      </m:r>
                      <m:r>
                        <a:rPr lang="en-US" altLang="zh-CN" sz="20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有</m:t>
                              </m:r>
                              <m: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功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直流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有功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直流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负载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×100%=</m:t>
                      </m:r>
                      <m:r>
                        <a:rPr lang="en-US" altLang="zh-CN" sz="2000" b="0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2.2%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1CF4113-BE43-4B08-B423-667DC6ECF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961" y="5153678"/>
                <a:ext cx="6025111" cy="8682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1477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025"/>
    </mc:Choice>
    <mc:Fallback>
      <p:transition spd="slow" advTm="170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0" grpId="0" animBg="1"/>
      <p:bldP spid="12" grpId="0"/>
      <p:bldP spid="14" grpId="0"/>
      <p:bldP spid="16" grpId="0"/>
      <p:bldP spid="18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59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1"/>
    </mc:Choice>
    <mc:Fallback>
      <p:transition spd="slow" advTm="150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8BB517A6-E99A-4067-9D39-96CA8A733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87" y="3164535"/>
            <a:ext cx="6367770" cy="2955051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2" name="图片 11" descr="查看源图像">
            <a:extLst>
              <a:ext uri="{FF2B5EF4-FFF2-40B4-BE49-F238E27FC236}">
                <a16:creationId xmlns:a16="http://schemas.microsoft.com/office/drawing/2014/main" id="{4AF6C525-2EC7-481C-8D27-2E16AA22D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61" r="24671"/>
          <a:stretch>
            <a:fillRect/>
          </a:stretch>
        </p:blipFill>
        <p:spPr bwMode="auto">
          <a:xfrm>
            <a:off x="8375905" y="3355434"/>
            <a:ext cx="3002015" cy="3331116"/>
          </a:xfrm>
          <a:custGeom>
            <a:avLst/>
            <a:gdLst>
              <a:gd name="connsiteX0" fmla="*/ 0 w 2901382"/>
              <a:gd name="connsiteY0" fmla="*/ 0 h 3219451"/>
              <a:gd name="connsiteX1" fmla="*/ 2901382 w 2901382"/>
              <a:gd name="connsiteY1" fmla="*/ 0 h 3219451"/>
              <a:gd name="connsiteX2" fmla="*/ 2901382 w 2901382"/>
              <a:gd name="connsiteY2" fmla="*/ 3219451 h 3219451"/>
              <a:gd name="connsiteX3" fmla="*/ 0 w 2901382"/>
              <a:gd name="connsiteY3" fmla="*/ 3219451 h 3219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1382" h="3219451">
                <a:moveTo>
                  <a:pt x="0" y="0"/>
                </a:moveTo>
                <a:lnTo>
                  <a:pt x="2901382" y="0"/>
                </a:lnTo>
                <a:lnTo>
                  <a:pt x="2901382" y="3219451"/>
                </a:lnTo>
                <a:lnTo>
                  <a:pt x="0" y="3219451"/>
                </a:lnTo>
                <a:close/>
              </a:path>
            </a:pathLst>
          </a:custGeom>
          <a:noFill/>
          <a:ln w="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96EAD5-8E87-425A-A155-8C300F1E8567}"/>
              </a:ext>
            </a:extLst>
          </p:cNvPr>
          <p:cNvSpPr txBox="1"/>
          <p:nvPr/>
        </p:nvSpPr>
        <p:spPr>
          <a:xfrm>
            <a:off x="486237" y="405973"/>
            <a:ext cx="5267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b="1" spc="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电感的损耗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FC6846A-F6E3-4DF5-8AE1-9158276554EB}"/>
              </a:ext>
            </a:extLst>
          </p:cNvPr>
          <p:cNvGrpSpPr/>
          <p:nvPr/>
        </p:nvGrpSpPr>
        <p:grpSpPr>
          <a:xfrm>
            <a:off x="600537" y="1790559"/>
            <a:ext cx="3363640" cy="989660"/>
            <a:chOff x="3874660" y="2949056"/>
            <a:chExt cx="3363640" cy="989660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EB683FBC-CF20-4D08-994E-2B696B493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74661" y="2949056"/>
              <a:ext cx="408489" cy="433304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AFB0BA1-2A1F-44AA-A485-0E6807AF56FD}"/>
                </a:ext>
              </a:extLst>
            </p:cNvPr>
            <p:cNvSpPr txBox="1"/>
            <p:nvPr/>
          </p:nvSpPr>
          <p:spPr>
            <a:xfrm>
              <a:off x="4488829" y="2965653"/>
              <a:ext cx="2492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电感的损耗有哪些？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0CC92A3-495E-49E5-AFA2-16F16C8F2571}"/>
                </a:ext>
              </a:extLst>
            </p:cNvPr>
            <p:cNvSpPr txBox="1"/>
            <p:nvPr/>
          </p:nvSpPr>
          <p:spPr>
            <a:xfrm>
              <a:off x="4488829" y="3522009"/>
              <a:ext cx="27494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电感的损耗如何计算？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0F8235F-4EFE-49B7-8EE8-3B25A2511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74660" y="3505412"/>
              <a:ext cx="408489" cy="433304"/>
            </a:xfrm>
            <a:prstGeom prst="rect">
              <a:avLst/>
            </a:prstGeom>
          </p:spPr>
        </p:pic>
      </p:grpSp>
      <p:pic>
        <p:nvPicPr>
          <p:cNvPr id="16" name="图片 15" descr="查看源图像">
            <a:extLst>
              <a:ext uri="{FF2B5EF4-FFF2-40B4-BE49-F238E27FC236}">
                <a16:creationId xmlns:a16="http://schemas.microsoft.com/office/drawing/2014/main" id="{F7F2267B-D6A5-4924-9BF5-4B86EE3D5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53" t="12087" r="20497" b="19253"/>
          <a:stretch>
            <a:fillRect/>
          </a:stretch>
        </p:blipFill>
        <p:spPr bwMode="auto">
          <a:xfrm>
            <a:off x="8450271" y="405973"/>
            <a:ext cx="2961243" cy="2407104"/>
          </a:xfrm>
          <a:custGeom>
            <a:avLst/>
            <a:gdLst>
              <a:gd name="connsiteX0" fmla="*/ 0 w 2697905"/>
              <a:gd name="connsiteY0" fmla="*/ 0 h 2193045"/>
              <a:gd name="connsiteX1" fmla="*/ 2697905 w 2697905"/>
              <a:gd name="connsiteY1" fmla="*/ 0 h 2193045"/>
              <a:gd name="connsiteX2" fmla="*/ 2697905 w 2697905"/>
              <a:gd name="connsiteY2" fmla="*/ 2193045 h 2193045"/>
              <a:gd name="connsiteX3" fmla="*/ 0 w 2697905"/>
              <a:gd name="connsiteY3" fmla="*/ 2193045 h 219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7905" h="2193045">
                <a:moveTo>
                  <a:pt x="0" y="0"/>
                </a:moveTo>
                <a:lnTo>
                  <a:pt x="2697905" y="0"/>
                </a:lnTo>
                <a:lnTo>
                  <a:pt x="2697905" y="2193045"/>
                </a:lnTo>
                <a:lnTo>
                  <a:pt x="0" y="219304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162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40"/>
    </mc:Choice>
    <mc:Fallback>
      <p:transition spd="slow" advTm="234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5976</TotalTime>
  <Words>337</Words>
  <Application>Microsoft Office PowerPoint</Application>
  <PresentationFormat>宽屏</PresentationFormat>
  <Paragraphs>113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宋体</vt:lpstr>
      <vt:lpstr>微软雅黑</vt:lpstr>
      <vt:lpstr>Arial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629</cp:revision>
  <dcterms:created xsi:type="dcterms:W3CDTF">2020-08-24T03:54:07Z</dcterms:created>
  <dcterms:modified xsi:type="dcterms:W3CDTF">2020-11-15T12:34:07Z</dcterms:modified>
</cp:coreProperties>
</file>