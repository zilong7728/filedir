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8" r:id="rId3"/>
    <p:sldId id="369" r:id="rId4"/>
    <p:sldId id="352" r:id="rId5"/>
    <p:sldId id="350" r:id="rId6"/>
    <p:sldId id="353" r:id="rId7"/>
    <p:sldId id="354" r:id="rId8"/>
    <p:sldId id="355" r:id="rId9"/>
    <p:sldId id="358" r:id="rId10"/>
    <p:sldId id="359" r:id="rId11"/>
    <p:sldId id="356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57" r:id="rId20"/>
    <p:sldId id="368" r:id="rId21"/>
    <p:sldId id="349" r:id="rId22"/>
    <p:sldId id="370" r:id="rId23"/>
    <p:sldId id="367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2" r:id="rId35"/>
    <p:sldId id="383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91" r:id="rId44"/>
    <p:sldId id="392" r:id="rId45"/>
    <p:sldId id="393" r:id="rId46"/>
    <p:sldId id="400" r:id="rId47"/>
    <p:sldId id="401" r:id="rId48"/>
    <p:sldId id="394" r:id="rId49"/>
    <p:sldId id="396" r:id="rId50"/>
    <p:sldId id="397" r:id="rId51"/>
    <p:sldId id="398" r:id="rId52"/>
    <p:sldId id="399" r:id="rId53"/>
    <p:sldId id="402" r:id="rId54"/>
    <p:sldId id="403" r:id="rId55"/>
    <p:sldId id="405" r:id="rId56"/>
    <p:sldId id="409" r:id="rId57"/>
    <p:sldId id="406" r:id="rId58"/>
    <p:sldId id="407" r:id="rId59"/>
    <p:sldId id="408" r:id="rId60"/>
    <p:sldId id="411" r:id="rId61"/>
    <p:sldId id="410" r:id="rId62"/>
    <p:sldId id="412" r:id="rId63"/>
    <p:sldId id="413" r:id="rId64"/>
    <p:sldId id="414" r:id="rId65"/>
    <p:sldId id="416" r:id="rId66"/>
    <p:sldId id="418" r:id="rId67"/>
    <p:sldId id="419" r:id="rId68"/>
    <p:sldId id="420" r:id="rId69"/>
    <p:sldId id="422" r:id="rId70"/>
    <p:sldId id="423" r:id="rId71"/>
    <p:sldId id="424" r:id="rId72"/>
    <p:sldId id="425" r:id="rId73"/>
    <p:sldId id="426" r:id="rId74"/>
    <p:sldId id="427" r:id="rId75"/>
    <p:sldId id="428" r:id="rId76"/>
    <p:sldId id="429" r:id="rId77"/>
    <p:sldId id="346" r:id="rId7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1051332" y="1190406"/>
            <a:ext cx="10089336" cy="4477188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8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陶瓷电容</a:t>
            </a:r>
            <a:endParaRPr lang="en-US" altLang="zh-CN" sz="8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5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115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zh-CN" altLang="en-US" sz="115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谐振频率</a:t>
            </a:r>
            <a:endParaRPr lang="zh-CN" altLang="en-US" sz="287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51A3716-1E6E-44CA-B26C-58B61D45BA0C}"/>
              </a:ext>
            </a:extLst>
          </p:cNvPr>
          <p:cNvGrpSpPr/>
          <p:nvPr/>
        </p:nvGrpSpPr>
        <p:grpSpPr>
          <a:xfrm>
            <a:off x="1330097" y="1042081"/>
            <a:ext cx="2879045" cy="4485592"/>
            <a:chOff x="5002213" y="896938"/>
            <a:chExt cx="574674" cy="895350"/>
          </a:xfrm>
        </p:grpSpPr>
        <p:sp>
          <p:nvSpPr>
            <p:cNvPr id="4" name="Freeform 190">
              <a:extLst>
                <a:ext uri="{FF2B5EF4-FFF2-40B4-BE49-F238E27FC236}">
                  <a16:creationId xmlns:a16="http://schemas.microsoft.com/office/drawing/2014/main" id="{16DF6145-8B80-4F07-90DE-1243111D1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08138"/>
              <a:ext cx="400050" cy="184150"/>
            </a:xfrm>
            <a:custGeom>
              <a:avLst/>
              <a:gdLst>
                <a:gd name="T0" fmla="*/ 0 w 128"/>
                <a:gd name="T1" fmla="*/ 59 h 59"/>
                <a:gd name="T2" fmla="*/ 64 w 128"/>
                <a:gd name="T3" fmla="*/ 0 h 59"/>
                <a:gd name="T4" fmla="*/ 128 w 128"/>
                <a:gd name="T5" fmla="*/ 59 h 59"/>
                <a:gd name="T6" fmla="*/ 0 w 1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59">
                  <a:moveTo>
                    <a:pt x="0" y="59"/>
                  </a:moveTo>
                  <a:cubicBezTo>
                    <a:pt x="0" y="27"/>
                    <a:pt x="29" y="0"/>
                    <a:pt x="64" y="0"/>
                  </a:cubicBezTo>
                  <a:cubicBezTo>
                    <a:pt x="99" y="0"/>
                    <a:pt x="128" y="27"/>
                    <a:pt x="128" y="59"/>
                  </a:cubicBezTo>
                  <a:lnTo>
                    <a:pt x="0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Oval 191">
              <a:extLst>
                <a:ext uri="{FF2B5EF4-FFF2-40B4-BE49-F238E27FC236}">
                  <a16:creationId xmlns:a16="http://schemas.microsoft.com/office/drawing/2014/main" id="{09F439FA-1DD8-4826-86BF-4DEED99C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Oval 192">
              <a:extLst>
                <a:ext uri="{FF2B5EF4-FFF2-40B4-BE49-F238E27FC236}">
                  <a16:creationId xmlns:a16="http://schemas.microsoft.com/office/drawing/2014/main" id="{5E085CC3-92A8-4972-89BF-F1E66BD12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Oval 193">
              <a:extLst>
                <a:ext uri="{FF2B5EF4-FFF2-40B4-BE49-F238E27FC236}">
                  <a16:creationId xmlns:a16="http://schemas.microsoft.com/office/drawing/2014/main" id="{2B028129-BC19-4338-B3D9-8BF66E852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1211263"/>
              <a:ext cx="374650" cy="4349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194">
              <a:extLst>
                <a:ext uri="{FF2B5EF4-FFF2-40B4-BE49-F238E27FC236}">
                  <a16:creationId xmlns:a16="http://schemas.microsoft.com/office/drawing/2014/main" id="{D1E3181C-CD56-45F3-A16B-5DC2ACE8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1187451"/>
              <a:ext cx="220662" cy="223838"/>
            </a:xfrm>
            <a:custGeom>
              <a:avLst/>
              <a:gdLst>
                <a:gd name="T0" fmla="*/ 64 w 71"/>
                <a:gd name="T1" fmla="*/ 11 h 72"/>
                <a:gd name="T2" fmla="*/ 49 w 71"/>
                <a:gd name="T3" fmla="*/ 56 h 72"/>
                <a:gd name="T4" fmla="*/ 7 w 71"/>
                <a:gd name="T5" fmla="*/ 61 h 72"/>
                <a:gd name="T6" fmla="*/ 23 w 71"/>
                <a:gd name="T7" fmla="*/ 16 h 72"/>
                <a:gd name="T8" fmla="*/ 64 w 71"/>
                <a:gd name="T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72">
                  <a:moveTo>
                    <a:pt x="64" y="11"/>
                  </a:moveTo>
                  <a:cubicBezTo>
                    <a:pt x="71" y="22"/>
                    <a:pt x="64" y="42"/>
                    <a:pt x="49" y="56"/>
                  </a:cubicBezTo>
                  <a:cubicBezTo>
                    <a:pt x="33" y="70"/>
                    <a:pt x="15" y="72"/>
                    <a:pt x="7" y="61"/>
                  </a:cubicBezTo>
                  <a:cubicBezTo>
                    <a:pt x="0" y="50"/>
                    <a:pt x="7" y="30"/>
                    <a:pt x="23" y="16"/>
                  </a:cubicBezTo>
                  <a:cubicBezTo>
                    <a:pt x="38" y="3"/>
                    <a:pt x="57" y="0"/>
                    <a:pt x="64" y="11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95">
              <a:extLst>
                <a:ext uri="{FF2B5EF4-FFF2-40B4-BE49-F238E27FC236}">
                  <a16:creationId xmlns:a16="http://schemas.microsoft.com/office/drawing/2014/main" id="{A2BFE27F-7EB6-4679-9FE6-4D3A0A2F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325" y="1168401"/>
              <a:ext cx="303212" cy="236538"/>
            </a:xfrm>
            <a:custGeom>
              <a:avLst/>
              <a:gdLst>
                <a:gd name="T0" fmla="*/ 94 w 97"/>
                <a:gd name="T1" fmla="*/ 50 h 76"/>
                <a:gd name="T2" fmla="*/ 42 w 97"/>
                <a:gd name="T3" fmla="*/ 70 h 76"/>
                <a:gd name="T4" fmla="*/ 3 w 97"/>
                <a:gd name="T5" fmla="*/ 26 h 76"/>
                <a:gd name="T6" fmla="*/ 55 w 97"/>
                <a:gd name="T7" fmla="*/ 6 h 76"/>
                <a:gd name="T8" fmla="*/ 94 w 97"/>
                <a:gd name="T9" fmla="*/ 5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76">
                  <a:moveTo>
                    <a:pt x="94" y="50"/>
                  </a:moveTo>
                  <a:cubicBezTo>
                    <a:pt x="90" y="67"/>
                    <a:pt x="67" y="76"/>
                    <a:pt x="42" y="70"/>
                  </a:cubicBezTo>
                  <a:cubicBezTo>
                    <a:pt x="17" y="63"/>
                    <a:pt x="0" y="44"/>
                    <a:pt x="3" y="26"/>
                  </a:cubicBezTo>
                  <a:cubicBezTo>
                    <a:pt x="6" y="9"/>
                    <a:pt x="30" y="0"/>
                    <a:pt x="55" y="6"/>
                  </a:cubicBezTo>
                  <a:cubicBezTo>
                    <a:pt x="80" y="13"/>
                    <a:pt x="97" y="32"/>
                    <a:pt x="94" y="50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196">
              <a:extLst>
                <a:ext uri="{FF2B5EF4-FFF2-40B4-BE49-F238E27FC236}">
                  <a16:creationId xmlns:a16="http://schemas.microsoft.com/office/drawing/2014/main" id="{4AA172D3-2BAE-4CDE-9386-732787BAC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3" y="1346201"/>
              <a:ext cx="50800" cy="10636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97">
              <a:extLst>
                <a:ext uri="{FF2B5EF4-FFF2-40B4-BE49-F238E27FC236}">
                  <a16:creationId xmlns:a16="http://schemas.microsoft.com/office/drawing/2014/main" id="{ED8FE80E-5922-4A3C-B2FF-481C8556F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1314451"/>
              <a:ext cx="49212" cy="13811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98">
              <a:extLst>
                <a:ext uri="{FF2B5EF4-FFF2-40B4-BE49-F238E27FC236}">
                  <a16:creationId xmlns:a16="http://schemas.microsoft.com/office/drawing/2014/main" id="{52B741AE-1B23-420A-ABC8-FD54A2FC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896938"/>
              <a:ext cx="412750" cy="411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99">
              <a:extLst>
                <a:ext uri="{FF2B5EF4-FFF2-40B4-BE49-F238E27FC236}">
                  <a16:creationId xmlns:a16="http://schemas.microsoft.com/office/drawing/2014/main" id="{CE5C5E83-6632-48ED-BB50-872560273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3025" y="990601"/>
              <a:ext cx="114300" cy="220663"/>
            </a:xfrm>
            <a:custGeom>
              <a:avLst/>
              <a:gdLst>
                <a:gd name="T0" fmla="*/ 37 w 37"/>
                <a:gd name="T1" fmla="*/ 16 h 71"/>
                <a:gd name="T2" fmla="*/ 25 w 37"/>
                <a:gd name="T3" fmla="*/ 42 h 71"/>
                <a:gd name="T4" fmla="*/ 25 w 37"/>
                <a:gd name="T5" fmla="*/ 51 h 71"/>
                <a:gd name="T6" fmla="*/ 12 w 37"/>
                <a:gd name="T7" fmla="*/ 51 h 71"/>
                <a:gd name="T8" fmla="*/ 12 w 37"/>
                <a:gd name="T9" fmla="*/ 44 h 71"/>
                <a:gd name="T10" fmla="*/ 24 w 37"/>
                <a:gd name="T11" fmla="*/ 16 h 71"/>
                <a:gd name="T12" fmla="*/ 18 w 37"/>
                <a:gd name="T13" fmla="*/ 10 h 71"/>
                <a:gd name="T14" fmla="*/ 13 w 37"/>
                <a:gd name="T15" fmla="*/ 18 h 71"/>
                <a:gd name="T16" fmla="*/ 13 w 37"/>
                <a:gd name="T17" fmla="*/ 21 h 71"/>
                <a:gd name="T18" fmla="*/ 0 w 37"/>
                <a:gd name="T19" fmla="*/ 21 h 71"/>
                <a:gd name="T20" fmla="*/ 0 w 37"/>
                <a:gd name="T21" fmla="*/ 16 h 71"/>
                <a:gd name="T22" fmla="*/ 18 w 37"/>
                <a:gd name="T23" fmla="*/ 0 h 71"/>
                <a:gd name="T24" fmla="*/ 37 w 37"/>
                <a:gd name="T25" fmla="*/ 16 h 71"/>
                <a:gd name="T26" fmla="*/ 12 w 37"/>
                <a:gd name="T27" fmla="*/ 59 h 71"/>
                <a:gd name="T28" fmla="*/ 25 w 37"/>
                <a:gd name="T29" fmla="*/ 59 h 71"/>
                <a:gd name="T30" fmla="*/ 25 w 37"/>
                <a:gd name="T31" fmla="*/ 71 h 71"/>
                <a:gd name="T32" fmla="*/ 12 w 37"/>
                <a:gd name="T33" fmla="*/ 71 h 71"/>
                <a:gd name="T34" fmla="*/ 12 w 37"/>
                <a:gd name="T35" fmla="*/ 5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71">
                  <a:moveTo>
                    <a:pt x="37" y="16"/>
                  </a:moveTo>
                  <a:cubicBezTo>
                    <a:pt x="37" y="29"/>
                    <a:pt x="25" y="30"/>
                    <a:pt x="25" y="42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7"/>
                    <a:pt x="24" y="24"/>
                    <a:pt x="24" y="16"/>
                  </a:cubicBezTo>
                  <a:cubicBezTo>
                    <a:pt x="24" y="12"/>
                    <a:pt x="21" y="10"/>
                    <a:pt x="18" y="10"/>
                  </a:cubicBezTo>
                  <a:cubicBezTo>
                    <a:pt x="15" y="10"/>
                    <a:pt x="13" y="13"/>
                    <a:pt x="13" y="18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6"/>
                    <a:pt x="8" y="0"/>
                    <a:pt x="18" y="0"/>
                  </a:cubicBezTo>
                  <a:cubicBezTo>
                    <a:pt x="29" y="0"/>
                    <a:pt x="37" y="6"/>
                    <a:pt x="37" y="16"/>
                  </a:cubicBezTo>
                  <a:close/>
                  <a:moveTo>
                    <a:pt x="12" y="59"/>
                  </a:moveTo>
                  <a:cubicBezTo>
                    <a:pt x="25" y="59"/>
                    <a:pt x="25" y="59"/>
                    <a:pt x="25" y="59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2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矩形 14" descr="段落内容1">
            <a:extLst>
              <a:ext uri="{FF2B5EF4-FFF2-40B4-BE49-F238E27FC236}">
                <a16:creationId xmlns:a16="http://schemas.microsoft.com/office/drawing/2014/main" id="{FAD4B784-8238-4980-8FDB-4CBDB490DF93}"/>
              </a:ext>
            </a:extLst>
          </p:cNvPr>
          <p:cNvSpPr/>
          <p:nvPr/>
        </p:nvSpPr>
        <p:spPr>
          <a:xfrm>
            <a:off x="4328442" y="2277170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573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51A3716-1E6E-44CA-B26C-58B61D45BA0C}"/>
              </a:ext>
            </a:extLst>
          </p:cNvPr>
          <p:cNvGrpSpPr/>
          <p:nvPr/>
        </p:nvGrpSpPr>
        <p:grpSpPr>
          <a:xfrm>
            <a:off x="1330097" y="1042081"/>
            <a:ext cx="2879045" cy="4485592"/>
            <a:chOff x="5002213" y="896938"/>
            <a:chExt cx="574674" cy="895350"/>
          </a:xfrm>
        </p:grpSpPr>
        <p:sp>
          <p:nvSpPr>
            <p:cNvPr id="4" name="Freeform 190">
              <a:extLst>
                <a:ext uri="{FF2B5EF4-FFF2-40B4-BE49-F238E27FC236}">
                  <a16:creationId xmlns:a16="http://schemas.microsoft.com/office/drawing/2014/main" id="{16DF6145-8B80-4F07-90DE-1243111D1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08138"/>
              <a:ext cx="400050" cy="184150"/>
            </a:xfrm>
            <a:custGeom>
              <a:avLst/>
              <a:gdLst>
                <a:gd name="T0" fmla="*/ 0 w 128"/>
                <a:gd name="T1" fmla="*/ 59 h 59"/>
                <a:gd name="T2" fmla="*/ 64 w 128"/>
                <a:gd name="T3" fmla="*/ 0 h 59"/>
                <a:gd name="T4" fmla="*/ 128 w 128"/>
                <a:gd name="T5" fmla="*/ 59 h 59"/>
                <a:gd name="T6" fmla="*/ 0 w 1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59">
                  <a:moveTo>
                    <a:pt x="0" y="59"/>
                  </a:moveTo>
                  <a:cubicBezTo>
                    <a:pt x="0" y="27"/>
                    <a:pt x="29" y="0"/>
                    <a:pt x="64" y="0"/>
                  </a:cubicBezTo>
                  <a:cubicBezTo>
                    <a:pt x="99" y="0"/>
                    <a:pt x="128" y="27"/>
                    <a:pt x="128" y="59"/>
                  </a:cubicBezTo>
                  <a:lnTo>
                    <a:pt x="0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Oval 191">
              <a:extLst>
                <a:ext uri="{FF2B5EF4-FFF2-40B4-BE49-F238E27FC236}">
                  <a16:creationId xmlns:a16="http://schemas.microsoft.com/office/drawing/2014/main" id="{09F439FA-1DD8-4826-86BF-4DEED99C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Oval 192">
              <a:extLst>
                <a:ext uri="{FF2B5EF4-FFF2-40B4-BE49-F238E27FC236}">
                  <a16:creationId xmlns:a16="http://schemas.microsoft.com/office/drawing/2014/main" id="{5E085CC3-92A8-4972-89BF-F1E66BD12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Oval 193">
              <a:extLst>
                <a:ext uri="{FF2B5EF4-FFF2-40B4-BE49-F238E27FC236}">
                  <a16:creationId xmlns:a16="http://schemas.microsoft.com/office/drawing/2014/main" id="{2B028129-BC19-4338-B3D9-8BF66E852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1211263"/>
              <a:ext cx="374650" cy="4349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194">
              <a:extLst>
                <a:ext uri="{FF2B5EF4-FFF2-40B4-BE49-F238E27FC236}">
                  <a16:creationId xmlns:a16="http://schemas.microsoft.com/office/drawing/2014/main" id="{D1E3181C-CD56-45F3-A16B-5DC2ACE8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1187451"/>
              <a:ext cx="220662" cy="223838"/>
            </a:xfrm>
            <a:custGeom>
              <a:avLst/>
              <a:gdLst>
                <a:gd name="T0" fmla="*/ 64 w 71"/>
                <a:gd name="T1" fmla="*/ 11 h 72"/>
                <a:gd name="T2" fmla="*/ 49 w 71"/>
                <a:gd name="T3" fmla="*/ 56 h 72"/>
                <a:gd name="T4" fmla="*/ 7 w 71"/>
                <a:gd name="T5" fmla="*/ 61 h 72"/>
                <a:gd name="T6" fmla="*/ 23 w 71"/>
                <a:gd name="T7" fmla="*/ 16 h 72"/>
                <a:gd name="T8" fmla="*/ 64 w 71"/>
                <a:gd name="T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72">
                  <a:moveTo>
                    <a:pt x="64" y="11"/>
                  </a:moveTo>
                  <a:cubicBezTo>
                    <a:pt x="71" y="22"/>
                    <a:pt x="64" y="42"/>
                    <a:pt x="49" y="56"/>
                  </a:cubicBezTo>
                  <a:cubicBezTo>
                    <a:pt x="33" y="70"/>
                    <a:pt x="15" y="72"/>
                    <a:pt x="7" y="61"/>
                  </a:cubicBezTo>
                  <a:cubicBezTo>
                    <a:pt x="0" y="50"/>
                    <a:pt x="7" y="30"/>
                    <a:pt x="23" y="16"/>
                  </a:cubicBezTo>
                  <a:cubicBezTo>
                    <a:pt x="38" y="3"/>
                    <a:pt x="57" y="0"/>
                    <a:pt x="64" y="11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95">
              <a:extLst>
                <a:ext uri="{FF2B5EF4-FFF2-40B4-BE49-F238E27FC236}">
                  <a16:creationId xmlns:a16="http://schemas.microsoft.com/office/drawing/2014/main" id="{A2BFE27F-7EB6-4679-9FE6-4D3A0A2F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325" y="1168401"/>
              <a:ext cx="303212" cy="236538"/>
            </a:xfrm>
            <a:custGeom>
              <a:avLst/>
              <a:gdLst>
                <a:gd name="T0" fmla="*/ 94 w 97"/>
                <a:gd name="T1" fmla="*/ 50 h 76"/>
                <a:gd name="T2" fmla="*/ 42 w 97"/>
                <a:gd name="T3" fmla="*/ 70 h 76"/>
                <a:gd name="T4" fmla="*/ 3 w 97"/>
                <a:gd name="T5" fmla="*/ 26 h 76"/>
                <a:gd name="T6" fmla="*/ 55 w 97"/>
                <a:gd name="T7" fmla="*/ 6 h 76"/>
                <a:gd name="T8" fmla="*/ 94 w 97"/>
                <a:gd name="T9" fmla="*/ 5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76">
                  <a:moveTo>
                    <a:pt x="94" y="50"/>
                  </a:moveTo>
                  <a:cubicBezTo>
                    <a:pt x="90" y="67"/>
                    <a:pt x="67" y="76"/>
                    <a:pt x="42" y="70"/>
                  </a:cubicBezTo>
                  <a:cubicBezTo>
                    <a:pt x="17" y="63"/>
                    <a:pt x="0" y="44"/>
                    <a:pt x="3" y="26"/>
                  </a:cubicBezTo>
                  <a:cubicBezTo>
                    <a:pt x="6" y="9"/>
                    <a:pt x="30" y="0"/>
                    <a:pt x="55" y="6"/>
                  </a:cubicBezTo>
                  <a:cubicBezTo>
                    <a:pt x="80" y="13"/>
                    <a:pt x="97" y="32"/>
                    <a:pt x="94" y="50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196">
              <a:extLst>
                <a:ext uri="{FF2B5EF4-FFF2-40B4-BE49-F238E27FC236}">
                  <a16:creationId xmlns:a16="http://schemas.microsoft.com/office/drawing/2014/main" id="{4AA172D3-2BAE-4CDE-9386-732787BAC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3" y="1346201"/>
              <a:ext cx="50800" cy="10636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97">
              <a:extLst>
                <a:ext uri="{FF2B5EF4-FFF2-40B4-BE49-F238E27FC236}">
                  <a16:creationId xmlns:a16="http://schemas.microsoft.com/office/drawing/2014/main" id="{ED8FE80E-5922-4A3C-B2FF-481C8556F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1314451"/>
              <a:ext cx="49212" cy="13811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98">
              <a:extLst>
                <a:ext uri="{FF2B5EF4-FFF2-40B4-BE49-F238E27FC236}">
                  <a16:creationId xmlns:a16="http://schemas.microsoft.com/office/drawing/2014/main" id="{52B741AE-1B23-420A-ABC8-FD54A2FC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896938"/>
              <a:ext cx="412750" cy="411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99">
              <a:extLst>
                <a:ext uri="{FF2B5EF4-FFF2-40B4-BE49-F238E27FC236}">
                  <a16:creationId xmlns:a16="http://schemas.microsoft.com/office/drawing/2014/main" id="{CE5C5E83-6632-48ED-BB50-872560273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3025" y="990601"/>
              <a:ext cx="114300" cy="220663"/>
            </a:xfrm>
            <a:custGeom>
              <a:avLst/>
              <a:gdLst>
                <a:gd name="T0" fmla="*/ 37 w 37"/>
                <a:gd name="T1" fmla="*/ 16 h 71"/>
                <a:gd name="T2" fmla="*/ 25 w 37"/>
                <a:gd name="T3" fmla="*/ 42 h 71"/>
                <a:gd name="T4" fmla="*/ 25 w 37"/>
                <a:gd name="T5" fmla="*/ 51 h 71"/>
                <a:gd name="T6" fmla="*/ 12 w 37"/>
                <a:gd name="T7" fmla="*/ 51 h 71"/>
                <a:gd name="T8" fmla="*/ 12 w 37"/>
                <a:gd name="T9" fmla="*/ 44 h 71"/>
                <a:gd name="T10" fmla="*/ 24 w 37"/>
                <a:gd name="T11" fmla="*/ 16 h 71"/>
                <a:gd name="T12" fmla="*/ 18 w 37"/>
                <a:gd name="T13" fmla="*/ 10 h 71"/>
                <a:gd name="T14" fmla="*/ 13 w 37"/>
                <a:gd name="T15" fmla="*/ 18 h 71"/>
                <a:gd name="T16" fmla="*/ 13 w 37"/>
                <a:gd name="T17" fmla="*/ 21 h 71"/>
                <a:gd name="T18" fmla="*/ 0 w 37"/>
                <a:gd name="T19" fmla="*/ 21 h 71"/>
                <a:gd name="T20" fmla="*/ 0 w 37"/>
                <a:gd name="T21" fmla="*/ 16 h 71"/>
                <a:gd name="T22" fmla="*/ 18 w 37"/>
                <a:gd name="T23" fmla="*/ 0 h 71"/>
                <a:gd name="T24" fmla="*/ 37 w 37"/>
                <a:gd name="T25" fmla="*/ 16 h 71"/>
                <a:gd name="T26" fmla="*/ 12 w 37"/>
                <a:gd name="T27" fmla="*/ 59 h 71"/>
                <a:gd name="T28" fmla="*/ 25 w 37"/>
                <a:gd name="T29" fmla="*/ 59 h 71"/>
                <a:gd name="T30" fmla="*/ 25 w 37"/>
                <a:gd name="T31" fmla="*/ 71 h 71"/>
                <a:gd name="T32" fmla="*/ 12 w 37"/>
                <a:gd name="T33" fmla="*/ 71 h 71"/>
                <a:gd name="T34" fmla="*/ 12 w 37"/>
                <a:gd name="T35" fmla="*/ 5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71">
                  <a:moveTo>
                    <a:pt x="37" y="16"/>
                  </a:moveTo>
                  <a:cubicBezTo>
                    <a:pt x="37" y="29"/>
                    <a:pt x="25" y="30"/>
                    <a:pt x="25" y="42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7"/>
                    <a:pt x="24" y="24"/>
                    <a:pt x="24" y="16"/>
                  </a:cubicBezTo>
                  <a:cubicBezTo>
                    <a:pt x="24" y="12"/>
                    <a:pt x="21" y="10"/>
                    <a:pt x="18" y="10"/>
                  </a:cubicBezTo>
                  <a:cubicBezTo>
                    <a:pt x="15" y="10"/>
                    <a:pt x="13" y="13"/>
                    <a:pt x="13" y="18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6"/>
                    <a:pt x="8" y="0"/>
                    <a:pt x="18" y="0"/>
                  </a:cubicBezTo>
                  <a:cubicBezTo>
                    <a:pt x="29" y="0"/>
                    <a:pt x="37" y="6"/>
                    <a:pt x="37" y="16"/>
                  </a:cubicBezTo>
                  <a:close/>
                  <a:moveTo>
                    <a:pt x="12" y="59"/>
                  </a:moveTo>
                  <a:cubicBezTo>
                    <a:pt x="25" y="59"/>
                    <a:pt x="25" y="59"/>
                    <a:pt x="25" y="59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2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矩形 14" descr="段落内容1">
            <a:extLst>
              <a:ext uri="{FF2B5EF4-FFF2-40B4-BE49-F238E27FC236}">
                <a16:creationId xmlns:a16="http://schemas.microsoft.com/office/drawing/2014/main" id="{FAD4B784-8238-4980-8FDB-4CBDB490DF93}"/>
              </a:ext>
            </a:extLst>
          </p:cNvPr>
          <p:cNvSpPr/>
          <p:nvPr/>
        </p:nvSpPr>
        <p:spPr>
          <a:xfrm>
            <a:off x="4328442" y="2277170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9FA941A5-971C-42F9-BD13-12EDF3930C6D}"/>
              </a:ext>
            </a:extLst>
          </p:cNvPr>
          <p:cNvSpPr/>
          <p:nvPr/>
        </p:nvSpPr>
        <p:spPr>
          <a:xfrm>
            <a:off x="3883064" y="1401152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啥时候关心</a:t>
            </a:r>
            <a:r>
              <a:rPr lang="en-US" altLang="zh-CN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062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 descr="段落内容1">
            <a:extLst>
              <a:ext uri="{FF2B5EF4-FFF2-40B4-BE49-F238E27FC236}">
                <a16:creationId xmlns:a16="http://schemas.microsoft.com/office/drawing/2014/main" id="{FAD4B784-8238-4980-8FDB-4CBDB490DF93}"/>
              </a:ext>
            </a:extLst>
          </p:cNvPr>
          <p:cNvSpPr/>
          <p:nvPr/>
        </p:nvSpPr>
        <p:spPr>
          <a:xfrm>
            <a:off x="4328442" y="2277170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24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 descr="段落内容1">
            <a:extLst>
              <a:ext uri="{FF2B5EF4-FFF2-40B4-BE49-F238E27FC236}">
                <a16:creationId xmlns:a16="http://schemas.microsoft.com/office/drawing/2014/main" id="{FAD4B784-8238-4980-8FDB-4CBDB490DF93}"/>
              </a:ext>
            </a:extLst>
          </p:cNvPr>
          <p:cNvSpPr/>
          <p:nvPr/>
        </p:nvSpPr>
        <p:spPr>
          <a:xfrm>
            <a:off x="4328442" y="2277170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4B2ADF8-00D7-48A2-A6E3-6EC0BBEDF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68" y="1417984"/>
            <a:ext cx="4352543" cy="32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76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 descr="段落内容1">
            <a:extLst>
              <a:ext uri="{FF2B5EF4-FFF2-40B4-BE49-F238E27FC236}">
                <a16:creationId xmlns:a16="http://schemas.microsoft.com/office/drawing/2014/main" id="{FAD4B784-8238-4980-8FDB-4CBDB490DF93}"/>
              </a:ext>
            </a:extLst>
          </p:cNvPr>
          <p:cNvSpPr/>
          <p:nvPr/>
        </p:nvSpPr>
        <p:spPr>
          <a:xfrm>
            <a:off x="4328442" y="2277170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4B2ADF8-00D7-48A2-A6E3-6EC0BBEDF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68" y="1417984"/>
            <a:ext cx="4352543" cy="329283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1115EEA-207D-4682-AD08-277B5E91B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07" y="892048"/>
            <a:ext cx="5269132" cy="385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2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C4B2ADF8-00D7-48A2-A6E3-6EC0BBEDF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68" y="1417984"/>
            <a:ext cx="4352543" cy="329283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1115EEA-207D-4682-AD08-277B5E91B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07" y="892048"/>
            <a:ext cx="5269132" cy="385470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A85772-28DE-48AD-B1D1-781EDC26691F}"/>
              </a:ext>
            </a:extLst>
          </p:cNvPr>
          <p:cNvSpPr/>
          <p:nvPr/>
        </p:nvSpPr>
        <p:spPr>
          <a:xfrm>
            <a:off x="5968999" y="1896170"/>
            <a:ext cx="5739033" cy="762000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59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C4B2ADF8-00D7-48A2-A6E3-6EC0BBEDF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68" y="1417984"/>
            <a:ext cx="4352543" cy="329283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1115EEA-207D-4682-AD08-277B5E91B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07" y="892048"/>
            <a:ext cx="5269132" cy="385470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A85772-28DE-48AD-B1D1-781EDC26691F}"/>
              </a:ext>
            </a:extLst>
          </p:cNvPr>
          <p:cNvSpPr/>
          <p:nvPr/>
        </p:nvSpPr>
        <p:spPr>
          <a:xfrm>
            <a:off x="5968999" y="1896170"/>
            <a:ext cx="5739033" cy="762000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8EBDB172-BD9B-43F0-A6AA-FFF3AB0EB4F8}"/>
              </a:ext>
            </a:extLst>
          </p:cNvPr>
          <p:cNvSpPr/>
          <p:nvPr/>
        </p:nvSpPr>
        <p:spPr>
          <a:xfrm>
            <a:off x="5416974" y="228600"/>
            <a:ext cx="7217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纹波大了可不行</a:t>
            </a:r>
            <a:endParaRPr lang="en-US" altLang="zh-CN" sz="60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7573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10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0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96C40-36FE-4672-A4DD-C9DD221CE36E}"/>
              </a:ext>
            </a:extLst>
          </p:cNvPr>
          <p:cNvSpPr/>
          <p:nvPr/>
        </p:nvSpPr>
        <p:spPr>
          <a:xfrm>
            <a:off x="825499" y="3975100"/>
            <a:ext cx="1917701" cy="3175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881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96C40-36FE-4672-A4DD-C9DD221CE36E}"/>
              </a:ext>
            </a:extLst>
          </p:cNvPr>
          <p:cNvSpPr/>
          <p:nvPr/>
        </p:nvSpPr>
        <p:spPr>
          <a:xfrm>
            <a:off x="825499" y="3975100"/>
            <a:ext cx="1917701" cy="3175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6730038-0BF0-4DB6-B389-26ADDF7A717D}"/>
              </a:ext>
            </a:extLst>
          </p:cNvPr>
          <p:cNvSpPr/>
          <p:nvPr/>
        </p:nvSpPr>
        <p:spPr>
          <a:xfrm rot="19494843">
            <a:off x="2376899" y="2066769"/>
            <a:ext cx="4106583" cy="444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131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96C40-36FE-4672-A4DD-C9DD221CE36E}"/>
              </a:ext>
            </a:extLst>
          </p:cNvPr>
          <p:cNvSpPr/>
          <p:nvPr/>
        </p:nvSpPr>
        <p:spPr>
          <a:xfrm>
            <a:off x="825499" y="3975100"/>
            <a:ext cx="1917701" cy="3175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6730038-0BF0-4DB6-B389-26ADDF7A717D}"/>
              </a:ext>
            </a:extLst>
          </p:cNvPr>
          <p:cNvSpPr/>
          <p:nvPr/>
        </p:nvSpPr>
        <p:spPr>
          <a:xfrm rot="19494843">
            <a:off x="2376899" y="2066769"/>
            <a:ext cx="4106583" cy="444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2BCD74C-DF98-4E92-9892-CFE7A50DAB44}"/>
              </a:ext>
            </a:extLst>
          </p:cNvPr>
          <p:cNvSpPr/>
          <p:nvPr/>
        </p:nvSpPr>
        <p:spPr>
          <a:xfrm>
            <a:off x="5269905" y="404091"/>
            <a:ext cx="7217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输出纹波公式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999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96C40-36FE-4672-A4DD-C9DD221CE36E}"/>
              </a:ext>
            </a:extLst>
          </p:cNvPr>
          <p:cNvSpPr/>
          <p:nvPr/>
        </p:nvSpPr>
        <p:spPr>
          <a:xfrm>
            <a:off x="825499" y="3975100"/>
            <a:ext cx="1917701" cy="3175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6730038-0BF0-4DB6-B389-26ADDF7A717D}"/>
              </a:ext>
            </a:extLst>
          </p:cNvPr>
          <p:cNvSpPr/>
          <p:nvPr/>
        </p:nvSpPr>
        <p:spPr>
          <a:xfrm rot="19494843">
            <a:off x="2376899" y="2066769"/>
            <a:ext cx="4106583" cy="444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2BCD74C-DF98-4E92-9892-CFE7A50DAB44}"/>
              </a:ext>
            </a:extLst>
          </p:cNvPr>
          <p:cNvSpPr/>
          <p:nvPr/>
        </p:nvSpPr>
        <p:spPr>
          <a:xfrm>
            <a:off x="5269905" y="404091"/>
            <a:ext cx="7217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输出纹波公式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/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△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U=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𝒆𝒔𝒓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blipFill>
                <a:blip r:embed="rId3"/>
                <a:stretch>
                  <a:fillRect t="-2400" b="-10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640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96C40-36FE-4672-A4DD-C9DD221CE36E}"/>
              </a:ext>
            </a:extLst>
          </p:cNvPr>
          <p:cNvSpPr/>
          <p:nvPr/>
        </p:nvSpPr>
        <p:spPr>
          <a:xfrm>
            <a:off x="825499" y="3975100"/>
            <a:ext cx="1917701" cy="3175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6730038-0BF0-4DB6-B389-26ADDF7A717D}"/>
              </a:ext>
            </a:extLst>
          </p:cNvPr>
          <p:cNvSpPr/>
          <p:nvPr/>
        </p:nvSpPr>
        <p:spPr>
          <a:xfrm rot="19494843">
            <a:off x="2376899" y="2066769"/>
            <a:ext cx="4106583" cy="444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2BCD74C-DF98-4E92-9892-CFE7A50DAB44}"/>
              </a:ext>
            </a:extLst>
          </p:cNvPr>
          <p:cNvSpPr/>
          <p:nvPr/>
        </p:nvSpPr>
        <p:spPr>
          <a:xfrm>
            <a:off x="5269905" y="404091"/>
            <a:ext cx="7217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输出纹波公式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/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△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U=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𝒆𝒔𝒓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blipFill>
                <a:blip r:embed="rId3"/>
                <a:stretch>
                  <a:fillRect t="-2400" b="-10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AEA990EB-74CB-44E8-92C7-8BC356754821}"/>
              </a:ext>
            </a:extLst>
          </p:cNvPr>
          <p:cNvSpPr/>
          <p:nvPr/>
        </p:nvSpPr>
        <p:spPr>
          <a:xfrm>
            <a:off x="5483394" y="3607808"/>
            <a:ext cx="15834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</a:p>
        </p:txBody>
      </p:sp>
    </p:spTree>
    <p:extLst>
      <p:ext uri="{BB962C8B-B14F-4D97-AF65-F5344CB8AC3E}">
        <p14:creationId xmlns:p14="http://schemas.microsoft.com/office/powerpoint/2010/main" val="3436238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96C40-36FE-4672-A4DD-C9DD221CE36E}"/>
              </a:ext>
            </a:extLst>
          </p:cNvPr>
          <p:cNvSpPr/>
          <p:nvPr/>
        </p:nvSpPr>
        <p:spPr>
          <a:xfrm>
            <a:off x="825499" y="3975100"/>
            <a:ext cx="1917701" cy="3175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6730038-0BF0-4DB6-B389-26ADDF7A717D}"/>
              </a:ext>
            </a:extLst>
          </p:cNvPr>
          <p:cNvSpPr/>
          <p:nvPr/>
        </p:nvSpPr>
        <p:spPr>
          <a:xfrm rot="19494843">
            <a:off x="2376899" y="2066769"/>
            <a:ext cx="4106583" cy="444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2BCD74C-DF98-4E92-9892-CFE7A50DAB44}"/>
              </a:ext>
            </a:extLst>
          </p:cNvPr>
          <p:cNvSpPr/>
          <p:nvPr/>
        </p:nvSpPr>
        <p:spPr>
          <a:xfrm>
            <a:off x="5269905" y="404091"/>
            <a:ext cx="7217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输出纹波公式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/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△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U=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𝒆𝒔𝒓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blipFill>
                <a:blip r:embed="rId3"/>
                <a:stretch>
                  <a:fillRect t="-2400" b="-10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AEA990EB-74CB-44E8-92C7-8BC356754821}"/>
              </a:ext>
            </a:extLst>
          </p:cNvPr>
          <p:cNvSpPr/>
          <p:nvPr/>
        </p:nvSpPr>
        <p:spPr>
          <a:xfrm>
            <a:off x="5483394" y="3607808"/>
            <a:ext cx="15834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0F2B216-8EBE-47C6-A95E-002971FE4DF0}"/>
              </a:ext>
            </a:extLst>
          </p:cNvPr>
          <p:cNvSpPr/>
          <p:nvPr/>
        </p:nvSpPr>
        <p:spPr>
          <a:xfrm rot="16200000">
            <a:off x="6803238" y="3837214"/>
            <a:ext cx="52185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524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96C40-36FE-4672-A4DD-C9DD221CE36E}"/>
              </a:ext>
            </a:extLst>
          </p:cNvPr>
          <p:cNvSpPr/>
          <p:nvPr/>
        </p:nvSpPr>
        <p:spPr>
          <a:xfrm>
            <a:off x="825499" y="3975100"/>
            <a:ext cx="1917701" cy="3175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6730038-0BF0-4DB6-B389-26ADDF7A717D}"/>
              </a:ext>
            </a:extLst>
          </p:cNvPr>
          <p:cNvSpPr/>
          <p:nvPr/>
        </p:nvSpPr>
        <p:spPr>
          <a:xfrm rot="19494843">
            <a:off x="2376899" y="2066769"/>
            <a:ext cx="4106583" cy="444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2BCD74C-DF98-4E92-9892-CFE7A50DAB44}"/>
              </a:ext>
            </a:extLst>
          </p:cNvPr>
          <p:cNvSpPr/>
          <p:nvPr/>
        </p:nvSpPr>
        <p:spPr>
          <a:xfrm>
            <a:off x="5269905" y="404091"/>
            <a:ext cx="7217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输出纹波公式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/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△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U=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𝒆𝒔𝒓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blipFill>
                <a:blip r:embed="rId3"/>
                <a:stretch>
                  <a:fillRect t="-2400" b="-10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AEA990EB-74CB-44E8-92C7-8BC356754821}"/>
              </a:ext>
            </a:extLst>
          </p:cNvPr>
          <p:cNvSpPr/>
          <p:nvPr/>
        </p:nvSpPr>
        <p:spPr>
          <a:xfrm>
            <a:off x="5483394" y="3607808"/>
            <a:ext cx="15834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0F2B216-8EBE-47C6-A95E-002971FE4DF0}"/>
              </a:ext>
            </a:extLst>
          </p:cNvPr>
          <p:cNvSpPr/>
          <p:nvPr/>
        </p:nvSpPr>
        <p:spPr>
          <a:xfrm rot="16200000">
            <a:off x="6803238" y="3837214"/>
            <a:ext cx="52185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FD48695-BC9F-4D4A-A2E4-3208DA6E24CE}"/>
              </a:ext>
            </a:extLst>
          </p:cNvPr>
          <p:cNvSpPr/>
          <p:nvPr/>
        </p:nvSpPr>
        <p:spPr>
          <a:xfrm>
            <a:off x="7498853" y="3898636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745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F11BEC-6D21-4DF0-94A9-96411E83D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1" y="419100"/>
            <a:ext cx="4457700" cy="54259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096C40-36FE-4672-A4DD-C9DD221CE36E}"/>
              </a:ext>
            </a:extLst>
          </p:cNvPr>
          <p:cNvSpPr/>
          <p:nvPr/>
        </p:nvSpPr>
        <p:spPr>
          <a:xfrm>
            <a:off x="825499" y="3975100"/>
            <a:ext cx="1917701" cy="3175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6730038-0BF0-4DB6-B389-26ADDF7A717D}"/>
              </a:ext>
            </a:extLst>
          </p:cNvPr>
          <p:cNvSpPr/>
          <p:nvPr/>
        </p:nvSpPr>
        <p:spPr>
          <a:xfrm rot="19494843">
            <a:off x="2376899" y="2066769"/>
            <a:ext cx="4106583" cy="444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2BCD74C-DF98-4E92-9892-CFE7A50DAB44}"/>
              </a:ext>
            </a:extLst>
          </p:cNvPr>
          <p:cNvSpPr/>
          <p:nvPr/>
        </p:nvSpPr>
        <p:spPr>
          <a:xfrm>
            <a:off x="5269905" y="404091"/>
            <a:ext cx="7217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输出纹波公式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/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△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</a:rPr>
                  <a:t>U=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𝒆𝒔𝒓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altLang="zh-CN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65D840-05F3-41D8-852F-B8D595E63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159" y="1942593"/>
                <a:ext cx="6632650" cy="763414"/>
              </a:xfrm>
              <a:prstGeom prst="rect">
                <a:avLst/>
              </a:prstGeom>
              <a:blipFill>
                <a:blip r:embed="rId3"/>
                <a:stretch>
                  <a:fillRect t="-2400" b="-10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AEA990EB-74CB-44E8-92C7-8BC356754821}"/>
              </a:ext>
            </a:extLst>
          </p:cNvPr>
          <p:cNvSpPr/>
          <p:nvPr/>
        </p:nvSpPr>
        <p:spPr>
          <a:xfrm>
            <a:off x="5483394" y="3607808"/>
            <a:ext cx="15834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0F2B216-8EBE-47C6-A95E-002971FE4DF0}"/>
              </a:ext>
            </a:extLst>
          </p:cNvPr>
          <p:cNvSpPr/>
          <p:nvPr/>
        </p:nvSpPr>
        <p:spPr>
          <a:xfrm rot="16200000">
            <a:off x="6803238" y="3837214"/>
            <a:ext cx="52185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9CCB5AE-99EA-4672-80D3-04F0484DCD3B}"/>
                  </a:ext>
                </a:extLst>
              </p:cNvPr>
              <p:cNvSpPr/>
              <p:nvPr/>
            </p:nvSpPr>
            <p:spPr>
              <a:xfrm>
                <a:off x="8873264" y="3564256"/>
                <a:ext cx="1053494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△</m:t>
                    </m:r>
                  </m:oMath>
                </a14:m>
                <a:r>
                  <a:rPr lang="en-US" altLang="zh-CN" sz="4400" b="1" dirty="0">
                    <a:solidFill>
                      <a:srgbClr val="FF0000"/>
                    </a:solidFill>
                  </a:rPr>
                  <a:t>U</a:t>
                </a:r>
                <a:endParaRPr lang="zh-CN" altLang="en-US" sz="4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9CCB5AE-99EA-4672-80D3-04F0484DC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264" y="3564256"/>
                <a:ext cx="1053494" cy="769441"/>
              </a:xfrm>
              <a:prstGeom prst="rect">
                <a:avLst/>
              </a:prstGeom>
              <a:blipFill>
                <a:blip r:embed="rId4"/>
                <a:stretch>
                  <a:fillRect t="-16667" r="-23256" b="-37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头: 右 10">
            <a:extLst>
              <a:ext uri="{FF2B5EF4-FFF2-40B4-BE49-F238E27FC236}">
                <a16:creationId xmlns:a16="http://schemas.microsoft.com/office/drawing/2014/main" id="{49B4480A-E86B-45BE-9B60-1AE1B22CBF11}"/>
              </a:ext>
            </a:extLst>
          </p:cNvPr>
          <p:cNvSpPr/>
          <p:nvPr/>
        </p:nvSpPr>
        <p:spPr>
          <a:xfrm rot="16200000">
            <a:off x="9781965" y="3832843"/>
            <a:ext cx="52185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FD48695-BC9F-4D4A-A2E4-3208DA6E24CE}"/>
              </a:ext>
            </a:extLst>
          </p:cNvPr>
          <p:cNvSpPr/>
          <p:nvPr/>
        </p:nvSpPr>
        <p:spPr>
          <a:xfrm>
            <a:off x="7498853" y="3898636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991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659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51A3716-1E6E-44CA-B26C-58B61D45BA0C}"/>
              </a:ext>
            </a:extLst>
          </p:cNvPr>
          <p:cNvGrpSpPr/>
          <p:nvPr/>
        </p:nvGrpSpPr>
        <p:grpSpPr>
          <a:xfrm>
            <a:off x="1330097" y="1042081"/>
            <a:ext cx="2879045" cy="4485592"/>
            <a:chOff x="5002213" y="896938"/>
            <a:chExt cx="574674" cy="895350"/>
          </a:xfrm>
        </p:grpSpPr>
        <p:sp>
          <p:nvSpPr>
            <p:cNvPr id="4" name="Freeform 190">
              <a:extLst>
                <a:ext uri="{FF2B5EF4-FFF2-40B4-BE49-F238E27FC236}">
                  <a16:creationId xmlns:a16="http://schemas.microsoft.com/office/drawing/2014/main" id="{16DF6145-8B80-4F07-90DE-1243111D1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08138"/>
              <a:ext cx="400050" cy="184150"/>
            </a:xfrm>
            <a:custGeom>
              <a:avLst/>
              <a:gdLst>
                <a:gd name="T0" fmla="*/ 0 w 128"/>
                <a:gd name="T1" fmla="*/ 59 h 59"/>
                <a:gd name="T2" fmla="*/ 64 w 128"/>
                <a:gd name="T3" fmla="*/ 0 h 59"/>
                <a:gd name="T4" fmla="*/ 128 w 128"/>
                <a:gd name="T5" fmla="*/ 59 h 59"/>
                <a:gd name="T6" fmla="*/ 0 w 1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59">
                  <a:moveTo>
                    <a:pt x="0" y="59"/>
                  </a:moveTo>
                  <a:cubicBezTo>
                    <a:pt x="0" y="27"/>
                    <a:pt x="29" y="0"/>
                    <a:pt x="64" y="0"/>
                  </a:cubicBezTo>
                  <a:cubicBezTo>
                    <a:pt x="99" y="0"/>
                    <a:pt x="128" y="27"/>
                    <a:pt x="128" y="59"/>
                  </a:cubicBezTo>
                  <a:lnTo>
                    <a:pt x="0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Oval 191">
              <a:extLst>
                <a:ext uri="{FF2B5EF4-FFF2-40B4-BE49-F238E27FC236}">
                  <a16:creationId xmlns:a16="http://schemas.microsoft.com/office/drawing/2014/main" id="{09F439FA-1DD8-4826-86BF-4DEED99C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Oval 192">
              <a:extLst>
                <a:ext uri="{FF2B5EF4-FFF2-40B4-BE49-F238E27FC236}">
                  <a16:creationId xmlns:a16="http://schemas.microsoft.com/office/drawing/2014/main" id="{5E085CC3-92A8-4972-89BF-F1E66BD12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Oval 193">
              <a:extLst>
                <a:ext uri="{FF2B5EF4-FFF2-40B4-BE49-F238E27FC236}">
                  <a16:creationId xmlns:a16="http://schemas.microsoft.com/office/drawing/2014/main" id="{2B028129-BC19-4338-B3D9-8BF66E852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1211263"/>
              <a:ext cx="374650" cy="4349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194">
              <a:extLst>
                <a:ext uri="{FF2B5EF4-FFF2-40B4-BE49-F238E27FC236}">
                  <a16:creationId xmlns:a16="http://schemas.microsoft.com/office/drawing/2014/main" id="{D1E3181C-CD56-45F3-A16B-5DC2ACE8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1187451"/>
              <a:ext cx="220662" cy="223838"/>
            </a:xfrm>
            <a:custGeom>
              <a:avLst/>
              <a:gdLst>
                <a:gd name="T0" fmla="*/ 64 w 71"/>
                <a:gd name="T1" fmla="*/ 11 h 72"/>
                <a:gd name="T2" fmla="*/ 49 w 71"/>
                <a:gd name="T3" fmla="*/ 56 h 72"/>
                <a:gd name="T4" fmla="*/ 7 w 71"/>
                <a:gd name="T5" fmla="*/ 61 h 72"/>
                <a:gd name="T6" fmla="*/ 23 w 71"/>
                <a:gd name="T7" fmla="*/ 16 h 72"/>
                <a:gd name="T8" fmla="*/ 64 w 71"/>
                <a:gd name="T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72">
                  <a:moveTo>
                    <a:pt x="64" y="11"/>
                  </a:moveTo>
                  <a:cubicBezTo>
                    <a:pt x="71" y="22"/>
                    <a:pt x="64" y="42"/>
                    <a:pt x="49" y="56"/>
                  </a:cubicBezTo>
                  <a:cubicBezTo>
                    <a:pt x="33" y="70"/>
                    <a:pt x="15" y="72"/>
                    <a:pt x="7" y="61"/>
                  </a:cubicBezTo>
                  <a:cubicBezTo>
                    <a:pt x="0" y="50"/>
                    <a:pt x="7" y="30"/>
                    <a:pt x="23" y="16"/>
                  </a:cubicBezTo>
                  <a:cubicBezTo>
                    <a:pt x="38" y="3"/>
                    <a:pt x="57" y="0"/>
                    <a:pt x="64" y="11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95">
              <a:extLst>
                <a:ext uri="{FF2B5EF4-FFF2-40B4-BE49-F238E27FC236}">
                  <a16:creationId xmlns:a16="http://schemas.microsoft.com/office/drawing/2014/main" id="{A2BFE27F-7EB6-4679-9FE6-4D3A0A2F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325" y="1168401"/>
              <a:ext cx="303212" cy="236538"/>
            </a:xfrm>
            <a:custGeom>
              <a:avLst/>
              <a:gdLst>
                <a:gd name="T0" fmla="*/ 94 w 97"/>
                <a:gd name="T1" fmla="*/ 50 h 76"/>
                <a:gd name="T2" fmla="*/ 42 w 97"/>
                <a:gd name="T3" fmla="*/ 70 h 76"/>
                <a:gd name="T4" fmla="*/ 3 w 97"/>
                <a:gd name="T5" fmla="*/ 26 h 76"/>
                <a:gd name="T6" fmla="*/ 55 w 97"/>
                <a:gd name="T7" fmla="*/ 6 h 76"/>
                <a:gd name="T8" fmla="*/ 94 w 97"/>
                <a:gd name="T9" fmla="*/ 5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76">
                  <a:moveTo>
                    <a:pt x="94" y="50"/>
                  </a:moveTo>
                  <a:cubicBezTo>
                    <a:pt x="90" y="67"/>
                    <a:pt x="67" y="76"/>
                    <a:pt x="42" y="70"/>
                  </a:cubicBezTo>
                  <a:cubicBezTo>
                    <a:pt x="17" y="63"/>
                    <a:pt x="0" y="44"/>
                    <a:pt x="3" y="26"/>
                  </a:cubicBezTo>
                  <a:cubicBezTo>
                    <a:pt x="6" y="9"/>
                    <a:pt x="30" y="0"/>
                    <a:pt x="55" y="6"/>
                  </a:cubicBezTo>
                  <a:cubicBezTo>
                    <a:pt x="80" y="13"/>
                    <a:pt x="97" y="32"/>
                    <a:pt x="94" y="50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196">
              <a:extLst>
                <a:ext uri="{FF2B5EF4-FFF2-40B4-BE49-F238E27FC236}">
                  <a16:creationId xmlns:a16="http://schemas.microsoft.com/office/drawing/2014/main" id="{4AA172D3-2BAE-4CDE-9386-732787BAC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3" y="1346201"/>
              <a:ext cx="50800" cy="10636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97">
              <a:extLst>
                <a:ext uri="{FF2B5EF4-FFF2-40B4-BE49-F238E27FC236}">
                  <a16:creationId xmlns:a16="http://schemas.microsoft.com/office/drawing/2014/main" id="{ED8FE80E-5922-4A3C-B2FF-481C8556F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1314451"/>
              <a:ext cx="49212" cy="13811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98">
              <a:extLst>
                <a:ext uri="{FF2B5EF4-FFF2-40B4-BE49-F238E27FC236}">
                  <a16:creationId xmlns:a16="http://schemas.microsoft.com/office/drawing/2014/main" id="{52B741AE-1B23-420A-ABC8-FD54A2FC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896938"/>
              <a:ext cx="412750" cy="411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99">
              <a:extLst>
                <a:ext uri="{FF2B5EF4-FFF2-40B4-BE49-F238E27FC236}">
                  <a16:creationId xmlns:a16="http://schemas.microsoft.com/office/drawing/2014/main" id="{CE5C5E83-6632-48ED-BB50-872560273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3025" y="990601"/>
              <a:ext cx="114300" cy="220663"/>
            </a:xfrm>
            <a:custGeom>
              <a:avLst/>
              <a:gdLst>
                <a:gd name="T0" fmla="*/ 37 w 37"/>
                <a:gd name="T1" fmla="*/ 16 h 71"/>
                <a:gd name="T2" fmla="*/ 25 w 37"/>
                <a:gd name="T3" fmla="*/ 42 h 71"/>
                <a:gd name="T4" fmla="*/ 25 w 37"/>
                <a:gd name="T5" fmla="*/ 51 h 71"/>
                <a:gd name="T6" fmla="*/ 12 w 37"/>
                <a:gd name="T7" fmla="*/ 51 h 71"/>
                <a:gd name="T8" fmla="*/ 12 w 37"/>
                <a:gd name="T9" fmla="*/ 44 h 71"/>
                <a:gd name="T10" fmla="*/ 24 w 37"/>
                <a:gd name="T11" fmla="*/ 16 h 71"/>
                <a:gd name="T12" fmla="*/ 18 w 37"/>
                <a:gd name="T13" fmla="*/ 10 h 71"/>
                <a:gd name="T14" fmla="*/ 13 w 37"/>
                <a:gd name="T15" fmla="*/ 18 h 71"/>
                <a:gd name="T16" fmla="*/ 13 w 37"/>
                <a:gd name="T17" fmla="*/ 21 h 71"/>
                <a:gd name="T18" fmla="*/ 0 w 37"/>
                <a:gd name="T19" fmla="*/ 21 h 71"/>
                <a:gd name="T20" fmla="*/ 0 w 37"/>
                <a:gd name="T21" fmla="*/ 16 h 71"/>
                <a:gd name="T22" fmla="*/ 18 w 37"/>
                <a:gd name="T23" fmla="*/ 0 h 71"/>
                <a:gd name="T24" fmla="*/ 37 w 37"/>
                <a:gd name="T25" fmla="*/ 16 h 71"/>
                <a:gd name="T26" fmla="*/ 12 w 37"/>
                <a:gd name="T27" fmla="*/ 59 h 71"/>
                <a:gd name="T28" fmla="*/ 25 w 37"/>
                <a:gd name="T29" fmla="*/ 59 h 71"/>
                <a:gd name="T30" fmla="*/ 25 w 37"/>
                <a:gd name="T31" fmla="*/ 71 h 71"/>
                <a:gd name="T32" fmla="*/ 12 w 37"/>
                <a:gd name="T33" fmla="*/ 71 h 71"/>
                <a:gd name="T34" fmla="*/ 12 w 37"/>
                <a:gd name="T35" fmla="*/ 5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71">
                  <a:moveTo>
                    <a:pt x="37" y="16"/>
                  </a:moveTo>
                  <a:cubicBezTo>
                    <a:pt x="37" y="29"/>
                    <a:pt x="25" y="30"/>
                    <a:pt x="25" y="42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7"/>
                    <a:pt x="24" y="24"/>
                    <a:pt x="24" y="16"/>
                  </a:cubicBezTo>
                  <a:cubicBezTo>
                    <a:pt x="24" y="12"/>
                    <a:pt x="21" y="10"/>
                    <a:pt x="18" y="10"/>
                  </a:cubicBezTo>
                  <a:cubicBezTo>
                    <a:pt x="15" y="10"/>
                    <a:pt x="13" y="13"/>
                    <a:pt x="13" y="18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6"/>
                    <a:pt x="8" y="0"/>
                    <a:pt x="18" y="0"/>
                  </a:cubicBezTo>
                  <a:cubicBezTo>
                    <a:pt x="29" y="0"/>
                    <a:pt x="37" y="6"/>
                    <a:pt x="37" y="16"/>
                  </a:cubicBezTo>
                  <a:close/>
                  <a:moveTo>
                    <a:pt x="12" y="59"/>
                  </a:moveTo>
                  <a:cubicBezTo>
                    <a:pt x="25" y="59"/>
                    <a:pt x="25" y="59"/>
                    <a:pt x="25" y="59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2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矩形 14" descr="段落内容1">
            <a:extLst>
              <a:ext uri="{FF2B5EF4-FFF2-40B4-BE49-F238E27FC236}">
                <a16:creationId xmlns:a16="http://schemas.microsoft.com/office/drawing/2014/main" id="{FAD4B784-8238-4980-8FDB-4CBDB490DF93}"/>
              </a:ext>
            </a:extLst>
          </p:cNvPr>
          <p:cNvSpPr/>
          <p:nvPr/>
        </p:nvSpPr>
        <p:spPr>
          <a:xfrm>
            <a:off x="4328442" y="2277170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3563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51A3716-1E6E-44CA-B26C-58B61D45BA0C}"/>
              </a:ext>
            </a:extLst>
          </p:cNvPr>
          <p:cNvGrpSpPr/>
          <p:nvPr/>
        </p:nvGrpSpPr>
        <p:grpSpPr>
          <a:xfrm>
            <a:off x="1330097" y="1042081"/>
            <a:ext cx="2879045" cy="4485592"/>
            <a:chOff x="5002213" y="896938"/>
            <a:chExt cx="574674" cy="895350"/>
          </a:xfrm>
        </p:grpSpPr>
        <p:sp>
          <p:nvSpPr>
            <p:cNvPr id="4" name="Freeform 190">
              <a:extLst>
                <a:ext uri="{FF2B5EF4-FFF2-40B4-BE49-F238E27FC236}">
                  <a16:creationId xmlns:a16="http://schemas.microsoft.com/office/drawing/2014/main" id="{16DF6145-8B80-4F07-90DE-1243111D1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08138"/>
              <a:ext cx="400050" cy="184150"/>
            </a:xfrm>
            <a:custGeom>
              <a:avLst/>
              <a:gdLst>
                <a:gd name="T0" fmla="*/ 0 w 128"/>
                <a:gd name="T1" fmla="*/ 59 h 59"/>
                <a:gd name="T2" fmla="*/ 64 w 128"/>
                <a:gd name="T3" fmla="*/ 0 h 59"/>
                <a:gd name="T4" fmla="*/ 128 w 128"/>
                <a:gd name="T5" fmla="*/ 59 h 59"/>
                <a:gd name="T6" fmla="*/ 0 w 1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59">
                  <a:moveTo>
                    <a:pt x="0" y="59"/>
                  </a:moveTo>
                  <a:cubicBezTo>
                    <a:pt x="0" y="27"/>
                    <a:pt x="29" y="0"/>
                    <a:pt x="64" y="0"/>
                  </a:cubicBezTo>
                  <a:cubicBezTo>
                    <a:pt x="99" y="0"/>
                    <a:pt x="128" y="27"/>
                    <a:pt x="128" y="59"/>
                  </a:cubicBezTo>
                  <a:lnTo>
                    <a:pt x="0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Oval 191">
              <a:extLst>
                <a:ext uri="{FF2B5EF4-FFF2-40B4-BE49-F238E27FC236}">
                  <a16:creationId xmlns:a16="http://schemas.microsoft.com/office/drawing/2014/main" id="{09F439FA-1DD8-4826-86BF-4DEED99C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Oval 192">
              <a:extLst>
                <a:ext uri="{FF2B5EF4-FFF2-40B4-BE49-F238E27FC236}">
                  <a16:creationId xmlns:a16="http://schemas.microsoft.com/office/drawing/2014/main" id="{5E085CC3-92A8-4972-89BF-F1E66BD12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Oval 193">
              <a:extLst>
                <a:ext uri="{FF2B5EF4-FFF2-40B4-BE49-F238E27FC236}">
                  <a16:creationId xmlns:a16="http://schemas.microsoft.com/office/drawing/2014/main" id="{2B028129-BC19-4338-B3D9-8BF66E852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1211263"/>
              <a:ext cx="374650" cy="4349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194">
              <a:extLst>
                <a:ext uri="{FF2B5EF4-FFF2-40B4-BE49-F238E27FC236}">
                  <a16:creationId xmlns:a16="http://schemas.microsoft.com/office/drawing/2014/main" id="{D1E3181C-CD56-45F3-A16B-5DC2ACE8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1187451"/>
              <a:ext cx="220662" cy="223838"/>
            </a:xfrm>
            <a:custGeom>
              <a:avLst/>
              <a:gdLst>
                <a:gd name="T0" fmla="*/ 64 w 71"/>
                <a:gd name="T1" fmla="*/ 11 h 72"/>
                <a:gd name="T2" fmla="*/ 49 w 71"/>
                <a:gd name="T3" fmla="*/ 56 h 72"/>
                <a:gd name="T4" fmla="*/ 7 w 71"/>
                <a:gd name="T5" fmla="*/ 61 h 72"/>
                <a:gd name="T6" fmla="*/ 23 w 71"/>
                <a:gd name="T7" fmla="*/ 16 h 72"/>
                <a:gd name="T8" fmla="*/ 64 w 71"/>
                <a:gd name="T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72">
                  <a:moveTo>
                    <a:pt x="64" y="11"/>
                  </a:moveTo>
                  <a:cubicBezTo>
                    <a:pt x="71" y="22"/>
                    <a:pt x="64" y="42"/>
                    <a:pt x="49" y="56"/>
                  </a:cubicBezTo>
                  <a:cubicBezTo>
                    <a:pt x="33" y="70"/>
                    <a:pt x="15" y="72"/>
                    <a:pt x="7" y="61"/>
                  </a:cubicBezTo>
                  <a:cubicBezTo>
                    <a:pt x="0" y="50"/>
                    <a:pt x="7" y="30"/>
                    <a:pt x="23" y="16"/>
                  </a:cubicBezTo>
                  <a:cubicBezTo>
                    <a:pt x="38" y="3"/>
                    <a:pt x="57" y="0"/>
                    <a:pt x="64" y="11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95">
              <a:extLst>
                <a:ext uri="{FF2B5EF4-FFF2-40B4-BE49-F238E27FC236}">
                  <a16:creationId xmlns:a16="http://schemas.microsoft.com/office/drawing/2014/main" id="{A2BFE27F-7EB6-4679-9FE6-4D3A0A2F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325" y="1168401"/>
              <a:ext cx="303212" cy="236538"/>
            </a:xfrm>
            <a:custGeom>
              <a:avLst/>
              <a:gdLst>
                <a:gd name="T0" fmla="*/ 94 w 97"/>
                <a:gd name="T1" fmla="*/ 50 h 76"/>
                <a:gd name="T2" fmla="*/ 42 w 97"/>
                <a:gd name="T3" fmla="*/ 70 h 76"/>
                <a:gd name="T4" fmla="*/ 3 w 97"/>
                <a:gd name="T5" fmla="*/ 26 h 76"/>
                <a:gd name="T6" fmla="*/ 55 w 97"/>
                <a:gd name="T7" fmla="*/ 6 h 76"/>
                <a:gd name="T8" fmla="*/ 94 w 97"/>
                <a:gd name="T9" fmla="*/ 5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76">
                  <a:moveTo>
                    <a:pt x="94" y="50"/>
                  </a:moveTo>
                  <a:cubicBezTo>
                    <a:pt x="90" y="67"/>
                    <a:pt x="67" y="76"/>
                    <a:pt x="42" y="70"/>
                  </a:cubicBezTo>
                  <a:cubicBezTo>
                    <a:pt x="17" y="63"/>
                    <a:pt x="0" y="44"/>
                    <a:pt x="3" y="26"/>
                  </a:cubicBezTo>
                  <a:cubicBezTo>
                    <a:pt x="6" y="9"/>
                    <a:pt x="30" y="0"/>
                    <a:pt x="55" y="6"/>
                  </a:cubicBezTo>
                  <a:cubicBezTo>
                    <a:pt x="80" y="13"/>
                    <a:pt x="97" y="32"/>
                    <a:pt x="94" y="50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196">
              <a:extLst>
                <a:ext uri="{FF2B5EF4-FFF2-40B4-BE49-F238E27FC236}">
                  <a16:creationId xmlns:a16="http://schemas.microsoft.com/office/drawing/2014/main" id="{4AA172D3-2BAE-4CDE-9386-732787BAC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3" y="1346201"/>
              <a:ext cx="50800" cy="10636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97">
              <a:extLst>
                <a:ext uri="{FF2B5EF4-FFF2-40B4-BE49-F238E27FC236}">
                  <a16:creationId xmlns:a16="http://schemas.microsoft.com/office/drawing/2014/main" id="{ED8FE80E-5922-4A3C-B2FF-481C8556F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1314451"/>
              <a:ext cx="49212" cy="13811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98">
              <a:extLst>
                <a:ext uri="{FF2B5EF4-FFF2-40B4-BE49-F238E27FC236}">
                  <a16:creationId xmlns:a16="http://schemas.microsoft.com/office/drawing/2014/main" id="{52B741AE-1B23-420A-ABC8-FD54A2FC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896938"/>
              <a:ext cx="412750" cy="411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99">
              <a:extLst>
                <a:ext uri="{FF2B5EF4-FFF2-40B4-BE49-F238E27FC236}">
                  <a16:creationId xmlns:a16="http://schemas.microsoft.com/office/drawing/2014/main" id="{CE5C5E83-6632-48ED-BB50-872560273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3025" y="990601"/>
              <a:ext cx="114300" cy="220663"/>
            </a:xfrm>
            <a:custGeom>
              <a:avLst/>
              <a:gdLst>
                <a:gd name="T0" fmla="*/ 37 w 37"/>
                <a:gd name="T1" fmla="*/ 16 h 71"/>
                <a:gd name="T2" fmla="*/ 25 w 37"/>
                <a:gd name="T3" fmla="*/ 42 h 71"/>
                <a:gd name="T4" fmla="*/ 25 w 37"/>
                <a:gd name="T5" fmla="*/ 51 h 71"/>
                <a:gd name="T6" fmla="*/ 12 w 37"/>
                <a:gd name="T7" fmla="*/ 51 h 71"/>
                <a:gd name="T8" fmla="*/ 12 w 37"/>
                <a:gd name="T9" fmla="*/ 44 h 71"/>
                <a:gd name="T10" fmla="*/ 24 w 37"/>
                <a:gd name="T11" fmla="*/ 16 h 71"/>
                <a:gd name="T12" fmla="*/ 18 w 37"/>
                <a:gd name="T13" fmla="*/ 10 h 71"/>
                <a:gd name="T14" fmla="*/ 13 w 37"/>
                <a:gd name="T15" fmla="*/ 18 h 71"/>
                <a:gd name="T16" fmla="*/ 13 w 37"/>
                <a:gd name="T17" fmla="*/ 21 h 71"/>
                <a:gd name="T18" fmla="*/ 0 w 37"/>
                <a:gd name="T19" fmla="*/ 21 h 71"/>
                <a:gd name="T20" fmla="*/ 0 w 37"/>
                <a:gd name="T21" fmla="*/ 16 h 71"/>
                <a:gd name="T22" fmla="*/ 18 w 37"/>
                <a:gd name="T23" fmla="*/ 0 h 71"/>
                <a:gd name="T24" fmla="*/ 37 w 37"/>
                <a:gd name="T25" fmla="*/ 16 h 71"/>
                <a:gd name="T26" fmla="*/ 12 w 37"/>
                <a:gd name="T27" fmla="*/ 59 h 71"/>
                <a:gd name="T28" fmla="*/ 25 w 37"/>
                <a:gd name="T29" fmla="*/ 59 h 71"/>
                <a:gd name="T30" fmla="*/ 25 w 37"/>
                <a:gd name="T31" fmla="*/ 71 h 71"/>
                <a:gd name="T32" fmla="*/ 12 w 37"/>
                <a:gd name="T33" fmla="*/ 71 h 71"/>
                <a:gd name="T34" fmla="*/ 12 w 37"/>
                <a:gd name="T35" fmla="*/ 5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71">
                  <a:moveTo>
                    <a:pt x="37" y="16"/>
                  </a:moveTo>
                  <a:cubicBezTo>
                    <a:pt x="37" y="29"/>
                    <a:pt x="25" y="30"/>
                    <a:pt x="25" y="42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7"/>
                    <a:pt x="24" y="24"/>
                    <a:pt x="24" y="16"/>
                  </a:cubicBezTo>
                  <a:cubicBezTo>
                    <a:pt x="24" y="12"/>
                    <a:pt x="21" y="10"/>
                    <a:pt x="18" y="10"/>
                  </a:cubicBezTo>
                  <a:cubicBezTo>
                    <a:pt x="15" y="10"/>
                    <a:pt x="13" y="13"/>
                    <a:pt x="13" y="18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6"/>
                    <a:pt x="8" y="0"/>
                    <a:pt x="18" y="0"/>
                  </a:cubicBezTo>
                  <a:cubicBezTo>
                    <a:pt x="29" y="0"/>
                    <a:pt x="37" y="6"/>
                    <a:pt x="37" y="16"/>
                  </a:cubicBezTo>
                  <a:close/>
                  <a:moveTo>
                    <a:pt x="12" y="59"/>
                  </a:moveTo>
                  <a:cubicBezTo>
                    <a:pt x="25" y="59"/>
                    <a:pt x="25" y="59"/>
                    <a:pt x="25" y="59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2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矩形 14" descr="段落内容1">
            <a:extLst>
              <a:ext uri="{FF2B5EF4-FFF2-40B4-BE49-F238E27FC236}">
                <a16:creationId xmlns:a16="http://schemas.microsoft.com/office/drawing/2014/main" id="{FAD4B784-8238-4980-8FDB-4CBDB490DF93}"/>
              </a:ext>
            </a:extLst>
          </p:cNvPr>
          <p:cNvSpPr/>
          <p:nvPr/>
        </p:nvSpPr>
        <p:spPr>
          <a:xfrm>
            <a:off x="4328442" y="2277170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9FA941A5-971C-42F9-BD13-12EDF3930C6D}"/>
              </a:ext>
            </a:extLst>
          </p:cNvPr>
          <p:cNvSpPr/>
          <p:nvPr/>
        </p:nvSpPr>
        <p:spPr>
          <a:xfrm>
            <a:off x="4209142" y="138641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陶瓷电容</a:t>
            </a:r>
            <a:r>
              <a:rPr lang="en-US" altLang="zh-CN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多大？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5358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51A3716-1E6E-44CA-B26C-58B61D45BA0C}"/>
              </a:ext>
            </a:extLst>
          </p:cNvPr>
          <p:cNvGrpSpPr/>
          <p:nvPr/>
        </p:nvGrpSpPr>
        <p:grpSpPr>
          <a:xfrm>
            <a:off x="1330097" y="1042081"/>
            <a:ext cx="2879045" cy="4485592"/>
            <a:chOff x="5002213" y="896938"/>
            <a:chExt cx="574674" cy="895350"/>
          </a:xfrm>
        </p:grpSpPr>
        <p:sp>
          <p:nvSpPr>
            <p:cNvPr id="4" name="Freeform 190">
              <a:extLst>
                <a:ext uri="{FF2B5EF4-FFF2-40B4-BE49-F238E27FC236}">
                  <a16:creationId xmlns:a16="http://schemas.microsoft.com/office/drawing/2014/main" id="{16DF6145-8B80-4F07-90DE-1243111D1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1608138"/>
              <a:ext cx="400050" cy="184150"/>
            </a:xfrm>
            <a:custGeom>
              <a:avLst/>
              <a:gdLst>
                <a:gd name="T0" fmla="*/ 0 w 128"/>
                <a:gd name="T1" fmla="*/ 59 h 59"/>
                <a:gd name="T2" fmla="*/ 64 w 128"/>
                <a:gd name="T3" fmla="*/ 0 h 59"/>
                <a:gd name="T4" fmla="*/ 128 w 128"/>
                <a:gd name="T5" fmla="*/ 59 h 59"/>
                <a:gd name="T6" fmla="*/ 0 w 1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59">
                  <a:moveTo>
                    <a:pt x="0" y="59"/>
                  </a:moveTo>
                  <a:cubicBezTo>
                    <a:pt x="0" y="27"/>
                    <a:pt x="29" y="0"/>
                    <a:pt x="64" y="0"/>
                  </a:cubicBezTo>
                  <a:cubicBezTo>
                    <a:pt x="99" y="0"/>
                    <a:pt x="128" y="27"/>
                    <a:pt x="128" y="59"/>
                  </a:cubicBezTo>
                  <a:lnTo>
                    <a:pt x="0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Oval 191">
              <a:extLst>
                <a:ext uri="{FF2B5EF4-FFF2-40B4-BE49-F238E27FC236}">
                  <a16:creationId xmlns:a16="http://schemas.microsoft.com/office/drawing/2014/main" id="{09F439FA-1DD8-4826-86BF-4DEED99C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Oval 192">
              <a:extLst>
                <a:ext uri="{FF2B5EF4-FFF2-40B4-BE49-F238E27FC236}">
                  <a16:creationId xmlns:a16="http://schemas.microsoft.com/office/drawing/2014/main" id="{5E085CC3-92A8-4972-89BF-F1E66BD12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414463"/>
              <a:ext cx="68262" cy="1031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Oval 193">
              <a:extLst>
                <a:ext uri="{FF2B5EF4-FFF2-40B4-BE49-F238E27FC236}">
                  <a16:creationId xmlns:a16="http://schemas.microsoft.com/office/drawing/2014/main" id="{2B028129-BC19-4338-B3D9-8BF66E852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1211263"/>
              <a:ext cx="374650" cy="4349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194">
              <a:extLst>
                <a:ext uri="{FF2B5EF4-FFF2-40B4-BE49-F238E27FC236}">
                  <a16:creationId xmlns:a16="http://schemas.microsoft.com/office/drawing/2014/main" id="{D1E3181C-CD56-45F3-A16B-5DC2ACE8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1187451"/>
              <a:ext cx="220662" cy="223838"/>
            </a:xfrm>
            <a:custGeom>
              <a:avLst/>
              <a:gdLst>
                <a:gd name="T0" fmla="*/ 64 w 71"/>
                <a:gd name="T1" fmla="*/ 11 h 72"/>
                <a:gd name="T2" fmla="*/ 49 w 71"/>
                <a:gd name="T3" fmla="*/ 56 h 72"/>
                <a:gd name="T4" fmla="*/ 7 w 71"/>
                <a:gd name="T5" fmla="*/ 61 h 72"/>
                <a:gd name="T6" fmla="*/ 23 w 71"/>
                <a:gd name="T7" fmla="*/ 16 h 72"/>
                <a:gd name="T8" fmla="*/ 64 w 71"/>
                <a:gd name="T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72">
                  <a:moveTo>
                    <a:pt x="64" y="11"/>
                  </a:moveTo>
                  <a:cubicBezTo>
                    <a:pt x="71" y="22"/>
                    <a:pt x="64" y="42"/>
                    <a:pt x="49" y="56"/>
                  </a:cubicBezTo>
                  <a:cubicBezTo>
                    <a:pt x="33" y="70"/>
                    <a:pt x="15" y="72"/>
                    <a:pt x="7" y="61"/>
                  </a:cubicBezTo>
                  <a:cubicBezTo>
                    <a:pt x="0" y="50"/>
                    <a:pt x="7" y="30"/>
                    <a:pt x="23" y="16"/>
                  </a:cubicBezTo>
                  <a:cubicBezTo>
                    <a:pt x="38" y="3"/>
                    <a:pt x="57" y="0"/>
                    <a:pt x="64" y="11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95">
              <a:extLst>
                <a:ext uri="{FF2B5EF4-FFF2-40B4-BE49-F238E27FC236}">
                  <a16:creationId xmlns:a16="http://schemas.microsoft.com/office/drawing/2014/main" id="{A2BFE27F-7EB6-4679-9FE6-4D3A0A2F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325" y="1168401"/>
              <a:ext cx="303212" cy="236538"/>
            </a:xfrm>
            <a:custGeom>
              <a:avLst/>
              <a:gdLst>
                <a:gd name="T0" fmla="*/ 94 w 97"/>
                <a:gd name="T1" fmla="*/ 50 h 76"/>
                <a:gd name="T2" fmla="*/ 42 w 97"/>
                <a:gd name="T3" fmla="*/ 70 h 76"/>
                <a:gd name="T4" fmla="*/ 3 w 97"/>
                <a:gd name="T5" fmla="*/ 26 h 76"/>
                <a:gd name="T6" fmla="*/ 55 w 97"/>
                <a:gd name="T7" fmla="*/ 6 h 76"/>
                <a:gd name="T8" fmla="*/ 94 w 97"/>
                <a:gd name="T9" fmla="*/ 5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76">
                  <a:moveTo>
                    <a:pt x="94" y="50"/>
                  </a:moveTo>
                  <a:cubicBezTo>
                    <a:pt x="90" y="67"/>
                    <a:pt x="67" y="76"/>
                    <a:pt x="42" y="70"/>
                  </a:cubicBezTo>
                  <a:cubicBezTo>
                    <a:pt x="17" y="63"/>
                    <a:pt x="0" y="44"/>
                    <a:pt x="3" y="26"/>
                  </a:cubicBezTo>
                  <a:cubicBezTo>
                    <a:pt x="6" y="9"/>
                    <a:pt x="30" y="0"/>
                    <a:pt x="55" y="6"/>
                  </a:cubicBezTo>
                  <a:cubicBezTo>
                    <a:pt x="80" y="13"/>
                    <a:pt x="97" y="32"/>
                    <a:pt x="94" y="50"/>
                  </a:cubicBez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196">
              <a:extLst>
                <a:ext uri="{FF2B5EF4-FFF2-40B4-BE49-F238E27FC236}">
                  <a16:creationId xmlns:a16="http://schemas.microsoft.com/office/drawing/2014/main" id="{4AA172D3-2BAE-4CDE-9386-732787BAC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3" y="1346201"/>
              <a:ext cx="50800" cy="10636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97">
              <a:extLst>
                <a:ext uri="{FF2B5EF4-FFF2-40B4-BE49-F238E27FC236}">
                  <a16:creationId xmlns:a16="http://schemas.microsoft.com/office/drawing/2014/main" id="{ED8FE80E-5922-4A3C-B2FF-481C8556F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1314451"/>
              <a:ext cx="49212" cy="138113"/>
            </a:xfrm>
            <a:prstGeom prst="rect">
              <a:avLst/>
            </a:pr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98">
              <a:extLst>
                <a:ext uri="{FF2B5EF4-FFF2-40B4-BE49-F238E27FC236}">
                  <a16:creationId xmlns:a16="http://schemas.microsoft.com/office/drawing/2014/main" id="{52B741AE-1B23-420A-ABC8-FD54A2FC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896938"/>
              <a:ext cx="412750" cy="411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99">
              <a:extLst>
                <a:ext uri="{FF2B5EF4-FFF2-40B4-BE49-F238E27FC236}">
                  <a16:creationId xmlns:a16="http://schemas.microsoft.com/office/drawing/2014/main" id="{CE5C5E83-6632-48ED-BB50-872560273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3025" y="990601"/>
              <a:ext cx="114300" cy="220663"/>
            </a:xfrm>
            <a:custGeom>
              <a:avLst/>
              <a:gdLst>
                <a:gd name="T0" fmla="*/ 37 w 37"/>
                <a:gd name="T1" fmla="*/ 16 h 71"/>
                <a:gd name="T2" fmla="*/ 25 w 37"/>
                <a:gd name="T3" fmla="*/ 42 h 71"/>
                <a:gd name="T4" fmla="*/ 25 w 37"/>
                <a:gd name="T5" fmla="*/ 51 h 71"/>
                <a:gd name="T6" fmla="*/ 12 w 37"/>
                <a:gd name="T7" fmla="*/ 51 h 71"/>
                <a:gd name="T8" fmla="*/ 12 w 37"/>
                <a:gd name="T9" fmla="*/ 44 h 71"/>
                <a:gd name="T10" fmla="*/ 24 w 37"/>
                <a:gd name="T11" fmla="*/ 16 h 71"/>
                <a:gd name="T12" fmla="*/ 18 w 37"/>
                <a:gd name="T13" fmla="*/ 10 h 71"/>
                <a:gd name="T14" fmla="*/ 13 w 37"/>
                <a:gd name="T15" fmla="*/ 18 h 71"/>
                <a:gd name="T16" fmla="*/ 13 w 37"/>
                <a:gd name="T17" fmla="*/ 21 h 71"/>
                <a:gd name="T18" fmla="*/ 0 w 37"/>
                <a:gd name="T19" fmla="*/ 21 h 71"/>
                <a:gd name="T20" fmla="*/ 0 w 37"/>
                <a:gd name="T21" fmla="*/ 16 h 71"/>
                <a:gd name="T22" fmla="*/ 18 w 37"/>
                <a:gd name="T23" fmla="*/ 0 h 71"/>
                <a:gd name="T24" fmla="*/ 37 w 37"/>
                <a:gd name="T25" fmla="*/ 16 h 71"/>
                <a:gd name="T26" fmla="*/ 12 w 37"/>
                <a:gd name="T27" fmla="*/ 59 h 71"/>
                <a:gd name="T28" fmla="*/ 25 w 37"/>
                <a:gd name="T29" fmla="*/ 59 h 71"/>
                <a:gd name="T30" fmla="*/ 25 w 37"/>
                <a:gd name="T31" fmla="*/ 71 h 71"/>
                <a:gd name="T32" fmla="*/ 12 w 37"/>
                <a:gd name="T33" fmla="*/ 71 h 71"/>
                <a:gd name="T34" fmla="*/ 12 w 37"/>
                <a:gd name="T35" fmla="*/ 5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71">
                  <a:moveTo>
                    <a:pt x="37" y="16"/>
                  </a:moveTo>
                  <a:cubicBezTo>
                    <a:pt x="37" y="29"/>
                    <a:pt x="25" y="30"/>
                    <a:pt x="25" y="42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7"/>
                    <a:pt x="24" y="24"/>
                    <a:pt x="24" y="16"/>
                  </a:cubicBezTo>
                  <a:cubicBezTo>
                    <a:pt x="24" y="12"/>
                    <a:pt x="21" y="10"/>
                    <a:pt x="18" y="10"/>
                  </a:cubicBezTo>
                  <a:cubicBezTo>
                    <a:pt x="15" y="10"/>
                    <a:pt x="13" y="13"/>
                    <a:pt x="13" y="18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6"/>
                    <a:pt x="8" y="0"/>
                    <a:pt x="18" y="0"/>
                  </a:cubicBezTo>
                  <a:cubicBezTo>
                    <a:pt x="29" y="0"/>
                    <a:pt x="37" y="6"/>
                    <a:pt x="37" y="16"/>
                  </a:cubicBezTo>
                  <a:close/>
                  <a:moveTo>
                    <a:pt x="12" y="59"/>
                  </a:moveTo>
                  <a:cubicBezTo>
                    <a:pt x="25" y="59"/>
                    <a:pt x="25" y="59"/>
                    <a:pt x="25" y="59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2" y="59"/>
                  </a:lnTo>
                  <a:close/>
                </a:path>
              </a:pathLst>
            </a:custGeom>
            <a:solidFill>
              <a:srgbClr val="193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矩形 14" descr="段落内容1">
            <a:extLst>
              <a:ext uri="{FF2B5EF4-FFF2-40B4-BE49-F238E27FC236}">
                <a16:creationId xmlns:a16="http://schemas.microsoft.com/office/drawing/2014/main" id="{FAD4B784-8238-4980-8FDB-4CBDB490DF93}"/>
              </a:ext>
            </a:extLst>
          </p:cNvPr>
          <p:cNvSpPr/>
          <p:nvPr/>
        </p:nvSpPr>
        <p:spPr>
          <a:xfrm>
            <a:off x="4328442" y="2277170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9FA941A5-971C-42F9-BD13-12EDF3930C6D}"/>
              </a:ext>
            </a:extLst>
          </p:cNvPr>
          <p:cNvSpPr/>
          <p:nvPr/>
        </p:nvSpPr>
        <p:spPr>
          <a:xfrm>
            <a:off x="4209142" y="138641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陶瓷电容</a:t>
            </a:r>
            <a:r>
              <a:rPr lang="en-US" altLang="zh-CN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多大？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 descr="段落内容1">
            <a:extLst>
              <a:ext uri="{FF2B5EF4-FFF2-40B4-BE49-F238E27FC236}">
                <a16:creationId xmlns:a16="http://schemas.microsoft.com/office/drawing/2014/main" id="{EC6B41FD-6914-4B19-ADCB-345573B78083}"/>
              </a:ext>
            </a:extLst>
          </p:cNvPr>
          <p:cNvSpPr/>
          <p:nvPr/>
        </p:nvSpPr>
        <p:spPr>
          <a:xfrm>
            <a:off x="5076994" y="3382335"/>
            <a:ext cx="46488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66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2142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8D6646-2FEB-40C0-9B40-358F25558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347" y="1550369"/>
            <a:ext cx="3353268" cy="2667372"/>
          </a:xfrm>
          <a:prstGeom prst="rect">
            <a:avLst/>
          </a:prstGeom>
        </p:spPr>
      </p:pic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D143C826-42DA-4A92-B4E6-EFCD5DA6E750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600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2633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750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42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2062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636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393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825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</p:spTree>
    <p:extLst>
      <p:ext uri="{BB962C8B-B14F-4D97-AF65-F5344CB8AC3E}">
        <p14:creationId xmlns:p14="http://schemas.microsoft.com/office/powerpoint/2010/main" val="3668994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825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739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825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441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571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9F5DFA-B23E-4CB3-AA3A-456074A86315}"/>
              </a:ext>
            </a:extLst>
          </p:cNvPr>
          <p:cNvCxnSpPr>
            <a:cxnSpLocks/>
          </p:cNvCxnSpPr>
          <p:nvPr/>
        </p:nvCxnSpPr>
        <p:spPr>
          <a:xfrm flipH="1">
            <a:off x="1403350" y="3713018"/>
            <a:ext cx="1443824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C69C79BA-8D46-4204-B1E8-E1E177B1B15B}"/>
              </a:ext>
            </a:extLst>
          </p:cNvPr>
          <p:cNvSpPr/>
          <p:nvPr/>
        </p:nvSpPr>
        <p:spPr>
          <a:xfrm>
            <a:off x="-23901" y="3520324"/>
            <a:ext cx="157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3mΩ@800k</a:t>
            </a:r>
          </a:p>
        </p:txBody>
      </p:sp>
    </p:spTree>
    <p:extLst>
      <p:ext uri="{BB962C8B-B14F-4D97-AF65-F5344CB8AC3E}">
        <p14:creationId xmlns:p14="http://schemas.microsoft.com/office/powerpoint/2010/main" val="2206920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571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9F5DFA-B23E-4CB3-AA3A-456074A86315}"/>
              </a:ext>
            </a:extLst>
          </p:cNvPr>
          <p:cNvCxnSpPr>
            <a:cxnSpLocks/>
          </p:cNvCxnSpPr>
          <p:nvPr/>
        </p:nvCxnSpPr>
        <p:spPr>
          <a:xfrm flipH="1">
            <a:off x="1403350" y="3713018"/>
            <a:ext cx="1443824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C69C79BA-8D46-4204-B1E8-E1E177B1B15B}"/>
              </a:ext>
            </a:extLst>
          </p:cNvPr>
          <p:cNvSpPr/>
          <p:nvPr/>
        </p:nvSpPr>
        <p:spPr>
          <a:xfrm>
            <a:off x="-23901" y="3520324"/>
            <a:ext cx="157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3mΩ@800k</a:t>
            </a:r>
          </a:p>
        </p:txBody>
      </p:sp>
      <p:sp>
        <p:nvSpPr>
          <p:cNvPr id="14" name="矩形 13" descr="段落内容1">
            <a:extLst>
              <a:ext uri="{FF2B5EF4-FFF2-40B4-BE49-F238E27FC236}">
                <a16:creationId xmlns:a16="http://schemas.microsoft.com/office/drawing/2014/main" id="{1F4873BF-C346-464E-BB09-6EC00FE8F997}"/>
              </a:ext>
            </a:extLst>
          </p:cNvPr>
          <p:cNvSpPr/>
          <p:nvPr/>
        </p:nvSpPr>
        <p:spPr>
          <a:xfrm>
            <a:off x="5170719" y="1550369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100Hz</a:t>
            </a:r>
          </a:p>
        </p:txBody>
      </p:sp>
    </p:spTree>
    <p:extLst>
      <p:ext uri="{BB962C8B-B14F-4D97-AF65-F5344CB8AC3E}">
        <p14:creationId xmlns:p14="http://schemas.microsoft.com/office/powerpoint/2010/main" val="4241612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571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9F5DFA-B23E-4CB3-AA3A-456074A86315}"/>
              </a:ext>
            </a:extLst>
          </p:cNvPr>
          <p:cNvCxnSpPr>
            <a:cxnSpLocks/>
          </p:cNvCxnSpPr>
          <p:nvPr/>
        </p:nvCxnSpPr>
        <p:spPr>
          <a:xfrm flipH="1">
            <a:off x="1403350" y="3713018"/>
            <a:ext cx="1443824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C69C79BA-8D46-4204-B1E8-E1E177B1B15B}"/>
              </a:ext>
            </a:extLst>
          </p:cNvPr>
          <p:cNvSpPr/>
          <p:nvPr/>
        </p:nvSpPr>
        <p:spPr>
          <a:xfrm>
            <a:off x="-23901" y="3520324"/>
            <a:ext cx="157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3mΩ@800k</a:t>
            </a:r>
          </a:p>
        </p:txBody>
      </p:sp>
      <p:sp>
        <p:nvSpPr>
          <p:cNvPr id="14" name="矩形 13" descr="段落内容1">
            <a:extLst>
              <a:ext uri="{FF2B5EF4-FFF2-40B4-BE49-F238E27FC236}">
                <a16:creationId xmlns:a16="http://schemas.microsoft.com/office/drawing/2014/main" id="{1F4873BF-C346-464E-BB09-6EC00FE8F997}"/>
              </a:ext>
            </a:extLst>
          </p:cNvPr>
          <p:cNvSpPr/>
          <p:nvPr/>
        </p:nvSpPr>
        <p:spPr>
          <a:xfrm>
            <a:off x="5170719" y="1550369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100Hz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64500EA-5387-4CE0-9314-91EF33CD2354}"/>
              </a:ext>
            </a:extLst>
          </p:cNvPr>
          <p:cNvSpPr/>
          <p:nvPr/>
        </p:nvSpPr>
        <p:spPr>
          <a:xfrm>
            <a:off x="7382999" y="1858627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225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571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9F5DFA-B23E-4CB3-AA3A-456074A86315}"/>
              </a:ext>
            </a:extLst>
          </p:cNvPr>
          <p:cNvCxnSpPr>
            <a:cxnSpLocks/>
          </p:cNvCxnSpPr>
          <p:nvPr/>
        </p:nvCxnSpPr>
        <p:spPr>
          <a:xfrm flipH="1">
            <a:off x="1403350" y="3713018"/>
            <a:ext cx="1443824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C69C79BA-8D46-4204-B1E8-E1E177B1B15B}"/>
              </a:ext>
            </a:extLst>
          </p:cNvPr>
          <p:cNvSpPr/>
          <p:nvPr/>
        </p:nvSpPr>
        <p:spPr>
          <a:xfrm>
            <a:off x="-23901" y="3520324"/>
            <a:ext cx="157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3mΩ@800k</a:t>
            </a:r>
          </a:p>
        </p:txBody>
      </p:sp>
      <p:sp>
        <p:nvSpPr>
          <p:cNvPr id="14" name="矩形 13" descr="段落内容1">
            <a:extLst>
              <a:ext uri="{FF2B5EF4-FFF2-40B4-BE49-F238E27FC236}">
                <a16:creationId xmlns:a16="http://schemas.microsoft.com/office/drawing/2014/main" id="{1F4873BF-C346-464E-BB09-6EC00FE8F997}"/>
              </a:ext>
            </a:extLst>
          </p:cNvPr>
          <p:cNvSpPr/>
          <p:nvPr/>
        </p:nvSpPr>
        <p:spPr>
          <a:xfrm>
            <a:off x="5170719" y="1550369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100Hz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64500EA-5387-4CE0-9314-91EF33CD2354}"/>
              </a:ext>
            </a:extLst>
          </p:cNvPr>
          <p:cNvSpPr/>
          <p:nvPr/>
        </p:nvSpPr>
        <p:spPr>
          <a:xfrm>
            <a:off x="7382999" y="1858627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矩形 16" descr="段落内容1">
            <a:extLst>
              <a:ext uri="{FF2B5EF4-FFF2-40B4-BE49-F238E27FC236}">
                <a16:creationId xmlns:a16="http://schemas.microsoft.com/office/drawing/2014/main" id="{5BFBA6FD-C8C7-4726-9A20-8F7760261589}"/>
              </a:ext>
            </a:extLst>
          </p:cNvPr>
          <p:cNvSpPr/>
          <p:nvPr/>
        </p:nvSpPr>
        <p:spPr>
          <a:xfrm>
            <a:off x="8415654" y="1550369"/>
            <a:ext cx="2847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800KHz</a:t>
            </a:r>
          </a:p>
        </p:txBody>
      </p:sp>
    </p:spTree>
    <p:extLst>
      <p:ext uri="{BB962C8B-B14F-4D97-AF65-F5344CB8AC3E}">
        <p14:creationId xmlns:p14="http://schemas.microsoft.com/office/powerpoint/2010/main" val="30328772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571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9F5DFA-B23E-4CB3-AA3A-456074A86315}"/>
              </a:ext>
            </a:extLst>
          </p:cNvPr>
          <p:cNvCxnSpPr>
            <a:cxnSpLocks/>
          </p:cNvCxnSpPr>
          <p:nvPr/>
        </p:nvCxnSpPr>
        <p:spPr>
          <a:xfrm flipH="1">
            <a:off x="1403350" y="3713018"/>
            <a:ext cx="1443824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C69C79BA-8D46-4204-B1E8-E1E177B1B15B}"/>
              </a:ext>
            </a:extLst>
          </p:cNvPr>
          <p:cNvSpPr/>
          <p:nvPr/>
        </p:nvSpPr>
        <p:spPr>
          <a:xfrm>
            <a:off x="-23901" y="3520324"/>
            <a:ext cx="157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3mΩ@800k</a:t>
            </a:r>
          </a:p>
        </p:txBody>
      </p:sp>
      <p:sp>
        <p:nvSpPr>
          <p:cNvPr id="14" name="矩形 13" descr="段落内容1">
            <a:extLst>
              <a:ext uri="{FF2B5EF4-FFF2-40B4-BE49-F238E27FC236}">
                <a16:creationId xmlns:a16="http://schemas.microsoft.com/office/drawing/2014/main" id="{1F4873BF-C346-464E-BB09-6EC00FE8F997}"/>
              </a:ext>
            </a:extLst>
          </p:cNvPr>
          <p:cNvSpPr/>
          <p:nvPr/>
        </p:nvSpPr>
        <p:spPr>
          <a:xfrm>
            <a:off x="5170719" y="1550369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100Hz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64500EA-5387-4CE0-9314-91EF33CD2354}"/>
              </a:ext>
            </a:extLst>
          </p:cNvPr>
          <p:cNvSpPr/>
          <p:nvPr/>
        </p:nvSpPr>
        <p:spPr>
          <a:xfrm>
            <a:off x="7382999" y="1858627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矩形 16" descr="段落内容1">
            <a:extLst>
              <a:ext uri="{FF2B5EF4-FFF2-40B4-BE49-F238E27FC236}">
                <a16:creationId xmlns:a16="http://schemas.microsoft.com/office/drawing/2014/main" id="{5BFBA6FD-C8C7-4726-9A20-8F7760261589}"/>
              </a:ext>
            </a:extLst>
          </p:cNvPr>
          <p:cNvSpPr/>
          <p:nvPr/>
        </p:nvSpPr>
        <p:spPr>
          <a:xfrm>
            <a:off x="8415654" y="1550369"/>
            <a:ext cx="2847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800KHz</a:t>
            </a:r>
          </a:p>
        </p:txBody>
      </p:sp>
      <p:sp>
        <p:nvSpPr>
          <p:cNvPr id="18" name="矩形 17" descr="段落内容1">
            <a:extLst>
              <a:ext uri="{FF2B5EF4-FFF2-40B4-BE49-F238E27FC236}">
                <a16:creationId xmlns:a16="http://schemas.microsoft.com/office/drawing/2014/main" id="{1E470A95-0D0B-4429-A2F2-96B7E957B81D}"/>
              </a:ext>
            </a:extLst>
          </p:cNvPr>
          <p:cNvSpPr/>
          <p:nvPr/>
        </p:nvSpPr>
        <p:spPr>
          <a:xfrm>
            <a:off x="5170719" y="2406504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</a:t>
            </a:r>
          </a:p>
        </p:txBody>
      </p:sp>
    </p:spTree>
    <p:extLst>
      <p:ext uri="{BB962C8B-B14F-4D97-AF65-F5344CB8AC3E}">
        <p14:creationId xmlns:p14="http://schemas.microsoft.com/office/powerpoint/2010/main" val="3308926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571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9F5DFA-B23E-4CB3-AA3A-456074A86315}"/>
              </a:ext>
            </a:extLst>
          </p:cNvPr>
          <p:cNvCxnSpPr>
            <a:cxnSpLocks/>
          </p:cNvCxnSpPr>
          <p:nvPr/>
        </p:nvCxnSpPr>
        <p:spPr>
          <a:xfrm flipH="1">
            <a:off x="1403350" y="3713018"/>
            <a:ext cx="1443824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C69C79BA-8D46-4204-B1E8-E1E177B1B15B}"/>
              </a:ext>
            </a:extLst>
          </p:cNvPr>
          <p:cNvSpPr/>
          <p:nvPr/>
        </p:nvSpPr>
        <p:spPr>
          <a:xfrm>
            <a:off x="-23901" y="3520324"/>
            <a:ext cx="157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3mΩ@800k</a:t>
            </a:r>
          </a:p>
        </p:txBody>
      </p:sp>
      <p:sp>
        <p:nvSpPr>
          <p:cNvPr id="14" name="矩形 13" descr="段落内容1">
            <a:extLst>
              <a:ext uri="{FF2B5EF4-FFF2-40B4-BE49-F238E27FC236}">
                <a16:creationId xmlns:a16="http://schemas.microsoft.com/office/drawing/2014/main" id="{1F4873BF-C346-464E-BB09-6EC00FE8F997}"/>
              </a:ext>
            </a:extLst>
          </p:cNvPr>
          <p:cNvSpPr/>
          <p:nvPr/>
        </p:nvSpPr>
        <p:spPr>
          <a:xfrm>
            <a:off x="5170719" y="1550369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100Hz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64500EA-5387-4CE0-9314-91EF33CD2354}"/>
              </a:ext>
            </a:extLst>
          </p:cNvPr>
          <p:cNvSpPr/>
          <p:nvPr/>
        </p:nvSpPr>
        <p:spPr>
          <a:xfrm>
            <a:off x="7382999" y="1858627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矩形 16" descr="段落内容1">
            <a:extLst>
              <a:ext uri="{FF2B5EF4-FFF2-40B4-BE49-F238E27FC236}">
                <a16:creationId xmlns:a16="http://schemas.microsoft.com/office/drawing/2014/main" id="{5BFBA6FD-C8C7-4726-9A20-8F7760261589}"/>
              </a:ext>
            </a:extLst>
          </p:cNvPr>
          <p:cNvSpPr/>
          <p:nvPr/>
        </p:nvSpPr>
        <p:spPr>
          <a:xfrm>
            <a:off x="8415654" y="1550369"/>
            <a:ext cx="2847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800KHz</a:t>
            </a:r>
          </a:p>
        </p:txBody>
      </p:sp>
      <p:sp>
        <p:nvSpPr>
          <p:cNvPr id="18" name="矩形 17" descr="段落内容1">
            <a:extLst>
              <a:ext uri="{FF2B5EF4-FFF2-40B4-BE49-F238E27FC236}">
                <a16:creationId xmlns:a16="http://schemas.microsoft.com/office/drawing/2014/main" id="{1E470A95-0D0B-4429-A2F2-96B7E957B81D}"/>
              </a:ext>
            </a:extLst>
          </p:cNvPr>
          <p:cNvSpPr/>
          <p:nvPr/>
        </p:nvSpPr>
        <p:spPr>
          <a:xfrm>
            <a:off x="5170719" y="2406504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5FAC3FD4-5918-40FC-8D03-5299E177A7AF}"/>
              </a:ext>
            </a:extLst>
          </p:cNvPr>
          <p:cNvSpPr/>
          <p:nvPr/>
        </p:nvSpPr>
        <p:spPr>
          <a:xfrm>
            <a:off x="7382999" y="2714762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1650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571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9F5DFA-B23E-4CB3-AA3A-456074A86315}"/>
              </a:ext>
            </a:extLst>
          </p:cNvPr>
          <p:cNvCxnSpPr>
            <a:cxnSpLocks/>
          </p:cNvCxnSpPr>
          <p:nvPr/>
        </p:nvCxnSpPr>
        <p:spPr>
          <a:xfrm flipH="1">
            <a:off x="1403350" y="3713018"/>
            <a:ext cx="1443824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C69C79BA-8D46-4204-B1E8-E1E177B1B15B}"/>
              </a:ext>
            </a:extLst>
          </p:cNvPr>
          <p:cNvSpPr/>
          <p:nvPr/>
        </p:nvSpPr>
        <p:spPr>
          <a:xfrm>
            <a:off x="-23901" y="3520324"/>
            <a:ext cx="157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3mΩ@800k</a:t>
            </a:r>
          </a:p>
        </p:txBody>
      </p:sp>
      <p:sp>
        <p:nvSpPr>
          <p:cNvPr id="14" name="矩形 13" descr="段落内容1">
            <a:extLst>
              <a:ext uri="{FF2B5EF4-FFF2-40B4-BE49-F238E27FC236}">
                <a16:creationId xmlns:a16="http://schemas.microsoft.com/office/drawing/2014/main" id="{1F4873BF-C346-464E-BB09-6EC00FE8F997}"/>
              </a:ext>
            </a:extLst>
          </p:cNvPr>
          <p:cNvSpPr/>
          <p:nvPr/>
        </p:nvSpPr>
        <p:spPr>
          <a:xfrm>
            <a:off x="5170719" y="1550369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100Hz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64500EA-5387-4CE0-9314-91EF33CD2354}"/>
              </a:ext>
            </a:extLst>
          </p:cNvPr>
          <p:cNvSpPr/>
          <p:nvPr/>
        </p:nvSpPr>
        <p:spPr>
          <a:xfrm>
            <a:off x="7382999" y="1858627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矩形 16" descr="段落内容1">
            <a:extLst>
              <a:ext uri="{FF2B5EF4-FFF2-40B4-BE49-F238E27FC236}">
                <a16:creationId xmlns:a16="http://schemas.microsoft.com/office/drawing/2014/main" id="{5BFBA6FD-C8C7-4726-9A20-8F7760261589}"/>
              </a:ext>
            </a:extLst>
          </p:cNvPr>
          <p:cNvSpPr/>
          <p:nvPr/>
        </p:nvSpPr>
        <p:spPr>
          <a:xfrm>
            <a:off x="8415654" y="1550369"/>
            <a:ext cx="2847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800KHz</a:t>
            </a:r>
          </a:p>
        </p:txBody>
      </p:sp>
      <p:sp>
        <p:nvSpPr>
          <p:cNvPr id="18" name="矩形 17" descr="段落内容1">
            <a:extLst>
              <a:ext uri="{FF2B5EF4-FFF2-40B4-BE49-F238E27FC236}">
                <a16:creationId xmlns:a16="http://schemas.microsoft.com/office/drawing/2014/main" id="{1E470A95-0D0B-4429-A2F2-96B7E957B81D}"/>
              </a:ext>
            </a:extLst>
          </p:cNvPr>
          <p:cNvSpPr/>
          <p:nvPr/>
        </p:nvSpPr>
        <p:spPr>
          <a:xfrm>
            <a:off x="5170719" y="2406504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5FAC3FD4-5918-40FC-8D03-5299E177A7AF}"/>
              </a:ext>
            </a:extLst>
          </p:cNvPr>
          <p:cNvSpPr/>
          <p:nvPr/>
        </p:nvSpPr>
        <p:spPr>
          <a:xfrm>
            <a:off x="7382999" y="2714762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矩形 19" descr="段落内容1">
            <a:extLst>
              <a:ext uri="{FF2B5EF4-FFF2-40B4-BE49-F238E27FC236}">
                <a16:creationId xmlns:a16="http://schemas.microsoft.com/office/drawing/2014/main" id="{B2A20538-D813-4223-B702-5286B000F338}"/>
              </a:ext>
            </a:extLst>
          </p:cNvPr>
          <p:cNvSpPr/>
          <p:nvPr/>
        </p:nvSpPr>
        <p:spPr>
          <a:xfrm>
            <a:off x="8415654" y="2406504"/>
            <a:ext cx="2847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</a:t>
            </a:r>
          </a:p>
        </p:txBody>
      </p:sp>
    </p:spTree>
    <p:extLst>
      <p:ext uri="{BB962C8B-B14F-4D97-AF65-F5344CB8AC3E}">
        <p14:creationId xmlns:p14="http://schemas.microsoft.com/office/powerpoint/2010/main" val="36476717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8C6417-9544-42CF-BE33-38EB2C80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2" y="1550369"/>
            <a:ext cx="3315163" cy="2746574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6BCCCAFD-D04A-4A55-9FC4-FFCE212DCB8D}"/>
              </a:ext>
            </a:extLst>
          </p:cNvPr>
          <p:cNvSpPr/>
          <p:nvPr/>
        </p:nvSpPr>
        <p:spPr>
          <a:xfrm>
            <a:off x="634671" y="749105"/>
            <a:ext cx="4962566" cy="7078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与频率曲线</a:t>
            </a:r>
            <a:endParaRPr lang="en-US" altLang="zh-CN" sz="4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120D34A-82E0-43D4-AEE3-C19173F7457E}"/>
              </a:ext>
            </a:extLst>
          </p:cNvPr>
          <p:cNvSpPr/>
          <p:nvPr/>
        </p:nvSpPr>
        <p:spPr>
          <a:xfrm>
            <a:off x="3038764" y="3611418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4F049DF-A305-4B6B-B6F4-B1020E7E5EFE}"/>
              </a:ext>
            </a:extLst>
          </p:cNvPr>
          <p:cNvCxnSpPr>
            <a:cxnSpLocks/>
          </p:cNvCxnSpPr>
          <p:nvPr/>
        </p:nvCxnSpPr>
        <p:spPr>
          <a:xfrm>
            <a:off x="30821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6A56CAFF-D9C2-449A-901A-B846679A6CF0}"/>
              </a:ext>
            </a:extLst>
          </p:cNvPr>
          <p:cNvSpPr/>
          <p:nvPr/>
        </p:nvSpPr>
        <p:spPr>
          <a:xfrm>
            <a:off x="3140364" y="3652507"/>
            <a:ext cx="105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1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DE9973-2FE3-43AD-926E-E6C2A168D1D6}"/>
              </a:ext>
            </a:extLst>
          </p:cNvPr>
          <p:cNvCxnSpPr>
            <a:cxnSpLocks/>
          </p:cNvCxnSpPr>
          <p:nvPr/>
        </p:nvCxnSpPr>
        <p:spPr>
          <a:xfrm>
            <a:off x="1570824" y="2622550"/>
            <a:ext cx="0" cy="1304059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A859DA6-D0AF-4C93-8628-7FB358512A91}"/>
              </a:ext>
            </a:extLst>
          </p:cNvPr>
          <p:cNvSpPr/>
          <p:nvPr/>
        </p:nvSpPr>
        <p:spPr>
          <a:xfrm>
            <a:off x="1520024" y="2571750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段落内容1">
            <a:extLst>
              <a:ext uri="{FF2B5EF4-FFF2-40B4-BE49-F238E27FC236}">
                <a16:creationId xmlns:a16="http://schemas.microsoft.com/office/drawing/2014/main" id="{05C9971F-2E12-4AFE-807E-83E7DCD8842B}"/>
              </a:ext>
            </a:extLst>
          </p:cNvPr>
          <p:cNvSpPr/>
          <p:nvPr/>
        </p:nvSpPr>
        <p:spPr>
          <a:xfrm>
            <a:off x="57152" y="2468661"/>
            <a:ext cx="148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3Ω@100hz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94EBC8-AF0F-4548-AF1A-0E1869D98721}"/>
              </a:ext>
            </a:extLst>
          </p:cNvPr>
          <p:cNvCxnSpPr>
            <a:cxnSpLocks/>
          </p:cNvCxnSpPr>
          <p:nvPr/>
        </p:nvCxnSpPr>
        <p:spPr>
          <a:xfrm>
            <a:off x="2891624" y="3713018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72FC4A9-AFCF-4A57-BD12-B4B2AF6DDF9C}"/>
              </a:ext>
            </a:extLst>
          </p:cNvPr>
          <p:cNvSpPr/>
          <p:nvPr/>
        </p:nvSpPr>
        <p:spPr>
          <a:xfrm>
            <a:off x="2834475" y="3704795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9F5DFA-B23E-4CB3-AA3A-456074A86315}"/>
              </a:ext>
            </a:extLst>
          </p:cNvPr>
          <p:cNvCxnSpPr>
            <a:cxnSpLocks/>
          </p:cNvCxnSpPr>
          <p:nvPr/>
        </p:nvCxnSpPr>
        <p:spPr>
          <a:xfrm flipH="1">
            <a:off x="1403350" y="3713018"/>
            <a:ext cx="1443824" cy="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 descr="段落内容1">
            <a:extLst>
              <a:ext uri="{FF2B5EF4-FFF2-40B4-BE49-F238E27FC236}">
                <a16:creationId xmlns:a16="http://schemas.microsoft.com/office/drawing/2014/main" id="{C69C79BA-8D46-4204-B1E8-E1E177B1B15B}"/>
              </a:ext>
            </a:extLst>
          </p:cNvPr>
          <p:cNvSpPr/>
          <p:nvPr/>
        </p:nvSpPr>
        <p:spPr>
          <a:xfrm>
            <a:off x="-23901" y="3520324"/>
            <a:ext cx="157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3mΩ@800k</a:t>
            </a:r>
          </a:p>
        </p:txBody>
      </p:sp>
      <p:sp>
        <p:nvSpPr>
          <p:cNvPr id="14" name="矩形 13" descr="段落内容1">
            <a:extLst>
              <a:ext uri="{FF2B5EF4-FFF2-40B4-BE49-F238E27FC236}">
                <a16:creationId xmlns:a16="http://schemas.microsoft.com/office/drawing/2014/main" id="{1F4873BF-C346-464E-BB09-6EC00FE8F997}"/>
              </a:ext>
            </a:extLst>
          </p:cNvPr>
          <p:cNvSpPr/>
          <p:nvPr/>
        </p:nvSpPr>
        <p:spPr>
          <a:xfrm>
            <a:off x="5170719" y="1550369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100Hz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64500EA-5387-4CE0-9314-91EF33CD2354}"/>
              </a:ext>
            </a:extLst>
          </p:cNvPr>
          <p:cNvSpPr/>
          <p:nvPr/>
        </p:nvSpPr>
        <p:spPr>
          <a:xfrm>
            <a:off x="7382999" y="1858627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矩形 16" descr="段落内容1">
            <a:extLst>
              <a:ext uri="{FF2B5EF4-FFF2-40B4-BE49-F238E27FC236}">
                <a16:creationId xmlns:a16="http://schemas.microsoft.com/office/drawing/2014/main" id="{5BFBA6FD-C8C7-4726-9A20-8F7760261589}"/>
              </a:ext>
            </a:extLst>
          </p:cNvPr>
          <p:cNvSpPr/>
          <p:nvPr/>
        </p:nvSpPr>
        <p:spPr>
          <a:xfrm>
            <a:off x="8415654" y="1550369"/>
            <a:ext cx="2847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800KHz</a:t>
            </a:r>
          </a:p>
        </p:txBody>
      </p:sp>
      <p:sp>
        <p:nvSpPr>
          <p:cNvPr id="18" name="矩形 17" descr="段落内容1">
            <a:extLst>
              <a:ext uri="{FF2B5EF4-FFF2-40B4-BE49-F238E27FC236}">
                <a16:creationId xmlns:a16="http://schemas.microsoft.com/office/drawing/2014/main" id="{1E470A95-0D0B-4429-A2F2-96B7E957B81D}"/>
              </a:ext>
            </a:extLst>
          </p:cNvPr>
          <p:cNvSpPr/>
          <p:nvPr/>
        </p:nvSpPr>
        <p:spPr>
          <a:xfrm>
            <a:off x="5170719" y="2406504"/>
            <a:ext cx="2212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3Ω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5FAC3FD4-5918-40FC-8D03-5299E177A7AF}"/>
              </a:ext>
            </a:extLst>
          </p:cNvPr>
          <p:cNvSpPr/>
          <p:nvPr/>
        </p:nvSpPr>
        <p:spPr>
          <a:xfrm>
            <a:off x="7382999" y="2714762"/>
            <a:ext cx="1032655" cy="1529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矩形 19" descr="段落内容1">
            <a:extLst>
              <a:ext uri="{FF2B5EF4-FFF2-40B4-BE49-F238E27FC236}">
                <a16:creationId xmlns:a16="http://schemas.microsoft.com/office/drawing/2014/main" id="{B2A20538-D813-4223-B702-5286B000F338}"/>
              </a:ext>
            </a:extLst>
          </p:cNvPr>
          <p:cNvSpPr/>
          <p:nvPr/>
        </p:nvSpPr>
        <p:spPr>
          <a:xfrm>
            <a:off x="8415654" y="2406504"/>
            <a:ext cx="2847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</a:t>
            </a:r>
          </a:p>
        </p:txBody>
      </p:sp>
      <p:sp>
        <p:nvSpPr>
          <p:cNvPr id="21" name="矩形 20" descr="段落内容1">
            <a:extLst>
              <a:ext uri="{FF2B5EF4-FFF2-40B4-BE49-F238E27FC236}">
                <a16:creationId xmlns:a16="http://schemas.microsoft.com/office/drawing/2014/main" id="{AD4DCB7A-C56B-46E3-9E23-9581F71BA749}"/>
              </a:ext>
            </a:extLst>
          </p:cNvPr>
          <p:cNvSpPr/>
          <p:nvPr/>
        </p:nvSpPr>
        <p:spPr>
          <a:xfrm>
            <a:off x="6539346" y="3485472"/>
            <a:ext cx="2953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0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60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endParaRPr lang="en-US" altLang="zh-CN" sz="60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2632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4692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020F3DBA-4009-4E24-B2C1-7EBAB7D990BA}"/>
              </a:ext>
            </a:extLst>
          </p:cNvPr>
          <p:cNvSpPr/>
          <p:nvPr/>
        </p:nvSpPr>
        <p:spPr>
          <a:xfrm>
            <a:off x="1685637" y="1411333"/>
            <a:ext cx="8820726" cy="98834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开关频率：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100Khz~2Mhz</a:t>
            </a:r>
          </a:p>
        </p:txBody>
      </p:sp>
    </p:spTree>
    <p:extLst>
      <p:ext uri="{BB962C8B-B14F-4D97-AF65-F5344CB8AC3E}">
        <p14:creationId xmlns:p14="http://schemas.microsoft.com/office/powerpoint/2010/main" val="423771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020F3DBA-4009-4E24-B2C1-7EBAB7D990BA}"/>
              </a:ext>
            </a:extLst>
          </p:cNvPr>
          <p:cNvSpPr/>
          <p:nvPr/>
        </p:nvSpPr>
        <p:spPr>
          <a:xfrm>
            <a:off x="1685637" y="1411333"/>
            <a:ext cx="8820726" cy="2004010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开关频率：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100Khz~2Mhz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20mΩ</a:t>
            </a:r>
          </a:p>
        </p:txBody>
      </p:sp>
    </p:spTree>
    <p:extLst>
      <p:ext uri="{BB962C8B-B14F-4D97-AF65-F5344CB8AC3E}">
        <p14:creationId xmlns:p14="http://schemas.microsoft.com/office/powerpoint/2010/main" val="623285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020F3DBA-4009-4E24-B2C1-7EBAB7D990BA}"/>
              </a:ext>
            </a:extLst>
          </p:cNvPr>
          <p:cNvSpPr/>
          <p:nvPr/>
        </p:nvSpPr>
        <p:spPr>
          <a:xfrm>
            <a:off x="1685637" y="1411333"/>
            <a:ext cx="8820726" cy="301967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开关频率：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100Khz~2Mhz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20mΩ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</a:t>
            </a:r>
          </a:p>
        </p:txBody>
      </p:sp>
    </p:spTree>
    <p:extLst>
      <p:ext uri="{BB962C8B-B14F-4D97-AF65-F5344CB8AC3E}">
        <p14:creationId xmlns:p14="http://schemas.microsoft.com/office/powerpoint/2010/main" val="3920149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020F3DBA-4009-4E24-B2C1-7EBAB7D990BA}"/>
              </a:ext>
            </a:extLst>
          </p:cNvPr>
          <p:cNvSpPr/>
          <p:nvPr/>
        </p:nvSpPr>
        <p:spPr>
          <a:xfrm>
            <a:off x="1685637" y="1411333"/>
            <a:ext cx="8820726" cy="403533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开关频率：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100Khz~2Mhz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20mΩ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2mΩ</a:t>
            </a:r>
          </a:p>
        </p:txBody>
      </p:sp>
    </p:spTree>
    <p:extLst>
      <p:ext uri="{BB962C8B-B14F-4D97-AF65-F5344CB8AC3E}">
        <p14:creationId xmlns:p14="http://schemas.microsoft.com/office/powerpoint/2010/main" val="40727959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020F3DBA-4009-4E24-B2C1-7EBAB7D990BA}"/>
              </a:ext>
            </a:extLst>
          </p:cNvPr>
          <p:cNvSpPr/>
          <p:nvPr/>
        </p:nvSpPr>
        <p:spPr>
          <a:xfrm>
            <a:off x="1685637" y="1411333"/>
            <a:ext cx="8820726" cy="403533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开关频率：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100Khz~2Mhz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20mΩ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2mΩ</a:t>
            </a:r>
          </a:p>
        </p:txBody>
      </p:sp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A6CF88B1-1BE1-44A3-88E9-5AAD0D5C469C}"/>
              </a:ext>
            </a:extLst>
          </p:cNvPr>
          <p:cNvSpPr/>
          <p:nvPr/>
        </p:nvSpPr>
        <p:spPr>
          <a:xfrm>
            <a:off x="6096000" y="3594100"/>
            <a:ext cx="5588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陶瓷电容</a:t>
            </a:r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比较小</a:t>
            </a:r>
            <a:endParaRPr lang="en-US" altLang="zh-CN" sz="4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93668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020F3DBA-4009-4E24-B2C1-7EBAB7D990BA}"/>
              </a:ext>
            </a:extLst>
          </p:cNvPr>
          <p:cNvSpPr/>
          <p:nvPr/>
        </p:nvSpPr>
        <p:spPr>
          <a:xfrm>
            <a:off x="1685637" y="1411333"/>
            <a:ext cx="8820726" cy="403533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开关频率：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100Khz~2Mhz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20mΩ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3mΩ</a:t>
            </a:r>
          </a:p>
          <a:p>
            <a:pPr>
              <a:lnSpc>
                <a:spcPct val="150000"/>
              </a:lnSpc>
            </a:pP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47uF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2mΩ</a:t>
            </a:r>
          </a:p>
        </p:txBody>
      </p:sp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A6CF88B1-1BE1-44A3-88E9-5AAD0D5C469C}"/>
              </a:ext>
            </a:extLst>
          </p:cNvPr>
          <p:cNvSpPr/>
          <p:nvPr/>
        </p:nvSpPr>
        <p:spPr>
          <a:xfrm>
            <a:off x="6096000" y="3594100"/>
            <a:ext cx="5588000" cy="2004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陶瓷电容</a:t>
            </a:r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比较小</a:t>
            </a:r>
            <a:endParaRPr lang="en-US" altLang="zh-CN" sz="4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DCDC</a:t>
            </a: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经常使用</a:t>
            </a:r>
            <a:endParaRPr lang="en-US" altLang="zh-CN" sz="4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84889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460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35F2BB-B9C4-4093-9B6F-A5E6A0E73FE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80" y="1041660"/>
            <a:ext cx="8602840" cy="47746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353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35F2BB-B9C4-4093-9B6F-A5E6A0E73FE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80" y="1041660"/>
            <a:ext cx="8602840" cy="47746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8C282642-C492-4552-9FE9-79F8675FE972}"/>
              </a:ext>
            </a:extLst>
          </p:cNvPr>
          <p:cNvSpPr/>
          <p:nvPr/>
        </p:nvSpPr>
        <p:spPr>
          <a:xfrm rot="5400000">
            <a:off x="5354376" y="3928331"/>
            <a:ext cx="305012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49F31EFB-79B8-4BE9-A810-8D269499BCAC}"/>
              </a:ext>
            </a:extLst>
          </p:cNvPr>
          <p:cNvSpPr/>
          <p:nvPr/>
        </p:nvSpPr>
        <p:spPr>
          <a:xfrm>
            <a:off x="5286373" y="1486303"/>
            <a:ext cx="29538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endParaRPr lang="en-US" altLang="zh-CN" sz="4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5769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35F2BB-B9C4-4093-9B6F-A5E6A0E73FE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80" y="1041660"/>
            <a:ext cx="8602840" cy="47746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8C282642-C492-4552-9FE9-79F8675FE972}"/>
              </a:ext>
            </a:extLst>
          </p:cNvPr>
          <p:cNvSpPr/>
          <p:nvPr/>
        </p:nvSpPr>
        <p:spPr>
          <a:xfrm rot="5400000">
            <a:off x="5354376" y="3928331"/>
            <a:ext cx="305012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49F31EFB-79B8-4BE9-A810-8D269499BCAC}"/>
              </a:ext>
            </a:extLst>
          </p:cNvPr>
          <p:cNvSpPr/>
          <p:nvPr/>
        </p:nvSpPr>
        <p:spPr>
          <a:xfrm>
            <a:off x="5286373" y="1486303"/>
            <a:ext cx="29538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endParaRPr lang="en-US" altLang="zh-CN" sz="4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23B0888-EBFD-4819-88A9-8D82098D649F}"/>
              </a:ext>
            </a:extLst>
          </p:cNvPr>
          <p:cNvSpPr/>
          <p:nvPr/>
        </p:nvSpPr>
        <p:spPr>
          <a:xfrm rot="5400000">
            <a:off x="8098306" y="3928331"/>
            <a:ext cx="305012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CA989299-55BE-487C-B700-74EDEA80F02F}"/>
              </a:ext>
            </a:extLst>
          </p:cNvPr>
          <p:cNvSpPr/>
          <p:nvPr/>
        </p:nvSpPr>
        <p:spPr>
          <a:xfrm>
            <a:off x="7756374" y="1503740"/>
            <a:ext cx="29538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</a:t>
            </a:r>
            <a:endParaRPr lang="en-US" altLang="zh-CN" sz="4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33947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35F2BB-B9C4-4093-9B6F-A5E6A0E73FE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80" y="1041660"/>
            <a:ext cx="8602840" cy="47746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8C282642-C492-4552-9FE9-79F8675FE972}"/>
              </a:ext>
            </a:extLst>
          </p:cNvPr>
          <p:cNvSpPr/>
          <p:nvPr/>
        </p:nvSpPr>
        <p:spPr>
          <a:xfrm rot="5400000">
            <a:off x="5354376" y="3928331"/>
            <a:ext cx="305012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49F31EFB-79B8-4BE9-A810-8D269499BCAC}"/>
              </a:ext>
            </a:extLst>
          </p:cNvPr>
          <p:cNvSpPr/>
          <p:nvPr/>
        </p:nvSpPr>
        <p:spPr>
          <a:xfrm>
            <a:off x="5286373" y="1486303"/>
            <a:ext cx="29538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endParaRPr lang="en-US" altLang="zh-CN" sz="4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23B0888-EBFD-4819-88A9-8D82098D649F}"/>
              </a:ext>
            </a:extLst>
          </p:cNvPr>
          <p:cNvSpPr/>
          <p:nvPr/>
        </p:nvSpPr>
        <p:spPr>
          <a:xfrm rot="5400000">
            <a:off x="8098306" y="3928331"/>
            <a:ext cx="3050124" cy="2322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矩形 6" descr="段落内容1">
            <a:extLst>
              <a:ext uri="{FF2B5EF4-FFF2-40B4-BE49-F238E27FC236}">
                <a16:creationId xmlns:a16="http://schemas.microsoft.com/office/drawing/2014/main" id="{CA989299-55BE-487C-B700-74EDEA80F02F}"/>
              </a:ext>
            </a:extLst>
          </p:cNvPr>
          <p:cNvSpPr/>
          <p:nvPr/>
        </p:nvSpPr>
        <p:spPr>
          <a:xfrm>
            <a:off x="7756374" y="1503740"/>
            <a:ext cx="29538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4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</a:t>
            </a:r>
            <a:endParaRPr lang="en-US" altLang="zh-CN" sz="4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02397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276D9E-1247-440A-B87B-E6593D8CCFC4}"/>
              </a:ext>
            </a:extLst>
          </p:cNvPr>
          <p:cNvSpPr txBox="1"/>
          <p:nvPr/>
        </p:nvSpPr>
        <p:spPr>
          <a:xfrm>
            <a:off x="1263650" y="2828836"/>
            <a:ext cx="9664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查询</a:t>
            </a:r>
            <a:r>
              <a:rPr lang="en-US" altLang="zh-CN" sz="3600" dirty="0">
                <a:solidFill>
                  <a:schemeClr val="bg1"/>
                </a:solidFill>
              </a:rPr>
              <a:t>ESR</a:t>
            </a:r>
            <a:r>
              <a:rPr lang="zh-CN" altLang="en-US" sz="3600" dirty="0">
                <a:solidFill>
                  <a:schemeClr val="bg1"/>
                </a:solidFill>
              </a:rPr>
              <a:t>方法：</a:t>
            </a:r>
            <a:r>
              <a:rPr lang="en-US" altLang="zh-CN" sz="3600" dirty="0">
                <a:solidFill>
                  <a:schemeClr val="bg1"/>
                </a:solidFill>
              </a:rPr>
              <a:t>https://www.bilibili.com/video/BV1wT4y1J7oL/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4461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060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487201" y="63711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64788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487201" y="63711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AC569A-6067-48E1-9195-CD6807110D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81" y="1652777"/>
            <a:ext cx="5141438" cy="4096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18712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487201" y="63711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AC569A-6067-48E1-9195-CD6807110D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81" y="1652777"/>
            <a:ext cx="5141438" cy="409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5C19CBCC-69D0-43B6-8A57-4D2E5289288F}"/>
              </a:ext>
            </a:extLst>
          </p:cNvPr>
          <p:cNvSpPr/>
          <p:nvPr/>
        </p:nvSpPr>
        <p:spPr>
          <a:xfrm>
            <a:off x="6397566" y="4826203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8900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487201" y="63711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AC569A-6067-48E1-9195-CD6807110D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81" y="1652777"/>
            <a:ext cx="5141438" cy="409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5C19CBCC-69D0-43B6-8A57-4D2E5289288F}"/>
              </a:ext>
            </a:extLst>
          </p:cNvPr>
          <p:cNvSpPr/>
          <p:nvPr/>
        </p:nvSpPr>
        <p:spPr>
          <a:xfrm>
            <a:off x="6397566" y="4826203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0227B6B-F76A-409A-B48A-C92C1A4CE629}"/>
              </a:ext>
            </a:extLst>
          </p:cNvPr>
          <p:cNvCxnSpPr>
            <a:cxnSpLocks/>
          </p:cNvCxnSpPr>
          <p:nvPr/>
        </p:nvCxnSpPr>
        <p:spPr>
          <a:xfrm>
            <a:off x="6448366" y="4955841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9400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487201" y="637114"/>
            <a:ext cx="7217597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AC569A-6067-48E1-9195-CD6807110D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81" y="1652777"/>
            <a:ext cx="5141438" cy="409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5C19CBCC-69D0-43B6-8A57-4D2E5289288F}"/>
              </a:ext>
            </a:extLst>
          </p:cNvPr>
          <p:cNvSpPr/>
          <p:nvPr/>
        </p:nvSpPr>
        <p:spPr>
          <a:xfrm>
            <a:off x="6397566" y="4826203"/>
            <a:ext cx="1016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0227B6B-F76A-409A-B48A-C92C1A4CE629}"/>
              </a:ext>
            </a:extLst>
          </p:cNvPr>
          <p:cNvCxnSpPr>
            <a:cxnSpLocks/>
          </p:cNvCxnSpPr>
          <p:nvPr/>
        </p:nvCxnSpPr>
        <p:spPr>
          <a:xfrm>
            <a:off x="6448366" y="4955841"/>
            <a:ext cx="0" cy="249382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 descr="段落内容1">
            <a:extLst>
              <a:ext uri="{FF2B5EF4-FFF2-40B4-BE49-F238E27FC236}">
                <a16:creationId xmlns:a16="http://schemas.microsoft.com/office/drawing/2014/main" id="{18671821-DC04-4A7C-A5A2-58B6221B8E0D}"/>
              </a:ext>
            </a:extLst>
          </p:cNvPr>
          <p:cNvSpPr/>
          <p:nvPr/>
        </p:nvSpPr>
        <p:spPr>
          <a:xfrm>
            <a:off x="6499166" y="4782759"/>
            <a:ext cx="1302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</a:t>
            </a:r>
            <a:endParaRPr lang="en-US" altLang="zh-CN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22181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谐振频率有什么用？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26483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230832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谐振频率有什么用？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谐振频率处阻抗最小，滤波效果最好</a:t>
            </a:r>
            <a:endParaRPr lang="en-US" altLang="zh-CN" sz="28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13502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50617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E3EFF5-A911-42FF-A095-D4F1586D25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31" y="1714499"/>
            <a:ext cx="8277739" cy="43053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47493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E3EFF5-A911-42FF-A095-D4F1586D25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31" y="1714499"/>
            <a:ext cx="8277739" cy="43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FC8F72B-C640-4244-A73D-B4BFA8A6FB1A}"/>
              </a:ext>
            </a:extLst>
          </p:cNvPr>
          <p:cNvSpPr/>
          <p:nvPr/>
        </p:nvSpPr>
        <p:spPr>
          <a:xfrm>
            <a:off x="5626099" y="2641600"/>
            <a:ext cx="3860801" cy="317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4506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E3EFF5-A911-42FF-A095-D4F1586D25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31" y="1714499"/>
            <a:ext cx="8277739" cy="43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BBBC58A-A2A2-4341-8CA4-75B8217390F2}"/>
              </a:ext>
            </a:extLst>
          </p:cNvPr>
          <p:cNvSpPr/>
          <p:nvPr/>
        </p:nvSpPr>
        <p:spPr>
          <a:xfrm>
            <a:off x="5626099" y="3486155"/>
            <a:ext cx="3860801" cy="317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0330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E3EFF5-A911-42FF-A095-D4F1586D25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31" y="1714499"/>
            <a:ext cx="8277739" cy="43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CF82D3-6317-4712-A06B-E34C03EA9420}"/>
              </a:ext>
            </a:extLst>
          </p:cNvPr>
          <p:cNvSpPr/>
          <p:nvPr/>
        </p:nvSpPr>
        <p:spPr>
          <a:xfrm>
            <a:off x="5626099" y="4343401"/>
            <a:ext cx="3860801" cy="317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7723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E3EFF5-A911-42FF-A095-D4F1586D25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31" y="1714499"/>
            <a:ext cx="8277739" cy="43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9E42661-A405-42F3-8FFD-8A5BCBE19E77}"/>
              </a:ext>
            </a:extLst>
          </p:cNvPr>
          <p:cNvSpPr/>
          <p:nvPr/>
        </p:nvSpPr>
        <p:spPr>
          <a:xfrm>
            <a:off x="5626099" y="4724401"/>
            <a:ext cx="3860801" cy="317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0944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E3EFF5-A911-42FF-A095-D4F1586D25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31" y="1714499"/>
            <a:ext cx="8277739" cy="43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A2CF620-A982-44B5-8C33-7AF52B0A24A5}"/>
              </a:ext>
            </a:extLst>
          </p:cNvPr>
          <p:cNvSpPr/>
          <p:nvPr/>
        </p:nvSpPr>
        <p:spPr>
          <a:xfrm>
            <a:off x="5626099" y="5181601"/>
            <a:ext cx="3860801" cy="317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9929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C736193C-E7D5-43EA-95F7-6580B57519C1}"/>
              </a:ext>
            </a:extLst>
          </p:cNvPr>
          <p:cNvSpPr/>
          <p:nvPr/>
        </p:nvSpPr>
        <p:spPr>
          <a:xfrm>
            <a:off x="2971800" y="637114"/>
            <a:ext cx="6732999" cy="1877437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常用电容谐振频率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E3EFF5-A911-42FF-A095-D4F1586D25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31" y="1714499"/>
            <a:ext cx="8277739" cy="43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5BBB1F4-8F91-42F8-A757-89F99DDEF202}"/>
              </a:ext>
            </a:extLst>
          </p:cNvPr>
          <p:cNvSpPr/>
          <p:nvPr/>
        </p:nvSpPr>
        <p:spPr>
          <a:xfrm>
            <a:off x="5626099" y="5638801"/>
            <a:ext cx="3860801" cy="317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7044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2981E207-DCB3-4316-88C6-E61819FC63CF}"/>
              </a:ext>
            </a:extLst>
          </p:cNvPr>
          <p:cNvSpPr/>
          <p:nvPr/>
        </p:nvSpPr>
        <p:spPr>
          <a:xfrm>
            <a:off x="2063750" y="1690063"/>
            <a:ext cx="8064500" cy="76944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减小，谐振频率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50695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2981E207-DCB3-4316-88C6-E61819FC63CF}"/>
              </a:ext>
            </a:extLst>
          </p:cNvPr>
          <p:cNvSpPr/>
          <p:nvPr/>
        </p:nvSpPr>
        <p:spPr>
          <a:xfrm>
            <a:off x="2063750" y="1690063"/>
            <a:ext cx="8064500" cy="212365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减小，谐振频率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小电容滤高频，大电容滤低频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76242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2981E207-DCB3-4316-88C6-E61819FC63CF}"/>
              </a:ext>
            </a:extLst>
          </p:cNvPr>
          <p:cNvSpPr/>
          <p:nvPr/>
        </p:nvSpPr>
        <p:spPr>
          <a:xfrm>
            <a:off x="2063750" y="1690063"/>
            <a:ext cx="8064500" cy="347787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减小，谐振频率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小电容滤高频，大电容滤低频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安装电感引起谐振频率降低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43681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2981E207-DCB3-4316-88C6-E61819FC63CF}"/>
              </a:ext>
            </a:extLst>
          </p:cNvPr>
          <p:cNvSpPr/>
          <p:nvPr/>
        </p:nvSpPr>
        <p:spPr>
          <a:xfrm>
            <a:off x="2063750" y="1690063"/>
            <a:ext cx="8064500" cy="347787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减小，谐振频率</a:t>
            </a:r>
            <a:r>
              <a:rPr lang="en-US" altLang="zh-CN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小电容滤高频，大电容滤低频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安装电感引起谐振频率降低</a:t>
            </a:r>
            <a:endParaRPr lang="en-US" altLang="zh-CN" sz="4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97303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32084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736600" y="2274838"/>
            <a:ext cx="10718800" cy="523220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、陶瓷电容的</a:t>
            </a: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随着容值的增大而减小，具体可查表</a:t>
            </a:r>
            <a:endParaRPr lang="en-US" altLang="zh-CN" sz="28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23936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736600" y="2274838"/>
            <a:ext cx="10718800" cy="138499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、陶瓷电容的</a:t>
            </a: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ESR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随着容值的增大而减小，具体可查表</a:t>
            </a:r>
            <a:endParaRPr lang="en-US" altLang="zh-CN" sz="28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、陶瓷电容的谐振频率随着容值的增大而减小，具体可查表</a:t>
            </a:r>
            <a:endParaRPr lang="en-US" altLang="zh-CN" sz="28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7365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598</Words>
  <Application>Microsoft Office PowerPoint</Application>
  <PresentationFormat>宽屏</PresentationFormat>
  <Paragraphs>160</Paragraphs>
  <Slides>77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4" baseType="lpstr">
      <vt:lpstr>等线</vt:lpstr>
      <vt:lpstr>等线 Light</vt:lpstr>
      <vt:lpstr>微软雅黑</vt:lpstr>
      <vt:lpstr>微软雅黑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82</cp:revision>
  <dcterms:created xsi:type="dcterms:W3CDTF">2020-06-10T12:57:46Z</dcterms:created>
  <dcterms:modified xsi:type="dcterms:W3CDTF">2020-07-01T12:51:17Z</dcterms:modified>
</cp:coreProperties>
</file>