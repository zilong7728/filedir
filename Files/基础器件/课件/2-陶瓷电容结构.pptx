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73" r:id="rId4"/>
    <p:sldId id="274" r:id="rId5"/>
    <p:sldId id="276" r:id="rId6"/>
    <p:sldId id="278" r:id="rId7"/>
    <p:sldId id="275" r:id="rId8"/>
    <p:sldId id="277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291" r:id="rId22"/>
    <p:sldId id="292" r:id="rId23"/>
    <p:sldId id="293" r:id="rId24"/>
    <p:sldId id="294" r:id="rId25"/>
    <p:sldId id="295" r:id="rId26"/>
    <p:sldId id="297" r:id="rId27"/>
    <p:sldId id="298" r:id="rId28"/>
    <p:sldId id="299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2025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914" y="7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E44E49-B0D9-4706-868B-5889D3A25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F8D9918-3AB5-4BE3-90EF-F94FC2A875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73703E-3322-40FC-8787-F3E20C230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D650DC-A624-456A-A126-B8F1F838B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546143-118A-4A28-8A19-6BC35F44E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8823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E0BB6C-6ABB-4B2B-9725-FDC1BE9C9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146B91-7420-456E-BD98-D8ABE75E3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BB58B1-8F09-450C-886D-B47496AE9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3293CC-1DA1-4CD5-8322-6C20B1B02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1A5435-AD74-4105-9E5C-18D1B172A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820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E6B85F-D98C-4A1B-9F13-1F87A1148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8E2CFF-03E8-414C-AABD-26898041A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B2FCD8-1483-4FAC-8377-81D0AF500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A6A4E9-0DA6-4AEF-941B-DE110A13A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71F056-9F80-4735-98FC-FB9414495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4530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F580BD-B975-4AF9-9F57-5CBC534EE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25B173-E218-4879-8704-52E0ED008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82506D-508D-4CA9-A154-F079308E84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3C18ABC-C9B1-4830-8AD2-83CC9E5BB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2020/6/23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74C9BCA-8CC4-44E9-97B8-AAD3C5EF2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6C2B09C-B6F7-47C1-BEBB-2E3C84262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847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2B039D-81CB-4899-AA9C-3B180993B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298E01-7DCE-4427-9379-27DC59548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37B538C-7788-45CF-996C-6D3EB2E17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C49C056-9795-4D8F-A4CE-B639129FA8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0C1D8B3-B497-4940-A742-1AF75D447A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8343125-6FA6-4950-8FE3-FDB5A2882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2020/6/23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0303CE0-CE25-473A-B5E4-2FA0BB0CA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3AD48A5-C5FC-4EC0-B676-A9B7CC19A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749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8373AB-BBBC-4686-89C0-63CAB85C4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E98F6D2-F4E4-47AF-93A0-9DF6A649D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2020/6/23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244BCB8-8294-4E7D-AAD5-C1BBB21A6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6F6B71C-9DFD-4420-BFB0-76438F071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4076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5399917-3CB4-491C-9473-890DB8B75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2020/6/23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B84501C-9879-44AD-A3B9-85E3E84D1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9C6F50-07D4-487A-956A-C292F5E7A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0350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DD4130-3573-4C55-A6D0-028F1CDA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60FE88-9209-4A5D-939C-862D68A89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BA9C650-6D5F-437D-BFD2-1A0D82E686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88E517-402D-4380-B17B-35ABBD9FC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2020/6/23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7D383A3-7C92-4A5D-97F9-5313A829B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44A4F65-D1B8-4A2C-A062-41BDB28C6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1392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3709C-F489-4048-AEB8-663258EDE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9A4C458-F1BC-44FE-90B6-954DDCB152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4AF3892-E433-45AD-A948-2237EE65AA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8E72DE0-09AA-48CB-AC0E-D768EA13A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2020/6/23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B7BD1EF-F7AA-4B75-AA5A-1C34962B5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8795F0-787D-450E-961D-26A2CEAE9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9745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E3B332-42A7-4B0D-90B8-4A68F4D57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632AC77-0820-4B8F-8819-296149ECA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069B8D-6B48-4BB1-BABF-B8B945A49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032B04-6BE0-4722-8D9D-4C460EE43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52181D-D509-4B8D-822E-128878FB9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2346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197586C-AC2A-4FC5-A48D-4AA27BA948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89EBCCB-6E4E-43EF-95E4-BA1C7B9C26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06CA1E-3FDB-4E81-A86E-D7907DA2D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6831A7-33CF-4637-835A-4AE4D2726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C11E3D-8B94-4F61-AA6B-E71FAD6D0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9727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3A36F2-E160-491C-94CD-186B2ECDC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66E8900-3692-4DEF-8886-461D1A35D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5D4E82-7023-40EA-BEB0-D75ED39443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2A7DE3-7461-4351-842C-02EB77888246}" type="datetimeFigureOut">
              <a:rPr lang="zh-CN" altLang="en-US" smtClean="0"/>
              <a:t>2020/6/23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8B27E6-965C-4D6B-9F9F-A4F41511D1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84CF8E-8B64-46AC-8247-5696965B3F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1745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1FDA2538-8E03-4E84-8429-1E03C4386C4C}"/>
              </a:ext>
            </a:extLst>
          </p:cNvPr>
          <p:cNvSpPr txBox="1"/>
          <p:nvPr/>
        </p:nvSpPr>
        <p:spPr>
          <a:xfrm>
            <a:off x="3953599" y="1597730"/>
            <a:ext cx="7560083" cy="3662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6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MLCC</a:t>
            </a:r>
            <a:r>
              <a:rPr lang="zh-CN" altLang="en-US" sz="6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陶瓷电容结构</a:t>
            </a:r>
            <a:endParaRPr lang="en-US" altLang="zh-CN" sz="66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ctr"/>
            <a:r>
              <a:rPr lang="zh-CN" altLang="en-US" sz="166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知多少</a:t>
            </a:r>
            <a:r>
              <a:rPr lang="en-US" altLang="zh-CN" sz="166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?</a:t>
            </a:r>
            <a:endParaRPr lang="zh-CN" altLang="en-US" sz="16600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BF40BA1-1E2D-47BF-8A03-785078ACE4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93" y="2466776"/>
            <a:ext cx="3848898" cy="1924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951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47B1DBC4-636D-40B0-87FA-C00E3CD31EA5}"/>
              </a:ext>
            </a:extLst>
          </p:cNvPr>
          <p:cNvSpPr/>
          <p:nvPr/>
        </p:nvSpPr>
        <p:spPr>
          <a:xfrm>
            <a:off x="1047125" y="1250423"/>
            <a:ext cx="10097749" cy="4357155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、如何将</a:t>
            </a:r>
            <a:r>
              <a:rPr lang="zh-CN" altLang="en-US" sz="36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容量做大</a:t>
            </a:r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的？</a:t>
            </a:r>
            <a:endParaRPr lang="en-US" altLang="zh-CN" sz="36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、为啥有</a:t>
            </a:r>
            <a:r>
              <a:rPr lang="en-US" altLang="zh-CN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NP0</a:t>
            </a:r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X7R</a:t>
            </a:r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Y5V</a:t>
            </a:r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等等这么</a:t>
            </a:r>
            <a:r>
              <a:rPr lang="zh-CN" altLang="en-US" sz="36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多种类</a:t>
            </a:r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altLang="zh-CN" sz="36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、为啥额定电压越高，</a:t>
            </a:r>
            <a:r>
              <a:rPr lang="zh-CN" altLang="en-US" sz="36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体积越大</a:t>
            </a:r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altLang="zh-CN" sz="36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、直流偏压特性？</a:t>
            </a:r>
            <a:endParaRPr lang="en-US" altLang="zh-CN" sz="36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68803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47B1DBC4-636D-40B0-87FA-C00E3CD31EA5}"/>
              </a:ext>
            </a:extLst>
          </p:cNvPr>
          <p:cNvSpPr/>
          <p:nvPr/>
        </p:nvSpPr>
        <p:spPr>
          <a:xfrm>
            <a:off x="1092014" y="2358418"/>
            <a:ext cx="10007971" cy="2141164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36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MLCC</a:t>
            </a:r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Multi-layer Ceramic Capacitors</a:t>
            </a:r>
          </a:p>
          <a:p>
            <a:pPr>
              <a:lnSpc>
                <a:spcPct val="200000"/>
              </a:lnSpc>
            </a:pPr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中文名：片式多层陶瓷电容器</a:t>
            </a:r>
            <a:endParaRPr lang="en-US" altLang="zh-CN" sz="36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04787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770D6706-1770-467E-947C-37ECFF0CA0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740" y="2162018"/>
            <a:ext cx="3847200" cy="192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862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770D6706-1770-467E-947C-37ECFF0CA0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740" y="2162018"/>
            <a:ext cx="3847200" cy="19236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A1F172C-ECC7-40EF-A246-1EFB27C46759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3863" y="1813645"/>
            <a:ext cx="4685201" cy="2621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19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10A6133B-4160-4661-B4C1-7C83C9E823B5}"/>
              </a:ext>
            </a:extLst>
          </p:cNvPr>
          <p:cNvSpPr/>
          <p:nvPr/>
        </p:nvSpPr>
        <p:spPr>
          <a:xfrm>
            <a:off x="2877748" y="2921169"/>
            <a:ext cx="6436504" cy="101566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电容量如何</a:t>
            </a:r>
            <a:r>
              <a:rPr lang="zh-CN" altLang="en-US" sz="60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做大</a:t>
            </a:r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20631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1D652AF-7F57-4380-BF21-EFB9C2BC49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3366" y="863605"/>
            <a:ext cx="4745268" cy="241948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F4BDB81-2AD2-460A-9762-3F787B38B424}"/>
              </a:ext>
            </a:extLst>
          </p:cNvPr>
          <p:cNvSpPr/>
          <p:nvPr/>
        </p:nvSpPr>
        <p:spPr>
          <a:xfrm>
            <a:off x="1473201" y="3912098"/>
            <a:ext cx="9245599" cy="8800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28600">
              <a:lnSpc>
                <a:spcPct val="150000"/>
              </a:lnSpc>
              <a:spcAft>
                <a:spcPts val="0"/>
              </a:spcAft>
            </a:pPr>
            <a:r>
              <a:rPr lang="zh-CN" altLang="en-US" kern="100" dirty="0">
                <a:solidFill>
                  <a:srgbClr val="FFFF00"/>
                </a:solidFill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电容的本质：</a:t>
            </a:r>
            <a:r>
              <a:rPr lang="zh-CN" altLang="zh-CN" kern="100" dirty="0">
                <a:solidFill>
                  <a:schemeClr val="bg1"/>
                </a:solidFill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两个相互靠近的导体，中间夹一层不导电的绝缘介质，这就构成了电容器。</a:t>
            </a:r>
            <a:endParaRPr lang="en-US" altLang="zh-CN" kern="100" dirty="0">
              <a:solidFill>
                <a:schemeClr val="bg1"/>
              </a:solidFill>
              <a:latin typeface="等线" panose="02010600030101010101" pitchFamily="2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indent="228600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chemeClr val="bg1"/>
                </a:solidFill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当电容器的两个极板之间加上电压时，电容器就会储存电荷。</a:t>
            </a:r>
            <a:endParaRPr lang="zh-CN" altLang="zh-CN" kern="100" dirty="0">
              <a:solidFill>
                <a:schemeClr val="bg1"/>
              </a:solidFill>
              <a:latin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7960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4315EC46-A540-4B6E-A8D9-CD7939625B2E}"/>
                  </a:ext>
                </a:extLst>
              </p:cNvPr>
              <p:cNvSpPr/>
              <p:nvPr/>
            </p:nvSpPr>
            <p:spPr>
              <a:xfrm>
                <a:off x="1893455" y="1536110"/>
                <a:ext cx="8405090" cy="3785780"/>
              </a:xfrm>
              <a:prstGeom prst="rect">
                <a:avLst/>
              </a:prstGeom>
              <a:solidFill>
                <a:srgbClr val="202527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5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CN" sz="5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=8.854 × </m:t>
                      </m:r>
                      <m:sSup>
                        <m:sSupPr>
                          <m:ctrlPr>
                            <a:rPr lang="zh-CN" altLang="zh-CN" sz="5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5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altLang="zh-CN" sz="5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−12</m:t>
                          </m:r>
                        </m:sup>
                      </m:sSup>
                      <m:f>
                        <m:fPr>
                          <m:ctrlPr>
                            <a:rPr lang="zh-CN" altLang="zh-CN" sz="54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zh-CN" sz="5400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5400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sz="5400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en-US" altLang="zh-CN" sz="54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num>
                        <m:den>
                          <m:r>
                            <a:rPr lang="en-US" altLang="zh-CN" sz="54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  <m:r>
                        <a:rPr lang="en-US" altLang="zh-CN" sz="54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5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5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5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5400" dirty="0">
                  <a:solidFill>
                    <a:schemeClr val="bg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32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zh-CN" altLang="zh-CN" sz="3200" dirty="0">
                    <a:solidFill>
                      <a:schemeClr val="bg1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：两极板间介质的</a:t>
                </a:r>
                <a:r>
                  <a:rPr lang="zh-CN" altLang="zh-CN" sz="3200" dirty="0">
                    <a:solidFill>
                      <a:srgbClr val="FFFF00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介电常数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3200" dirty="0">
                    <a:solidFill>
                      <a:srgbClr val="FFFF00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S</a:t>
                </a:r>
                <a:r>
                  <a:rPr lang="zh-CN" altLang="zh-CN" sz="3200" dirty="0">
                    <a:solidFill>
                      <a:schemeClr val="bg1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：两极板间的</a:t>
                </a:r>
                <a:r>
                  <a:rPr lang="zh-CN" altLang="zh-CN" sz="3200" dirty="0">
                    <a:solidFill>
                      <a:srgbClr val="FFFF00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正对面积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3200" dirty="0">
                    <a:solidFill>
                      <a:srgbClr val="FFFF00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d</a:t>
                </a:r>
                <a:r>
                  <a:rPr lang="zh-CN" altLang="zh-CN" sz="3200" dirty="0">
                    <a:solidFill>
                      <a:schemeClr val="bg1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：两极板间的</a:t>
                </a:r>
                <a:r>
                  <a:rPr lang="zh-CN" altLang="zh-CN" sz="3200" dirty="0">
                    <a:solidFill>
                      <a:srgbClr val="FFFF00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距离</a:t>
                </a: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4315EC46-A540-4B6E-A8D9-CD7939625B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3455" y="1536110"/>
                <a:ext cx="8405090" cy="3785780"/>
              </a:xfrm>
              <a:prstGeom prst="rect">
                <a:avLst/>
              </a:prstGeom>
              <a:blipFill>
                <a:blip r:embed="rId2"/>
                <a:stretch>
                  <a:fillRect l="-1887" b="-45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3845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4315EC46-A540-4B6E-A8D9-CD7939625B2E}"/>
                  </a:ext>
                </a:extLst>
              </p:cNvPr>
              <p:cNvSpPr/>
              <p:nvPr/>
            </p:nvSpPr>
            <p:spPr>
              <a:xfrm>
                <a:off x="1893455" y="1536110"/>
                <a:ext cx="8405090" cy="3785780"/>
              </a:xfrm>
              <a:prstGeom prst="rect">
                <a:avLst/>
              </a:prstGeom>
              <a:solidFill>
                <a:srgbClr val="202527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5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CN" sz="5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=8.854 × </m:t>
                      </m:r>
                      <m:sSup>
                        <m:sSupPr>
                          <m:ctrlPr>
                            <a:rPr lang="zh-CN" altLang="zh-CN" sz="5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5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altLang="zh-CN" sz="5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−12</m:t>
                          </m:r>
                        </m:sup>
                      </m:sSup>
                      <m:f>
                        <m:fPr>
                          <m:ctrlPr>
                            <a:rPr lang="zh-CN" altLang="zh-CN" sz="54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zh-CN" sz="5400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5400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sz="5400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en-US" altLang="zh-CN" sz="54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num>
                        <m:den>
                          <m:r>
                            <a:rPr lang="en-US" altLang="zh-CN" sz="54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  <m:r>
                        <a:rPr lang="en-US" altLang="zh-CN" sz="54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5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5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5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5400" dirty="0">
                  <a:solidFill>
                    <a:schemeClr val="bg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32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zh-CN" altLang="zh-CN" sz="3200" dirty="0">
                    <a:solidFill>
                      <a:schemeClr val="bg1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：两极板间介质的</a:t>
                </a:r>
                <a:r>
                  <a:rPr lang="zh-CN" altLang="zh-CN" sz="3200" dirty="0">
                    <a:solidFill>
                      <a:srgbClr val="FFFF00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介电常数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3200" dirty="0">
                    <a:solidFill>
                      <a:srgbClr val="FFFF00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S</a:t>
                </a:r>
                <a:r>
                  <a:rPr lang="zh-CN" altLang="zh-CN" sz="3200" dirty="0">
                    <a:solidFill>
                      <a:schemeClr val="bg1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：两极板间的</a:t>
                </a:r>
                <a:r>
                  <a:rPr lang="zh-CN" altLang="zh-CN" sz="3200" dirty="0">
                    <a:solidFill>
                      <a:srgbClr val="FFFF00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正对面积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3200" dirty="0">
                    <a:solidFill>
                      <a:srgbClr val="FFFF00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d</a:t>
                </a:r>
                <a:r>
                  <a:rPr lang="zh-CN" altLang="zh-CN" sz="3200" dirty="0">
                    <a:solidFill>
                      <a:schemeClr val="bg1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：两极板间的</a:t>
                </a:r>
                <a:r>
                  <a:rPr lang="zh-CN" altLang="zh-CN" sz="3200" dirty="0">
                    <a:solidFill>
                      <a:srgbClr val="FFFF00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距离</a:t>
                </a: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4315EC46-A540-4B6E-A8D9-CD7939625B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3455" y="1536110"/>
                <a:ext cx="8405090" cy="3785780"/>
              </a:xfrm>
              <a:prstGeom prst="rect">
                <a:avLst/>
              </a:prstGeom>
              <a:blipFill>
                <a:blip r:embed="rId2"/>
                <a:stretch>
                  <a:fillRect l="-1887" b="-45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箭头: 上 4">
            <a:extLst>
              <a:ext uri="{FF2B5EF4-FFF2-40B4-BE49-F238E27FC236}">
                <a16:creationId xmlns:a16="http://schemas.microsoft.com/office/drawing/2014/main" id="{51FD046C-1DED-40F6-A2AF-821446A3EF1A}"/>
              </a:ext>
            </a:extLst>
          </p:cNvPr>
          <p:cNvSpPr/>
          <p:nvPr/>
        </p:nvSpPr>
        <p:spPr>
          <a:xfrm>
            <a:off x="7342912" y="3362036"/>
            <a:ext cx="258618" cy="387928"/>
          </a:xfrm>
          <a:prstGeom prst="up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箭头: 上 5">
            <a:extLst>
              <a:ext uri="{FF2B5EF4-FFF2-40B4-BE49-F238E27FC236}">
                <a16:creationId xmlns:a16="http://schemas.microsoft.com/office/drawing/2014/main" id="{8A010854-1881-409C-B751-5CE483992023}"/>
              </a:ext>
            </a:extLst>
          </p:cNvPr>
          <p:cNvSpPr/>
          <p:nvPr/>
        </p:nvSpPr>
        <p:spPr>
          <a:xfrm>
            <a:off x="6414655" y="4077855"/>
            <a:ext cx="258618" cy="387928"/>
          </a:xfrm>
          <a:prstGeom prst="up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上 7">
            <a:extLst>
              <a:ext uri="{FF2B5EF4-FFF2-40B4-BE49-F238E27FC236}">
                <a16:creationId xmlns:a16="http://schemas.microsoft.com/office/drawing/2014/main" id="{2E587E0C-A3CF-4E9D-9A84-0011F462DA7F}"/>
              </a:ext>
            </a:extLst>
          </p:cNvPr>
          <p:cNvSpPr/>
          <p:nvPr/>
        </p:nvSpPr>
        <p:spPr>
          <a:xfrm flipV="1">
            <a:off x="5606474" y="4809272"/>
            <a:ext cx="258618" cy="387928"/>
          </a:xfrm>
          <a:prstGeom prst="up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4554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10A6133B-4160-4661-B4C1-7C83C9E823B5}"/>
              </a:ext>
            </a:extLst>
          </p:cNvPr>
          <p:cNvSpPr/>
          <p:nvPr/>
        </p:nvSpPr>
        <p:spPr>
          <a:xfrm>
            <a:off x="2877748" y="953823"/>
            <a:ext cx="6436504" cy="101566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</a:t>
            </a:r>
            <a:r>
              <a:rPr lang="zh-CN" altLang="en-US" sz="60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增大</a:t>
            </a:r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面积？</a:t>
            </a:r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C008DD0-60E1-4679-A8A9-57B9B34B183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346" y="2559602"/>
            <a:ext cx="4685201" cy="2621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869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10A6133B-4160-4661-B4C1-7C83C9E823B5}"/>
              </a:ext>
            </a:extLst>
          </p:cNvPr>
          <p:cNvSpPr/>
          <p:nvPr/>
        </p:nvSpPr>
        <p:spPr>
          <a:xfrm>
            <a:off x="2877748" y="953823"/>
            <a:ext cx="6436504" cy="101566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</a:t>
            </a:r>
            <a:r>
              <a:rPr lang="zh-CN" altLang="en-US" sz="60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增大</a:t>
            </a:r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面积？</a:t>
            </a:r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C008DD0-60E1-4679-A8A9-57B9B34B183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0242" y="2557349"/>
            <a:ext cx="4685201" cy="2621195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D836AA2D-8AF4-4B9B-B25F-91E97792B0F3}"/>
              </a:ext>
            </a:extLst>
          </p:cNvPr>
          <p:cNvGrpSpPr/>
          <p:nvPr/>
        </p:nvGrpSpPr>
        <p:grpSpPr>
          <a:xfrm>
            <a:off x="7353396" y="3698713"/>
            <a:ext cx="2692972" cy="915981"/>
            <a:chOff x="1289481" y="3686676"/>
            <a:chExt cx="2692972" cy="915981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2637F1F1-E661-4CB7-B4BE-9F99F4A47B56}"/>
                </a:ext>
              </a:extLst>
            </p:cNvPr>
            <p:cNvSpPr/>
            <p:nvPr/>
          </p:nvSpPr>
          <p:spPr>
            <a:xfrm>
              <a:off x="1323474" y="3753853"/>
              <a:ext cx="2658979" cy="7219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81C6B971-27CE-4305-8586-FD0BD2D31F80}"/>
                </a:ext>
              </a:extLst>
            </p:cNvPr>
            <p:cNvSpPr/>
            <p:nvPr/>
          </p:nvSpPr>
          <p:spPr>
            <a:xfrm>
              <a:off x="1323473" y="4108573"/>
              <a:ext cx="2658979" cy="7219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6B55712F-810B-4100-AD38-8EC83A63AFB8}"/>
                </a:ext>
              </a:extLst>
            </p:cNvPr>
            <p:cNvSpPr/>
            <p:nvPr/>
          </p:nvSpPr>
          <p:spPr>
            <a:xfrm>
              <a:off x="1323474" y="4463294"/>
              <a:ext cx="2658979" cy="7219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0077E35E-CF11-4B7A-BFFB-A807296DCA26}"/>
                </a:ext>
              </a:extLst>
            </p:cNvPr>
            <p:cNvSpPr/>
            <p:nvPr/>
          </p:nvSpPr>
          <p:spPr>
            <a:xfrm rot="5400000" flipV="1">
              <a:off x="865482" y="4110675"/>
              <a:ext cx="915981" cy="67984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D8F25ECD-A43C-4A86-AF5E-D7AD5911AC13}"/>
              </a:ext>
            </a:extLst>
          </p:cNvPr>
          <p:cNvGrpSpPr/>
          <p:nvPr/>
        </p:nvGrpSpPr>
        <p:grpSpPr>
          <a:xfrm rot="10800000">
            <a:off x="7614082" y="3862145"/>
            <a:ext cx="2692972" cy="915981"/>
            <a:chOff x="1289481" y="3686676"/>
            <a:chExt cx="2692972" cy="915981"/>
          </a:xfrm>
          <a:solidFill>
            <a:schemeClr val="accent5">
              <a:lumMod val="75000"/>
            </a:schemeClr>
          </a:solidFill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69491B30-654C-4E8F-9795-28AB8B1D1542}"/>
                </a:ext>
              </a:extLst>
            </p:cNvPr>
            <p:cNvSpPr/>
            <p:nvPr/>
          </p:nvSpPr>
          <p:spPr>
            <a:xfrm>
              <a:off x="1323474" y="3753853"/>
              <a:ext cx="2658979" cy="7219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0FC4E76D-E1D5-441D-9623-96C5DAF3D05B}"/>
                </a:ext>
              </a:extLst>
            </p:cNvPr>
            <p:cNvSpPr/>
            <p:nvPr/>
          </p:nvSpPr>
          <p:spPr>
            <a:xfrm>
              <a:off x="1323473" y="4108573"/>
              <a:ext cx="2658979" cy="7219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68D74D73-7D7F-4414-B5B9-0AFB45FC536E}"/>
                </a:ext>
              </a:extLst>
            </p:cNvPr>
            <p:cNvSpPr/>
            <p:nvPr/>
          </p:nvSpPr>
          <p:spPr>
            <a:xfrm>
              <a:off x="1323474" y="4463294"/>
              <a:ext cx="2658979" cy="7219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1AE34AE8-B279-4627-8236-04262476340B}"/>
                </a:ext>
              </a:extLst>
            </p:cNvPr>
            <p:cNvSpPr/>
            <p:nvPr/>
          </p:nvSpPr>
          <p:spPr>
            <a:xfrm rot="5400000" flipV="1">
              <a:off x="865482" y="4110675"/>
              <a:ext cx="915981" cy="6798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4" name="图片 13">
            <a:extLst>
              <a:ext uri="{FF2B5EF4-FFF2-40B4-BE49-F238E27FC236}">
                <a16:creationId xmlns:a16="http://schemas.microsoft.com/office/drawing/2014/main" id="{3E309DCF-867D-41E1-8090-20AADC1B896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346" y="2559602"/>
            <a:ext cx="4685201" cy="2621195"/>
          </a:xfrm>
          <a:prstGeom prst="rect">
            <a:avLst/>
          </a:prstGeom>
        </p:spPr>
      </p:pic>
      <p:sp>
        <p:nvSpPr>
          <p:cNvPr id="15" name="箭头: 左 14">
            <a:extLst>
              <a:ext uri="{FF2B5EF4-FFF2-40B4-BE49-F238E27FC236}">
                <a16:creationId xmlns:a16="http://schemas.microsoft.com/office/drawing/2014/main" id="{3D76AB10-2889-4A08-ACA6-85380DB24BC7}"/>
              </a:ext>
            </a:extLst>
          </p:cNvPr>
          <p:cNvSpPr/>
          <p:nvPr/>
        </p:nvSpPr>
        <p:spPr>
          <a:xfrm flipH="1">
            <a:off x="5800435" y="3603527"/>
            <a:ext cx="885964" cy="421895"/>
          </a:xfrm>
          <a:prstGeom prst="left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87914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id="{7A805C31-0255-49E8-8B73-E0B3076940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37" y="1035487"/>
            <a:ext cx="7187727" cy="4787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2703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 descr="段落内容1">
            <a:extLst>
              <a:ext uri="{FF2B5EF4-FFF2-40B4-BE49-F238E27FC236}">
                <a16:creationId xmlns:a16="http://schemas.microsoft.com/office/drawing/2014/main" id="{99CE844E-42A7-43D9-B9C9-116CABEFA5C6}"/>
              </a:ext>
            </a:extLst>
          </p:cNvPr>
          <p:cNvSpPr/>
          <p:nvPr/>
        </p:nvSpPr>
        <p:spPr>
          <a:xfrm>
            <a:off x="2877748" y="953823"/>
            <a:ext cx="6436504" cy="101566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</a:t>
            </a:r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介电常数？</a:t>
            </a:r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039938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 descr="段落内容1">
            <a:extLst>
              <a:ext uri="{FF2B5EF4-FFF2-40B4-BE49-F238E27FC236}">
                <a16:creationId xmlns:a16="http://schemas.microsoft.com/office/drawing/2014/main" id="{99CE844E-42A7-43D9-B9C9-116CABEFA5C6}"/>
              </a:ext>
            </a:extLst>
          </p:cNvPr>
          <p:cNvSpPr/>
          <p:nvPr/>
        </p:nvSpPr>
        <p:spPr>
          <a:xfrm>
            <a:off x="2877748" y="953823"/>
            <a:ext cx="6436504" cy="101566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</a:t>
            </a:r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介电常数？</a:t>
            </a:r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 descr="段落内容1">
            <a:extLst>
              <a:ext uri="{FF2B5EF4-FFF2-40B4-BE49-F238E27FC236}">
                <a16:creationId xmlns:a16="http://schemas.microsoft.com/office/drawing/2014/main" id="{8D9B78A3-EA79-4A80-9686-8D1F0E1C5E6B}"/>
              </a:ext>
            </a:extLst>
          </p:cNvPr>
          <p:cNvSpPr/>
          <p:nvPr/>
        </p:nvSpPr>
        <p:spPr>
          <a:xfrm>
            <a:off x="3251200" y="2705725"/>
            <a:ext cx="5689600" cy="1446550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8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越大越好</a:t>
            </a:r>
            <a:r>
              <a:rPr lang="zh-CN" altLang="en-US" sz="88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altLang="zh-CN" sz="8800" spc="30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072827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 descr="段落内容1">
            <a:extLst>
              <a:ext uri="{FF2B5EF4-FFF2-40B4-BE49-F238E27FC236}">
                <a16:creationId xmlns:a16="http://schemas.microsoft.com/office/drawing/2014/main" id="{99CE844E-42A7-43D9-B9C9-116CABEFA5C6}"/>
              </a:ext>
            </a:extLst>
          </p:cNvPr>
          <p:cNvSpPr/>
          <p:nvPr/>
        </p:nvSpPr>
        <p:spPr>
          <a:xfrm>
            <a:off x="2877748" y="953823"/>
            <a:ext cx="6436504" cy="101566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</a:t>
            </a:r>
            <a:r>
              <a:rPr lang="zh-CN" altLang="en-US" sz="6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介电常数？</a:t>
            </a:r>
            <a:endParaRPr lang="en-US" altLang="zh-CN" sz="6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 descr="段落内容1">
            <a:extLst>
              <a:ext uri="{FF2B5EF4-FFF2-40B4-BE49-F238E27FC236}">
                <a16:creationId xmlns:a16="http://schemas.microsoft.com/office/drawing/2014/main" id="{8D9B78A3-EA79-4A80-9686-8D1F0E1C5E6B}"/>
              </a:ext>
            </a:extLst>
          </p:cNvPr>
          <p:cNvSpPr/>
          <p:nvPr/>
        </p:nvSpPr>
        <p:spPr>
          <a:xfrm>
            <a:off x="3251200" y="2705725"/>
            <a:ext cx="5689600" cy="1446550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8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越大越好</a:t>
            </a:r>
            <a:r>
              <a:rPr lang="zh-CN" altLang="en-US" sz="88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altLang="zh-CN" sz="8800" spc="30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05315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A9E5F47-8B3D-4C65-99D2-5735AC05BD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470" y="1694286"/>
            <a:ext cx="5661998" cy="3142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2078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A9E5F47-8B3D-4C65-99D2-5735AC05BD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470" y="1694286"/>
            <a:ext cx="5661998" cy="3142409"/>
          </a:xfrm>
          <a:prstGeom prst="rect">
            <a:avLst/>
          </a:prstGeom>
        </p:spPr>
      </p:pic>
      <p:sp>
        <p:nvSpPr>
          <p:cNvPr id="3" name="矩形 2" descr="段落内容1">
            <a:extLst>
              <a:ext uri="{FF2B5EF4-FFF2-40B4-BE49-F238E27FC236}">
                <a16:creationId xmlns:a16="http://schemas.microsoft.com/office/drawing/2014/main" id="{38258608-AB54-4E23-A413-677AA2DE64DF}"/>
              </a:ext>
            </a:extLst>
          </p:cNvPr>
          <p:cNvSpPr/>
          <p:nvPr/>
        </p:nvSpPr>
        <p:spPr>
          <a:xfrm>
            <a:off x="6980516" y="2045013"/>
            <a:ext cx="4678084" cy="1781385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sz="2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介电常数大的，稳定性</a:t>
            </a:r>
            <a:r>
              <a:rPr lang="zh-CN" altLang="en-US" sz="24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差</a:t>
            </a:r>
            <a:endParaRPr lang="en-US" altLang="zh-CN" sz="2400" spc="30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50000"/>
              </a:lnSpc>
            </a:pPr>
            <a:r>
              <a:rPr lang="zh-CN" altLang="en-US" sz="2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稳定性好的，介电常数</a:t>
            </a:r>
            <a:r>
              <a:rPr lang="zh-CN" altLang="en-US" sz="24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不高</a:t>
            </a:r>
            <a:endParaRPr lang="en-US" altLang="zh-CN" sz="2400" spc="30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484920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1841416-2AA3-4966-9D24-A5A1A6622E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762" y="1072881"/>
            <a:ext cx="10934476" cy="4712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4104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0954297-43EF-4957-809B-1A0D69218C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8575" y="881063"/>
            <a:ext cx="4514850" cy="509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7706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 descr="段落内容1">
            <a:extLst>
              <a:ext uri="{FF2B5EF4-FFF2-40B4-BE49-F238E27FC236}">
                <a16:creationId xmlns:a16="http://schemas.microsoft.com/office/drawing/2014/main" id="{D033BBA2-839D-4C80-9CDF-E7C88C6B6C85}"/>
              </a:ext>
            </a:extLst>
          </p:cNvPr>
          <p:cNvSpPr/>
          <p:nvPr/>
        </p:nvSpPr>
        <p:spPr>
          <a:xfrm>
            <a:off x="1259306" y="2705725"/>
            <a:ext cx="10579768" cy="1200329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72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C0G</a:t>
            </a:r>
            <a:r>
              <a:rPr lang="en-US" altLang="zh-CN" sz="72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=NP</a:t>
            </a:r>
            <a:r>
              <a:rPr lang="en-US" altLang="zh-CN" sz="72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72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=NP</a:t>
            </a:r>
            <a:r>
              <a:rPr lang="en-US" altLang="zh-CN" sz="72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  <a:endParaRPr lang="en-US" altLang="zh-CN" sz="72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65160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DBD036A-A229-4DBD-9EE0-7EFB3284CB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5102" y="1365585"/>
            <a:ext cx="7321796" cy="4126831"/>
          </a:xfrm>
          <a:prstGeom prst="rect">
            <a:avLst/>
          </a:prstGeom>
        </p:spPr>
      </p:pic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3BF83516-CC37-415C-BD93-52DBE249BE80}"/>
              </a:ext>
            </a:extLst>
          </p:cNvPr>
          <p:cNvSpPr/>
          <p:nvPr/>
        </p:nvSpPr>
        <p:spPr>
          <a:xfrm>
            <a:off x="573506" y="4292086"/>
            <a:ext cx="105797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72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小强？</a:t>
            </a:r>
            <a:endParaRPr lang="en-US" altLang="zh-CN" sz="72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514854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 descr="段落内容1">
            <a:extLst>
              <a:ext uri="{FF2B5EF4-FFF2-40B4-BE49-F238E27FC236}">
                <a16:creationId xmlns:a16="http://schemas.microsoft.com/office/drawing/2014/main" id="{2F72C612-EFFC-45E9-93A5-1F8E78EE5D2F}"/>
              </a:ext>
            </a:extLst>
          </p:cNvPr>
          <p:cNvSpPr/>
          <p:nvPr/>
        </p:nvSpPr>
        <p:spPr>
          <a:xfrm>
            <a:off x="1698458" y="1505910"/>
            <a:ext cx="8795084" cy="384618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48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C0G</a:t>
            </a:r>
            <a:r>
              <a:rPr lang="en-US" altLang="zh-CN" sz="4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=NP</a:t>
            </a:r>
            <a:r>
              <a:rPr lang="en-US" altLang="zh-CN" sz="48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4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=NP</a:t>
            </a:r>
            <a:r>
              <a:rPr lang="en-US" altLang="zh-CN" sz="48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</a:p>
          <a:p>
            <a:pPr>
              <a:lnSpc>
                <a:spcPct val="200000"/>
              </a:lnSpc>
            </a:pPr>
            <a:r>
              <a:rPr lang="zh-CN" altLang="en-US" sz="4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氧化钛</a:t>
            </a:r>
            <a:r>
              <a:rPr lang="en-US" altLang="zh-CN" sz="4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TiO2   or   </a:t>
            </a:r>
            <a:r>
              <a:rPr lang="zh-CN" altLang="en-US" sz="4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锆酸钙</a:t>
            </a:r>
            <a:r>
              <a:rPr lang="en-US" altLang="zh-CN" sz="4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CaZrO3</a:t>
            </a:r>
          </a:p>
          <a:p>
            <a:pPr>
              <a:lnSpc>
                <a:spcPct val="200000"/>
              </a:lnSpc>
            </a:pPr>
            <a:r>
              <a:rPr lang="zh-CN" altLang="en-US" sz="4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介电常数：</a:t>
            </a:r>
            <a:r>
              <a:rPr lang="en-US" altLang="zh-CN" sz="40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20~300</a:t>
            </a:r>
          </a:p>
        </p:txBody>
      </p:sp>
    </p:spTree>
    <p:extLst>
      <p:ext uri="{BB962C8B-B14F-4D97-AF65-F5344CB8AC3E}">
        <p14:creationId xmlns:p14="http://schemas.microsoft.com/office/powerpoint/2010/main" val="10130522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 descr="段落内容1">
            <a:extLst>
              <a:ext uri="{FF2B5EF4-FFF2-40B4-BE49-F238E27FC236}">
                <a16:creationId xmlns:a16="http://schemas.microsoft.com/office/drawing/2014/main" id="{2F72C612-EFFC-45E9-93A5-1F8E78EE5D2F}"/>
              </a:ext>
            </a:extLst>
          </p:cNvPr>
          <p:cNvSpPr/>
          <p:nvPr/>
        </p:nvSpPr>
        <p:spPr>
          <a:xfrm>
            <a:off x="2361198" y="1278251"/>
            <a:ext cx="7469605" cy="4301499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4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X7R</a:t>
            </a:r>
            <a:r>
              <a:rPr lang="zh-CN" altLang="en-US" sz="4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4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X5R</a:t>
            </a:r>
            <a:r>
              <a:rPr lang="zh-CN" altLang="en-US" sz="4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4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Y5V</a:t>
            </a:r>
            <a:r>
              <a:rPr lang="zh-CN" altLang="en-US" sz="4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4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Z5U</a:t>
            </a:r>
          </a:p>
          <a:p>
            <a:pPr>
              <a:lnSpc>
                <a:spcPct val="200000"/>
              </a:lnSpc>
            </a:pPr>
            <a:r>
              <a:rPr lang="zh-CN" altLang="en-US" sz="4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钛酸钡</a:t>
            </a:r>
            <a:endParaRPr lang="en-US" altLang="zh-CN" sz="48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4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介电常数</a:t>
            </a:r>
            <a:r>
              <a:rPr lang="en-US" altLang="zh-CN" sz="4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CN" sz="48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1000~20000</a:t>
            </a:r>
            <a:endParaRPr lang="en-US" altLang="zh-CN" sz="4000" spc="30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079288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 descr="段落内容1">
            <a:extLst>
              <a:ext uri="{FF2B5EF4-FFF2-40B4-BE49-F238E27FC236}">
                <a16:creationId xmlns:a16="http://schemas.microsoft.com/office/drawing/2014/main" id="{2F72C612-EFFC-45E9-93A5-1F8E78EE5D2F}"/>
              </a:ext>
            </a:extLst>
          </p:cNvPr>
          <p:cNvSpPr/>
          <p:nvPr/>
        </p:nvSpPr>
        <p:spPr>
          <a:xfrm>
            <a:off x="2361198" y="1278251"/>
            <a:ext cx="7469605" cy="4301499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4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X7R</a:t>
            </a:r>
            <a:r>
              <a:rPr lang="zh-CN" altLang="en-US" sz="4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4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X5R</a:t>
            </a:r>
            <a:r>
              <a:rPr lang="zh-CN" altLang="en-US" sz="4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4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Y5V</a:t>
            </a:r>
            <a:r>
              <a:rPr lang="zh-CN" altLang="en-US" sz="4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4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Z5U</a:t>
            </a:r>
          </a:p>
          <a:p>
            <a:pPr>
              <a:lnSpc>
                <a:spcPct val="200000"/>
              </a:lnSpc>
            </a:pPr>
            <a:r>
              <a:rPr lang="zh-CN" altLang="en-US" sz="4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钛酸钡</a:t>
            </a:r>
            <a:endParaRPr lang="en-US" altLang="zh-CN" sz="48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4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介电常数</a:t>
            </a:r>
            <a:r>
              <a:rPr lang="en-US" altLang="zh-CN" sz="4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CN" sz="48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1000~20000</a:t>
            </a:r>
            <a:endParaRPr lang="en-US" altLang="zh-CN" sz="4000" spc="30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140126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C9D9A3ED-9690-4E68-930B-11696B5828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855" y="1486787"/>
            <a:ext cx="8950291" cy="388442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9DA25DD8-F5D5-4FA6-9E5A-BB5380D4104E}"/>
              </a:ext>
            </a:extLst>
          </p:cNvPr>
          <p:cNvSpPr/>
          <p:nvPr/>
        </p:nvSpPr>
        <p:spPr>
          <a:xfrm>
            <a:off x="934453" y="4259558"/>
            <a:ext cx="1057976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减小叠层间距</a:t>
            </a:r>
            <a:endParaRPr lang="en-US" altLang="zh-CN" sz="6000" spc="3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243099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0D215D0B-FED1-4281-8E34-84ACC8B04941}"/>
              </a:ext>
            </a:extLst>
          </p:cNvPr>
          <p:cNvGrpSpPr/>
          <p:nvPr/>
        </p:nvGrpSpPr>
        <p:grpSpPr>
          <a:xfrm>
            <a:off x="2758645" y="1190254"/>
            <a:ext cx="6674711" cy="4477493"/>
            <a:chOff x="2104463" y="1190253"/>
            <a:chExt cx="6674711" cy="4477493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8B211AD4-45B8-4403-876C-473195CD2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80454" y="1190253"/>
              <a:ext cx="5798720" cy="4477493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79DB9953-2FD9-498F-8A29-ADB5F569A3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365" r="31323"/>
            <a:stretch>
              <a:fillRect/>
            </a:stretch>
          </p:blipFill>
          <p:spPr>
            <a:xfrm>
              <a:off x="2104463" y="1190253"/>
              <a:ext cx="2836908" cy="4477492"/>
            </a:xfrm>
            <a:custGeom>
              <a:avLst/>
              <a:gdLst>
                <a:gd name="connsiteX0" fmla="*/ 0 w 1792705"/>
                <a:gd name="connsiteY0" fmla="*/ 0 h 2829427"/>
                <a:gd name="connsiteX1" fmla="*/ 1792705 w 1792705"/>
                <a:gd name="connsiteY1" fmla="*/ 0 h 2829427"/>
                <a:gd name="connsiteX2" fmla="*/ 1792705 w 1792705"/>
                <a:gd name="connsiteY2" fmla="*/ 2829427 h 2829427"/>
                <a:gd name="connsiteX3" fmla="*/ 0 w 1792705"/>
                <a:gd name="connsiteY3" fmla="*/ 2829427 h 2829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92705" h="2829427">
                  <a:moveTo>
                    <a:pt x="0" y="0"/>
                  </a:moveTo>
                  <a:lnTo>
                    <a:pt x="1792705" y="0"/>
                  </a:lnTo>
                  <a:lnTo>
                    <a:pt x="1792705" y="2829427"/>
                  </a:lnTo>
                  <a:lnTo>
                    <a:pt x="0" y="2829427"/>
                  </a:ln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2358769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 descr="段落内容1">
            <a:extLst>
              <a:ext uri="{FF2B5EF4-FFF2-40B4-BE49-F238E27FC236}">
                <a16:creationId xmlns:a16="http://schemas.microsoft.com/office/drawing/2014/main" id="{65D65637-A8FA-4A81-9E4F-722B7F56476B}"/>
              </a:ext>
            </a:extLst>
          </p:cNvPr>
          <p:cNvSpPr/>
          <p:nvPr/>
        </p:nvSpPr>
        <p:spPr>
          <a:xfrm>
            <a:off x="1999248" y="2002007"/>
            <a:ext cx="8193505" cy="2853986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72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额定</a:t>
            </a:r>
            <a:r>
              <a:rPr lang="zh-CN" altLang="en-US" sz="72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电压高</a:t>
            </a:r>
            <a:endParaRPr lang="en-US" altLang="zh-CN" sz="7200" spc="30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5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造成叠层</a:t>
            </a:r>
            <a:r>
              <a:rPr lang="zh-CN" altLang="en-US" sz="54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间距大</a:t>
            </a:r>
            <a:r>
              <a:rPr lang="zh-CN" altLang="en-US" sz="5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54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体积大</a:t>
            </a:r>
            <a:endParaRPr lang="en-US" altLang="zh-CN" sz="5400" spc="30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532729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5BA1847-93B7-40DE-8483-B60E5E9E7B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450" y="1187450"/>
            <a:ext cx="4483100" cy="448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188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</TotalTime>
  <Words>262</Words>
  <Application>Microsoft Office PowerPoint</Application>
  <PresentationFormat>宽屏</PresentationFormat>
  <Paragraphs>42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5" baseType="lpstr">
      <vt:lpstr>等线</vt:lpstr>
      <vt:lpstr>等线 Light</vt:lpstr>
      <vt:lpstr>微软雅黑</vt:lpstr>
      <vt:lpstr>微软雅黑 Light</vt:lpstr>
      <vt:lpstr>Arial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wuxiaochuan</dc:creator>
  <cp:lastModifiedBy>wuxiaochuan</cp:lastModifiedBy>
  <cp:revision>34</cp:revision>
  <dcterms:created xsi:type="dcterms:W3CDTF">2020-06-10T12:57:46Z</dcterms:created>
  <dcterms:modified xsi:type="dcterms:W3CDTF">2020-06-23T14:21:03Z</dcterms:modified>
</cp:coreProperties>
</file>