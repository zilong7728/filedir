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436" r:id="rId3"/>
    <p:sldId id="430" r:id="rId4"/>
    <p:sldId id="432" r:id="rId5"/>
    <p:sldId id="433" r:id="rId6"/>
    <p:sldId id="437" r:id="rId7"/>
    <p:sldId id="431" r:id="rId8"/>
    <p:sldId id="438" r:id="rId9"/>
    <p:sldId id="435" r:id="rId10"/>
    <p:sldId id="434" r:id="rId11"/>
    <p:sldId id="440" r:id="rId12"/>
    <p:sldId id="441" r:id="rId13"/>
    <p:sldId id="442" r:id="rId14"/>
    <p:sldId id="443" r:id="rId15"/>
    <p:sldId id="444" r:id="rId16"/>
    <p:sldId id="445" r:id="rId17"/>
    <p:sldId id="446" r:id="rId18"/>
    <p:sldId id="447" r:id="rId19"/>
    <p:sldId id="448" r:id="rId20"/>
    <p:sldId id="451" r:id="rId21"/>
    <p:sldId id="429" r:id="rId22"/>
    <p:sldId id="454" r:id="rId23"/>
    <p:sldId id="453" r:id="rId24"/>
    <p:sldId id="346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2025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25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E44E49-B0D9-4706-868B-5889D3A25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F8D9918-3AB5-4BE3-90EF-F94FC2A87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73703E-3322-40FC-8787-F3E20C230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D650DC-A624-456A-A126-B8F1F838B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546143-118A-4A28-8A19-6BC35F44E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82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E0BB6C-6ABB-4B2B-9725-FDC1BE9C9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146B91-7420-456E-BD98-D8ABE75E3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BB58B1-8F09-450C-886D-B47496AE9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3293CC-1DA1-4CD5-8322-6C20B1B02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1A5435-AD74-4105-9E5C-18D1B172A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820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E6B85F-D98C-4A1B-9F13-1F87A1148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8E2CFF-03E8-414C-AABD-26898041A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B2FCD8-1483-4FAC-8377-81D0AF500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A6A4E9-0DA6-4AEF-941B-DE110A13A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71F056-9F80-4735-98FC-FB9414495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530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F580BD-B975-4AF9-9F57-5CBC534EE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25B173-E218-4879-8704-52E0ED008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82506D-508D-4CA9-A154-F079308E8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C18ABC-C9B1-4830-8AD2-83CC9E5BB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4C9BCA-8CC4-44E9-97B8-AAD3C5EF2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C2B09C-B6F7-47C1-BEBB-2E3C84262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847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2B039D-81CB-4899-AA9C-3B180993B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298E01-7DCE-4427-9379-27DC59548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7B538C-7788-45CF-996C-6D3EB2E17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49C056-9795-4D8F-A4CE-B639129FA8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0C1D8B3-B497-4940-A742-1AF75D447A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8343125-6FA6-4950-8FE3-FDB5A2882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0303CE0-CE25-473A-B5E4-2FA0BB0CA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3AD48A5-C5FC-4EC0-B676-A9B7CC19A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49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8373AB-BBBC-4686-89C0-63CAB85C4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98F6D2-F4E4-47AF-93A0-9DF6A649D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44BCB8-8294-4E7D-AAD5-C1BBB21A6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6F6B71C-9DFD-4420-BFB0-76438F071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076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5399917-3CB4-491C-9473-890DB8B75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84501C-9879-44AD-A3B9-85E3E84D1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9C6F50-07D4-487A-956A-C292F5E7A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350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DD4130-3573-4C55-A6D0-028F1CDA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60FE88-9209-4A5D-939C-862D68A89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A9C650-6D5F-437D-BFD2-1A0D82E68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88E517-402D-4380-B17B-35ABBD9FC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D383A3-7C92-4A5D-97F9-5313A829B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4A4F65-D1B8-4A2C-A062-41BDB28C6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392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3709C-F489-4048-AEB8-663258EDE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9A4C458-F1BC-44FE-90B6-954DDCB152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4AF3892-E433-45AD-A948-2237EE65A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E72DE0-09AA-48CB-AC0E-D768EA13A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7BD1EF-F7AA-4B75-AA5A-1C34962B5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8795F0-787D-450E-961D-26A2CEAE9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745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E3B332-42A7-4B0D-90B8-4A68F4D57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32AC77-0820-4B8F-8819-296149ECA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069B8D-6B48-4BB1-BABF-B8B945A49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032B04-6BE0-4722-8D9D-4C460EE43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52181D-D509-4B8D-822E-128878FB9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346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97586C-AC2A-4FC5-A48D-4AA27BA948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9EBCCB-6E4E-43EF-95E4-BA1C7B9C2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06CA1E-3FDB-4E81-A86E-D7907DA2D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6831A7-33CF-4637-835A-4AE4D272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C11E3D-8B94-4F61-AA6B-E71FAD6D0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727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3A36F2-E160-491C-94CD-186B2ECDC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6E8900-3692-4DEF-8886-461D1A35D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5D4E82-7023-40EA-BEB0-D75ED39443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2A7DE3-7461-4351-842C-02EB77888246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8B27E6-965C-4D6B-9F9F-A4F41511D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84CF8E-8B64-46AC-8247-5696965B3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1745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FDA2538-8E03-4E84-8429-1E03C4386C4C}"/>
              </a:ext>
            </a:extLst>
          </p:cNvPr>
          <p:cNvSpPr txBox="1"/>
          <p:nvPr/>
        </p:nvSpPr>
        <p:spPr>
          <a:xfrm>
            <a:off x="2124406" y="907480"/>
            <a:ext cx="10089336" cy="4440062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6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C0G</a:t>
            </a:r>
            <a:r>
              <a:rPr lang="zh-CN" altLang="en-US" sz="6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</a:t>
            </a:r>
            <a:r>
              <a:rPr lang="en-US" altLang="zh-CN" sz="6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X7R</a:t>
            </a:r>
            <a:r>
              <a:rPr lang="zh-CN" altLang="en-US" sz="6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</a:t>
            </a:r>
            <a:r>
              <a:rPr lang="en-US" altLang="zh-CN" sz="6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X5R</a:t>
            </a:r>
            <a:r>
              <a:rPr lang="zh-CN" altLang="en-US" sz="6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</a:t>
            </a:r>
            <a:r>
              <a:rPr lang="en-US" altLang="zh-CN" sz="6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Y5V</a:t>
            </a:r>
          </a:p>
          <a:p>
            <a:pPr algn="ctr">
              <a:lnSpc>
                <a:spcPct val="150000"/>
              </a:lnSpc>
            </a:pPr>
            <a:r>
              <a:rPr lang="zh-CN" altLang="en-US" sz="138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有啥区别</a:t>
            </a:r>
            <a:r>
              <a:rPr lang="en-US" altLang="zh-CN" sz="138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?</a:t>
            </a:r>
            <a:endParaRPr lang="zh-CN" altLang="en-US" sz="138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4159F12-E2A3-428F-A1D8-2EA9D14BB398}"/>
              </a:ext>
            </a:extLst>
          </p:cNvPr>
          <p:cNvGrpSpPr/>
          <p:nvPr/>
        </p:nvGrpSpPr>
        <p:grpSpPr>
          <a:xfrm>
            <a:off x="199815" y="1099658"/>
            <a:ext cx="2990143" cy="4658684"/>
            <a:chOff x="5002213" y="896938"/>
            <a:chExt cx="574674" cy="895350"/>
          </a:xfrm>
        </p:grpSpPr>
        <p:sp>
          <p:nvSpPr>
            <p:cNvPr id="4" name="Freeform 190">
              <a:extLst>
                <a:ext uri="{FF2B5EF4-FFF2-40B4-BE49-F238E27FC236}">
                  <a16:creationId xmlns:a16="http://schemas.microsoft.com/office/drawing/2014/main" id="{31726431-FA4A-476E-8C72-71C6D8205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4138" y="1608138"/>
              <a:ext cx="400050" cy="184150"/>
            </a:xfrm>
            <a:custGeom>
              <a:avLst/>
              <a:gdLst>
                <a:gd name="T0" fmla="*/ 0 w 128"/>
                <a:gd name="T1" fmla="*/ 59 h 59"/>
                <a:gd name="T2" fmla="*/ 64 w 128"/>
                <a:gd name="T3" fmla="*/ 0 h 59"/>
                <a:gd name="T4" fmla="*/ 128 w 128"/>
                <a:gd name="T5" fmla="*/ 59 h 59"/>
                <a:gd name="T6" fmla="*/ 0 w 128"/>
                <a:gd name="T7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8" h="59">
                  <a:moveTo>
                    <a:pt x="0" y="59"/>
                  </a:moveTo>
                  <a:cubicBezTo>
                    <a:pt x="0" y="27"/>
                    <a:pt x="29" y="0"/>
                    <a:pt x="64" y="0"/>
                  </a:cubicBezTo>
                  <a:cubicBezTo>
                    <a:pt x="99" y="0"/>
                    <a:pt x="128" y="27"/>
                    <a:pt x="128" y="59"/>
                  </a:cubicBezTo>
                  <a:lnTo>
                    <a:pt x="0" y="59"/>
                  </a:lnTo>
                  <a:close/>
                </a:path>
              </a:pathLst>
            </a:custGeom>
            <a:solidFill>
              <a:srgbClr val="193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" name="Oval 191">
              <a:extLst>
                <a:ext uri="{FF2B5EF4-FFF2-40B4-BE49-F238E27FC236}">
                  <a16:creationId xmlns:a16="http://schemas.microsoft.com/office/drawing/2014/main" id="{9DD6CC7C-7808-429C-BB23-34E4B886D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3025" y="1414463"/>
              <a:ext cx="68262" cy="1031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Oval 192">
              <a:extLst>
                <a:ext uri="{FF2B5EF4-FFF2-40B4-BE49-F238E27FC236}">
                  <a16:creationId xmlns:a16="http://schemas.microsoft.com/office/drawing/2014/main" id="{E56BA5D6-9632-4E43-9F6F-9E8927329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8625" y="1414463"/>
              <a:ext cx="68262" cy="1031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Oval 193">
              <a:extLst>
                <a:ext uri="{FF2B5EF4-FFF2-40B4-BE49-F238E27FC236}">
                  <a16:creationId xmlns:a16="http://schemas.microsoft.com/office/drawing/2014/main" id="{F3128A60-6022-46AD-B70D-E66C8938D7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6838" y="1211263"/>
              <a:ext cx="374650" cy="4349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194">
              <a:extLst>
                <a:ext uri="{FF2B5EF4-FFF2-40B4-BE49-F238E27FC236}">
                  <a16:creationId xmlns:a16="http://schemas.microsoft.com/office/drawing/2014/main" id="{B5F71F44-E3A9-4300-8B21-50CFF42344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6200" y="1187451"/>
              <a:ext cx="220662" cy="223838"/>
            </a:xfrm>
            <a:custGeom>
              <a:avLst/>
              <a:gdLst>
                <a:gd name="T0" fmla="*/ 64 w 71"/>
                <a:gd name="T1" fmla="*/ 11 h 72"/>
                <a:gd name="T2" fmla="*/ 49 w 71"/>
                <a:gd name="T3" fmla="*/ 56 h 72"/>
                <a:gd name="T4" fmla="*/ 7 w 71"/>
                <a:gd name="T5" fmla="*/ 61 h 72"/>
                <a:gd name="T6" fmla="*/ 23 w 71"/>
                <a:gd name="T7" fmla="*/ 16 h 72"/>
                <a:gd name="T8" fmla="*/ 64 w 71"/>
                <a:gd name="T9" fmla="*/ 11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72">
                  <a:moveTo>
                    <a:pt x="64" y="11"/>
                  </a:moveTo>
                  <a:cubicBezTo>
                    <a:pt x="71" y="22"/>
                    <a:pt x="64" y="42"/>
                    <a:pt x="49" y="56"/>
                  </a:cubicBezTo>
                  <a:cubicBezTo>
                    <a:pt x="33" y="70"/>
                    <a:pt x="15" y="72"/>
                    <a:pt x="7" y="61"/>
                  </a:cubicBezTo>
                  <a:cubicBezTo>
                    <a:pt x="0" y="50"/>
                    <a:pt x="7" y="30"/>
                    <a:pt x="23" y="16"/>
                  </a:cubicBezTo>
                  <a:cubicBezTo>
                    <a:pt x="38" y="3"/>
                    <a:pt x="57" y="0"/>
                    <a:pt x="64" y="11"/>
                  </a:cubicBezTo>
                  <a:close/>
                </a:path>
              </a:pathLst>
            </a:custGeom>
            <a:solidFill>
              <a:srgbClr val="193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195">
              <a:extLst>
                <a:ext uri="{FF2B5EF4-FFF2-40B4-BE49-F238E27FC236}">
                  <a16:creationId xmlns:a16="http://schemas.microsoft.com/office/drawing/2014/main" id="{E305674D-89CB-4258-9DA6-AA79F42DA55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7325" y="1168401"/>
              <a:ext cx="303212" cy="236538"/>
            </a:xfrm>
            <a:custGeom>
              <a:avLst/>
              <a:gdLst>
                <a:gd name="T0" fmla="*/ 94 w 97"/>
                <a:gd name="T1" fmla="*/ 50 h 76"/>
                <a:gd name="T2" fmla="*/ 42 w 97"/>
                <a:gd name="T3" fmla="*/ 70 h 76"/>
                <a:gd name="T4" fmla="*/ 3 w 97"/>
                <a:gd name="T5" fmla="*/ 26 h 76"/>
                <a:gd name="T6" fmla="*/ 55 w 97"/>
                <a:gd name="T7" fmla="*/ 6 h 76"/>
                <a:gd name="T8" fmla="*/ 94 w 97"/>
                <a:gd name="T9" fmla="*/ 5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76">
                  <a:moveTo>
                    <a:pt x="94" y="50"/>
                  </a:moveTo>
                  <a:cubicBezTo>
                    <a:pt x="90" y="67"/>
                    <a:pt x="67" y="76"/>
                    <a:pt x="42" y="70"/>
                  </a:cubicBezTo>
                  <a:cubicBezTo>
                    <a:pt x="17" y="63"/>
                    <a:pt x="0" y="44"/>
                    <a:pt x="3" y="26"/>
                  </a:cubicBezTo>
                  <a:cubicBezTo>
                    <a:pt x="6" y="9"/>
                    <a:pt x="30" y="0"/>
                    <a:pt x="55" y="6"/>
                  </a:cubicBezTo>
                  <a:cubicBezTo>
                    <a:pt x="80" y="13"/>
                    <a:pt x="97" y="32"/>
                    <a:pt x="94" y="50"/>
                  </a:cubicBezTo>
                  <a:close/>
                </a:path>
              </a:pathLst>
            </a:custGeom>
            <a:solidFill>
              <a:srgbClr val="193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Rectangle 196">
              <a:extLst>
                <a:ext uri="{FF2B5EF4-FFF2-40B4-BE49-F238E27FC236}">
                  <a16:creationId xmlns:a16="http://schemas.microsoft.com/office/drawing/2014/main" id="{AD79EC26-B3E1-4E8F-BBE6-F9B83EC79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7313" y="1346201"/>
              <a:ext cx="50800" cy="106363"/>
            </a:xfrm>
            <a:prstGeom prst="rect">
              <a:avLst/>
            </a:prstGeom>
            <a:solidFill>
              <a:srgbClr val="193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Rectangle 197">
              <a:extLst>
                <a:ext uri="{FF2B5EF4-FFF2-40B4-BE49-F238E27FC236}">
                  <a16:creationId xmlns:a16="http://schemas.microsoft.com/office/drawing/2014/main" id="{E015C6E2-11D9-4F40-8AC2-4016C7253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1800" y="1314451"/>
              <a:ext cx="49212" cy="138113"/>
            </a:xfrm>
            <a:prstGeom prst="rect">
              <a:avLst/>
            </a:prstGeom>
            <a:solidFill>
              <a:srgbClr val="193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Oval 198">
              <a:extLst>
                <a:ext uri="{FF2B5EF4-FFF2-40B4-BE49-F238E27FC236}">
                  <a16:creationId xmlns:a16="http://schemas.microsoft.com/office/drawing/2014/main" id="{F45034AE-76D5-4F36-82CF-2D2FAAB868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2213" y="896938"/>
              <a:ext cx="412750" cy="4111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99">
              <a:extLst>
                <a:ext uri="{FF2B5EF4-FFF2-40B4-BE49-F238E27FC236}">
                  <a16:creationId xmlns:a16="http://schemas.microsoft.com/office/drawing/2014/main" id="{3E081C8E-8B1C-4078-86FD-E6FE23D4A8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53025" y="990601"/>
              <a:ext cx="114300" cy="220663"/>
            </a:xfrm>
            <a:custGeom>
              <a:avLst/>
              <a:gdLst>
                <a:gd name="T0" fmla="*/ 37 w 37"/>
                <a:gd name="T1" fmla="*/ 16 h 71"/>
                <a:gd name="T2" fmla="*/ 25 w 37"/>
                <a:gd name="T3" fmla="*/ 42 h 71"/>
                <a:gd name="T4" fmla="*/ 25 w 37"/>
                <a:gd name="T5" fmla="*/ 51 h 71"/>
                <a:gd name="T6" fmla="*/ 12 w 37"/>
                <a:gd name="T7" fmla="*/ 51 h 71"/>
                <a:gd name="T8" fmla="*/ 12 w 37"/>
                <a:gd name="T9" fmla="*/ 44 h 71"/>
                <a:gd name="T10" fmla="*/ 24 w 37"/>
                <a:gd name="T11" fmla="*/ 16 h 71"/>
                <a:gd name="T12" fmla="*/ 18 w 37"/>
                <a:gd name="T13" fmla="*/ 10 h 71"/>
                <a:gd name="T14" fmla="*/ 13 w 37"/>
                <a:gd name="T15" fmla="*/ 18 h 71"/>
                <a:gd name="T16" fmla="*/ 13 w 37"/>
                <a:gd name="T17" fmla="*/ 21 h 71"/>
                <a:gd name="T18" fmla="*/ 0 w 37"/>
                <a:gd name="T19" fmla="*/ 21 h 71"/>
                <a:gd name="T20" fmla="*/ 0 w 37"/>
                <a:gd name="T21" fmla="*/ 16 h 71"/>
                <a:gd name="T22" fmla="*/ 18 w 37"/>
                <a:gd name="T23" fmla="*/ 0 h 71"/>
                <a:gd name="T24" fmla="*/ 37 w 37"/>
                <a:gd name="T25" fmla="*/ 16 h 71"/>
                <a:gd name="T26" fmla="*/ 12 w 37"/>
                <a:gd name="T27" fmla="*/ 59 h 71"/>
                <a:gd name="T28" fmla="*/ 25 w 37"/>
                <a:gd name="T29" fmla="*/ 59 h 71"/>
                <a:gd name="T30" fmla="*/ 25 w 37"/>
                <a:gd name="T31" fmla="*/ 71 h 71"/>
                <a:gd name="T32" fmla="*/ 12 w 37"/>
                <a:gd name="T33" fmla="*/ 71 h 71"/>
                <a:gd name="T34" fmla="*/ 12 w 37"/>
                <a:gd name="T35" fmla="*/ 59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" h="71">
                  <a:moveTo>
                    <a:pt x="37" y="16"/>
                  </a:moveTo>
                  <a:cubicBezTo>
                    <a:pt x="37" y="29"/>
                    <a:pt x="25" y="30"/>
                    <a:pt x="25" y="42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12" y="51"/>
                    <a:pt x="12" y="51"/>
                    <a:pt x="12" y="51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27"/>
                    <a:pt x="24" y="24"/>
                    <a:pt x="24" y="16"/>
                  </a:cubicBezTo>
                  <a:cubicBezTo>
                    <a:pt x="24" y="12"/>
                    <a:pt x="21" y="10"/>
                    <a:pt x="18" y="10"/>
                  </a:cubicBezTo>
                  <a:cubicBezTo>
                    <a:pt x="15" y="10"/>
                    <a:pt x="13" y="13"/>
                    <a:pt x="13" y="18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6"/>
                    <a:pt x="8" y="0"/>
                    <a:pt x="18" y="0"/>
                  </a:cubicBezTo>
                  <a:cubicBezTo>
                    <a:pt x="29" y="0"/>
                    <a:pt x="37" y="6"/>
                    <a:pt x="37" y="16"/>
                  </a:cubicBezTo>
                  <a:close/>
                  <a:moveTo>
                    <a:pt x="12" y="59"/>
                  </a:moveTo>
                  <a:cubicBezTo>
                    <a:pt x="25" y="59"/>
                    <a:pt x="25" y="59"/>
                    <a:pt x="25" y="59"/>
                  </a:cubicBezTo>
                  <a:cubicBezTo>
                    <a:pt x="25" y="71"/>
                    <a:pt x="25" y="71"/>
                    <a:pt x="25" y="71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2" y="59"/>
                  </a:lnTo>
                  <a:close/>
                </a:path>
              </a:pathLst>
            </a:custGeom>
            <a:solidFill>
              <a:srgbClr val="193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54951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1664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1A47E854-A908-4C85-9A3C-A28D3D4A8889}"/>
              </a:ext>
            </a:extLst>
          </p:cNvPr>
          <p:cNvGrpSpPr/>
          <p:nvPr/>
        </p:nvGrpSpPr>
        <p:grpSpPr>
          <a:xfrm>
            <a:off x="921345" y="468370"/>
            <a:ext cx="10349310" cy="5108460"/>
            <a:chOff x="6634163" y="2308225"/>
            <a:chExt cx="901700" cy="750888"/>
          </a:xfrm>
        </p:grpSpPr>
        <p:sp>
          <p:nvSpPr>
            <p:cNvPr id="4" name="Freeform 95">
              <a:extLst>
                <a:ext uri="{FF2B5EF4-FFF2-40B4-BE49-F238E27FC236}">
                  <a16:creationId xmlns:a16="http://schemas.microsoft.com/office/drawing/2014/main" id="{EC1EE103-BB19-4BDE-85D5-EC5A54E39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4163" y="2308225"/>
              <a:ext cx="901700" cy="750888"/>
            </a:xfrm>
            <a:custGeom>
              <a:avLst/>
              <a:gdLst>
                <a:gd name="T0" fmla="*/ 240 w 240"/>
                <a:gd name="T1" fmla="*/ 184 h 200"/>
                <a:gd name="T2" fmla="*/ 224 w 240"/>
                <a:gd name="T3" fmla="*/ 200 h 200"/>
                <a:gd name="T4" fmla="*/ 16 w 240"/>
                <a:gd name="T5" fmla="*/ 200 h 200"/>
                <a:gd name="T6" fmla="*/ 0 w 240"/>
                <a:gd name="T7" fmla="*/ 184 h 200"/>
                <a:gd name="T8" fmla="*/ 0 w 240"/>
                <a:gd name="T9" fmla="*/ 16 h 200"/>
                <a:gd name="T10" fmla="*/ 16 w 240"/>
                <a:gd name="T11" fmla="*/ 0 h 200"/>
                <a:gd name="T12" fmla="*/ 224 w 240"/>
                <a:gd name="T13" fmla="*/ 0 h 200"/>
                <a:gd name="T14" fmla="*/ 240 w 240"/>
                <a:gd name="T15" fmla="*/ 16 h 200"/>
                <a:gd name="T16" fmla="*/ 240 w 240"/>
                <a:gd name="T17" fmla="*/ 184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0" h="200">
                  <a:moveTo>
                    <a:pt x="240" y="184"/>
                  </a:moveTo>
                  <a:cubicBezTo>
                    <a:pt x="240" y="193"/>
                    <a:pt x="233" y="200"/>
                    <a:pt x="224" y="200"/>
                  </a:cubicBezTo>
                  <a:cubicBezTo>
                    <a:pt x="16" y="200"/>
                    <a:pt x="16" y="200"/>
                    <a:pt x="16" y="200"/>
                  </a:cubicBezTo>
                  <a:cubicBezTo>
                    <a:pt x="7" y="200"/>
                    <a:pt x="0" y="193"/>
                    <a:pt x="0" y="184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24" y="0"/>
                    <a:pt x="224" y="0"/>
                    <a:pt x="224" y="0"/>
                  </a:cubicBezTo>
                  <a:cubicBezTo>
                    <a:pt x="233" y="0"/>
                    <a:pt x="240" y="7"/>
                    <a:pt x="240" y="16"/>
                  </a:cubicBezTo>
                  <a:lnTo>
                    <a:pt x="240" y="184"/>
                  </a:lnTo>
                  <a:close/>
                </a:path>
              </a:pathLst>
            </a:custGeom>
            <a:solidFill>
              <a:srgbClr val="334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" name="Freeform 96">
              <a:extLst>
                <a:ext uri="{FF2B5EF4-FFF2-40B4-BE49-F238E27FC236}">
                  <a16:creationId xmlns:a16="http://schemas.microsoft.com/office/drawing/2014/main" id="{C7A19CD3-C9A0-46A6-92F7-53B6BDC63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4163" y="2308225"/>
              <a:ext cx="901700" cy="692150"/>
            </a:xfrm>
            <a:custGeom>
              <a:avLst/>
              <a:gdLst>
                <a:gd name="T0" fmla="*/ 240 w 240"/>
                <a:gd name="T1" fmla="*/ 168 h 184"/>
                <a:gd name="T2" fmla="*/ 224 w 240"/>
                <a:gd name="T3" fmla="*/ 184 h 184"/>
                <a:gd name="T4" fmla="*/ 16 w 240"/>
                <a:gd name="T5" fmla="*/ 184 h 184"/>
                <a:gd name="T6" fmla="*/ 0 w 240"/>
                <a:gd name="T7" fmla="*/ 168 h 184"/>
                <a:gd name="T8" fmla="*/ 0 w 240"/>
                <a:gd name="T9" fmla="*/ 16 h 184"/>
                <a:gd name="T10" fmla="*/ 16 w 240"/>
                <a:gd name="T11" fmla="*/ 0 h 184"/>
                <a:gd name="T12" fmla="*/ 224 w 240"/>
                <a:gd name="T13" fmla="*/ 0 h 184"/>
                <a:gd name="T14" fmla="*/ 240 w 240"/>
                <a:gd name="T15" fmla="*/ 16 h 184"/>
                <a:gd name="T16" fmla="*/ 240 w 240"/>
                <a:gd name="T17" fmla="*/ 168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0" h="184">
                  <a:moveTo>
                    <a:pt x="240" y="168"/>
                  </a:moveTo>
                  <a:cubicBezTo>
                    <a:pt x="240" y="177"/>
                    <a:pt x="233" y="184"/>
                    <a:pt x="224" y="184"/>
                  </a:cubicBezTo>
                  <a:cubicBezTo>
                    <a:pt x="16" y="184"/>
                    <a:pt x="16" y="184"/>
                    <a:pt x="16" y="184"/>
                  </a:cubicBezTo>
                  <a:cubicBezTo>
                    <a:pt x="7" y="184"/>
                    <a:pt x="0" y="177"/>
                    <a:pt x="0" y="16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24" y="0"/>
                    <a:pt x="224" y="0"/>
                    <a:pt x="224" y="0"/>
                  </a:cubicBezTo>
                  <a:cubicBezTo>
                    <a:pt x="233" y="0"/>
                    <a:pt x="240" y="7"/>
                    <a:pt x="240" y="16"/>
                  </a:cubicBezTo>
                  <a:lnTo>
                    <a:pt x="240" y="168"/>
                  </a:lnTo>
                  <a:close/>
                </a:path>
              </a:pathLst>
            </a:custGeom>
            <a:solidFill>
              <a:srgbClr val="647A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Rectangle 97">
              <a:extLst>
                <a:ext uri="{FF2B5EF4-FFF2-40B4-BE49-F238E27FC236}">
                  <a16:creationId xmlns:a16="http://schemas.microsoft.com/office/drawing/2014/main" id="{433724A0-B579-4417-9695-F0F841D4C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4488" y="2879725"/>
              <a:ext cx="195263" cy="30163"/>
            </a:xfrm>
            <a:prstGeom prst="rect">
              <a:avLst/>
            </a:prstGeom>
            <a:solidFill>
              <a:srgbClr val="F05F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Rectangle 98">
              <a:extLst>
                <a:ext uri="{FF2B5EF4-FFF2-40B4-BE49-F238E27FC236}">
                  <a16:creationId xmlns:a16="http://schemas.microsoft.com/office/drawing/2014/main" id="{BFEA6BFC-2AD8-47FC-ADA7-F5C8777D73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4488" y="2368550"/>
              <a:ext cx="781050" cy="450850"/>
            </a:xfrm>
            <a:prstGeom prst="rect">
              <a:avLst/>
            </a:prstGeom>
            <a:solidFill>
              <a:srgbClr val="EBF0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99">
              <a:extLst>
                <a:ext uri="{FF2B5EF4-FFF2-40B4-BE49-F238E27FC236}">
                  <a16:creationId xmlns:a16="http://schemas.microsoft.com/office/drawing/2014/main" id="{8DD47FA5-A611-4A8A-B417-EED155210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4688" y="2473325"/>
              <a:ext cx="209550" cy="241300"/>
            </a:xfrm>
            <a:custGeom>
              <a:avLst/>
              <a:gdLst>
                <a:gd name="T0" fmla="*/ 0 w 132"/>
                <a:gd name="T1" fmla="*/ 152 h 152"/>
                <a:gd name="T2" fmla="*/ 0 w 132"/>
                <a:gd name="T3" fmla="*/ 0 h 152"/>
                <a:gd name="T4" fmla="*/ 132 w 132"/>
                <a:gd name="T5" fmla="*/ 76 h 152"/>
                <a:gd name="T6" fmla="*/ 0 w 132"/>
                <a:gd name="T7" fmla="*/ 15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2" h="152">
                  <a:moveTo>
                    <a:pt x="0" y="152"/>
                  </a:moveTo>
                  <a:lnTo>
                    <a:pt x="0" y="0"/>
                  </a:lnTo>
                  <a:lnTo>
                    <a:pt x="132" y="76"/>
                  </a:lnTo>
                  <a:lnTo>
                    <a:pt x="0" y="152"/>
                  </a:lnTo>
                  <a:close/>
                </a:path>
              </a:pathLst>
            </a:custGeom>
            <a:solidFill>
              <a:srgbClr val="F05F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Rectangle 100">
              <a:extLst>
                <a:ext uri="{FF2B5EF4-FFF2-40B4-BE49-F238E27FC236}">
                  <a16:creationId xmlns:a16="http://schemas.microsoft.com/office/drawing/2014/main" id="{6CA941E0-8050-4713-81CC-BE572DA77C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473325"/>
              <a:ext cx="60325" cy="241300"/>
            </a:xfrm>
            <a:prstGeom prst="rect">
              <a:avLst/>
            </a:prstGeom>
            <a:solidFill>
              <a:srgbClr val="CD41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Rectangle 101">
              <a:extLst>
                <a:ext uri="{FF2B5EF4-FFF2-40B4-BE49-F238E27FC236}">
                  <a16:creationId xmlns:a16="http://schemas.microsoft.com/office/drawing/2014/main" id="{F9964C93-67C8-4193-A3D0-5698A0BD7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9751" y="2879725"/>
              <a:ext cx="585788" cy="30163"/>
            </a:xfrm>
            <a:prstGeom prst="rect">
              <a:avLst/>
            </a:prstGeom>
            <a:solidFill>
              <a:srgbClr val="EBF0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Rectangle 102">
              <a:extLst>
                <a:ext uri="{FF2B5EF4-FFF2-40B4-BE49-F238E27FC236}">
                  <a16:creationId xmlns:a16="http://schemas.microsoft.com/office/drawing/2014/main" id="{BA1F9B09-E0D8-4590-A796-AC208DAC0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9751" y="2879725"/>
              <a:ext cx="30163" cy="30163"/>
            </a:xfrm>
            <a:prstGeom prst="rect">
              <a:avLst/>
            </a:prstGeom>
            <a:solidFill>
              <a:srgbClr val="CD41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5486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78DCFFD4-61F1-46FC-A130-4BCFA0F3012D}"/>
              </a:ext>
            </a:extLst>
          </p:cNvPr>
          <p:cNvGrpSpPr/>
          <p:nvPr/>
        </p:nvGrpSpPr>
        <p:grpSpPr>
          <a:xfrm>
            <a:off x="921345" y="468370"/>
            <a:ext cx="10349310" cy="5108460"/>
            <a:chOff x="6634163" y="2308225"/>
            <a:chExt cx="901700" cy="750888"/>
          </a:xfrm>
        </p:grpSpPr>
        <p:sp>
          <p:nvSpPr>
            <p:cNvPr id="14" name="Freeform 95">
              <a:extLst>
                <a:ext uri="{FF2B5EF4-FFF2-40B4-BE49-F238E27FC236}">
                  <a16:creationId xmlns:a16="http://schemas.microsoft.com/office/drawing/2014/main" id="{17A1B22A-F7F6-472A-8228-1C1F305F09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4163" y="2308225"/>
              <a:ext cx="901700" cy="750888"/>
            </a:xfrm>
            <a:custGeom>
              <a:avLst/>
              <a:gdLst>
                <a:gd name="T0" fmla="*/ 240 w 240"/>
                <a:gd name="T1" fmla="*/ 184 h 200"/>
                <a:gd name="T2" fmla="*/ 224 w 240"/>
                <a:gd name="T3" fmla="*/ 200 h 200"/>
                <a:gd name="T4" fmla="*/ 16 w 240"/>
                <a:gd name="T5" fmla="*/ 200 h 200"/>
                <a:gd name="T6" fmla="*/ 0 w 240"/>
                <a:gd name="T7" fmla="*/ 184 h 200"/>
                <a:gd name="T8" fmla="*/ 0 w 240"/>
                <a:gd name="T9" fmla="*/ 16 h 200"/>
                <a:gd name="T10" fmla="*/ 16 w 240"/>
                <a:gd name="T11" fmla="*/ 0 h 200"/>
                <a:gd name="T12" fmla="*/ 224 w 240"/>
                <a:gd name="T13" fmla="*/ 0 h 200"/>
                <a:gd name="T14" fmla="*/ 240 w 240"/>
                <a:gd name="T15" fmla="*/ 16 h 200"/>
                <a:gd name="T16" fmla="*/ 240 w 240"/>
                <a:gd name="T17" fmla="*/ 184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0" h="200">
                  <a:moveTo>
                    <a:pt x="240" y="184"/>
                  </a:moveTo>
                  <a:cubicBezTo>
                    <a:pt x="240" y="193"/>
                    <a:pt x="233" y="200"/>
                    <a:pt x="224" y="200"/>
                  </a:cubicBezTo>
                  <a:cubicBezTo>
                    <a:pt x="16" y="200"/>
                    <a:pt x="16" y="200"/>
                    <a:pt x="16" y="200"/>
                  </a:cubicBezTo>
                  <a:cubicBezTo>
                    <a:pt x="7" y="200"/>
                    <a:pt x="0" y="193"/>
                    <a:pt x="0" y="184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24" y="0"/>
                    <a:pt x="224" y="0"/>
                    <a:pt x="224" y="0"/>
                  </a:cubicBezTo>
                  <a:cubicBezTo>
                    <a:pt x="233" y="0"/>
                    <a:pt x="240" y="7"/>
                    <a:pt x="240" y="16"/>
                  </a:cubicBezTo>
                  <a:lnTo>
                    <a:pt x="240" y="184"/>
                  </a:lnTo>
                  <a:close/>
                </a:path>
              </a:pathLst>
            </a:custGeom>
            <a:solidFill>
              <a:srgbClr val="334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96">
              <a:extLst>
                <a:ext uri="{FF2B5EF4-FFF2-40B4-BE49-F238E27FC236}">
                  <a16:creationId xmlns:a16="http://schemas.microsoft.com/office/drawing/2014/main" id="{0ED7DA1C-8C4E-437D-8F37-72A522CA0D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4163" y="2308225"/>
              <a:ext cx="901700" cy="692150"/>
            </a:xfrm>
            <a:custGeom>
              <a:avLst/>
              <a:gdLst>
                <a:gd name="T0" fmla="*/ 240 w 240"/>
                <a:gd name="T1" fmla="*/ 168 h 184"/>
                <a:gd name="T2" fmla="*/ 224 w 240"/>
                <a:gd name="T3" fmla="*/ 184 h 184"/>
                <a:gd name="T4" fmla="*/ 16 w 240"/>
                <a:gd name="T5" fmla="*/ 184 h 184"/>
                <a:gd name="T6" fmla="*/ 0 w 240"/>
                <a:gd name="T7" fmla="*/ 168 h 184"/>
                <a:gd name="T8" fmla="*/ 0 w 240"/>
                <a:gd name="T9" fmla="*/ 16 h 184"/>
                <a:gd name="T10" fmla="*/ 16 w 240"/>
                <a:gd name="T11" fmla="*/ 0 h 184"/>
                <a:gd name="T12" fmla="*/ 224 w 240"/>
                <a:gd name="T13" fmla="*/ 0 h 184"/>
                <a:gd name="T14" fmla="*/ 240 w 240"/>
                <a:gd name="T15" fmla="*/ 16 h 184"/>
                <a:gd name="T16" fmla="*/ 240 w 240"/>
                <a:gd name="T17" fmla="*/ 168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0" h="184">
                  <a:moveTo>
                    <a:pt x="240" y="168"/>
                  </a:moveTo>
                  <a:cubicBezTo>
                    <a:pt x="240" y="177"/>
                    <a:pt x="233" y="184"/>
                    <a:pt x="224" y="184"/>
                  </a:cubicBezTo>
                  <a:cubicBezTo>
                    <a:pt x="16" y="184"/>
                    <a:pt x="16" y="184"/>
                    <a:pt x="16" y="184"/>
                  </a:cubicBezTo>
                  <a:cubicBezTo>
                    <a:pt x="7" y="184"/>
                    <a:pt x="0" y="177"/>
                    <a:pt x="0" y="16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24" y="0"/>
                    <a:pt x="224" y="0"/>
                    <a:pt x="224" y="0"/>
                  </a:cubicBezTo>
                  <a:cubicBezTo>
                    <a:pt x="233" y="0"/>
                    <a:pt x="240" y="7"/>
                    <a:pt x="240" y="16"/>
                  </a:cubicBezTo>
                  <a:lnTo>
                    <a:pt x="240" y="168"/>
                  </a:lnTo>
                  <a:close/>
                </a:path>
              </a:pathLst>
            </a:custGeom>
            <a:solidFill>
              <a:srgbClr val="647A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Rectangle 97">
              <a:extLst>
                <a:ext uri="{FF2B5EF4-FFF2-40B4-BE49-F238E27FC236}">
                  <a16:creationId xmlns:a16="http://schemas.microsoft.com/office/drawing/2014/main" id="{090A52E7-919B-4C04-A864-C881171617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4488" y="2879725"/>
              <a:ext cx="195263" cy="30163"/>
            </a:xfrm>
            <a:prstGeom prst="rect">
              <a:avLst/>
            </a:prstGeom>
            <a:solidFill>
              <a:srgbClr val="F05F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Rectangle 98">
              <a:extLst>
                <a:ext uri="{FF2B5EF4-FFF2-40B4-BE49-F238E27FC236}">
                  <a16:creationId xmlns:a16="http://schemas.microsoft.com/office/drawing/2014/main" id="{6D78BAED-5289-4A78-9B88-B0CEEE60D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4488" y="2368550"/>
              <a:ext cx="781050" cy="450850"/>
            </a:xfrm>
            <a:prstGeom prst="rect">
              <a:avLst/>
            </a:prstGeom>
            <a:solidFill>
              <a:srgbClr val="EBF0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99">
              <a:extLst>
                <a:ext uri="{FF2B5EF4-FFF2-40B4-BE49-F238E27FC236}">
                  <a16:creationId xmlns:a16="http://schemas.microsoft.com/office/drawing/2014/main" id="{AF01A489-4A25-4476-98DD-E224112B1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4688" y="2473325"/>
              <a:ext cx="209550" cy="241300"/>
            </a:xfrm>
            <a:custGeom>
              <a:avLst/>
              <a:gdLst>
                <a:gd name="T0" fmla="*/ 0 w 132"/>
                <a:gd name="T1" fmla="*/ 152 h 152"/>
                <a:gd name="T2" fmla="*/ 0 w 132"/>
                <a:gd name="T3" fmla="*/ 0 h 152"/>
                <a:gd name="T4" fmla="*/ 132 w 132"/>
                <a:gd name="T5" fmla="*/ 76 h 152"/>
                <a:gd name="T6" fmla="*/ 0 w 132"/>
                <a:gd name="T7" fmla="*/ 15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2" h="152">
                  <a:moveTo>
                    <a:pt x="0" y="152"/>
                  </a:moveTo>
                  <a:lnTo>
                    <a:pt x="0" y="0"/>
                  </a:lnTo>
                  <a:lnTo>
                    <a:pt x="132" y="76"/>
                  </a:lnTo>
                  <a:lnTo>
                    <a:pt x="0" y="152"/>
                  </a:lnTo>
                  <a:close/>
                </a:path>
              </a:pathLst>
            </a:custGeom>
            <a:solidFill>
              <a:srgbClr val="F05F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Rectangle 100">
              <a:extLst>
                <a:ext uri="{FF2B5EF4-FFF2-40B4-BE49-F238E27FC236}">
                  <a16:creationId xmlns:a16="http://schemas.microsoft.com/office/drawing/2014/main" id="{CBCC60AC-D275-4A44-BFCB-54C7ED618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473325"/>
              <a:ext cx="60325" cy="241300"/>
            </a:xfrm>
            <a:prstGeom prst="rect">
              <a:avLst/>
            </a:prstGeom>
            <a:solidFill>
              <a:srgbClr val="CD41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Rectangle 101">
              <a:extLst>
                <a:ext uri="{FF2B5EF4-FFF2-40B4-BE49-F238E27FC236}">
                  <a16:creationId xmlns:a16="http://schemas.microsoft.com/office/drawing/2014/main" id="{688A5921-58E8-4ED7-BCB4-4F9EC1FF37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9751" y="2879725"/>
              <a:ext cx="585788" cy="30163"/>
            </a:xfrm>
            <a:prstGeom prst="rect">
              <a:avLst/>
            </a:prstGeom>
            <a:solidFill>
              <a:srgbClr val="EBF0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Rectangle 102">
              <a:extLst>
                <a:ext uri="{FF2B5EF4-FFF2-40B4-BE49-F238E27FC236}">
                  <a16:creationId xmlns:a16="http://schemas.microsoft.com/office/drawing/2014/main" id="{1F933F8D-0966-4B12-AF61-0AF596F11A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9751" y="2879725"/>
              <a:ext cx="30163" cy="30163"/>
            </a:xfrm>
            <a:prstGeom prst="rect">
              <a:avLst/>
            </a:prstGeom>
            <a:solidFill>
              <a:srgbClr val="CD41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3F654863-590A-4D58-9135-5F0B78915068}"/>
              </a:ext>
            </a:extLst>
          </p:cNvPr>
          <p:cNvSpPr txBox="1"/>
          <p:nvPr/>
        </p:nvSpPr>
        <p:spPr>
          <a:xfrm>
            <a:off x="3106783" y="973569"/>
            <a:ext cx="59784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spc="300" dirty="0">
                <a:latin typeface="方正舒体" panose="02010601030101010101" pitchFamily="2" charset="-122"/>
                <a:ea typeface="方正舒体" panose="02010601030101010101" pitchFamily="2" charset="-122"/>
              </a:rPr>
              <a:t>器件篇</a:t>
            </a:r>
            <a:r>
              <a:rPr lang="en-US" altLang="zh-CN" sz="2800" spc="300" dirty="0">
                <a:latin typeface="方正舒体" panose="02010601030101010101" pitchFamily="2" charset="-122"/>
                <a:ea typeface="方正舒体" panose="02010601030101010101" pitchFamily="2" charset="-122"/>
              </a:rPr>
              <a:t>-02-MLCC</a:t>
            </a:r>
            <a:r>
              <a:rPr lang="zh-CN" altLang="en-US" sz="2800" spc="300" dirty="0">
                <a:latin typeface="方正舒体" panose="02010601030101010101" pitchFamily="2" charset="-122"/>
                <a:ea typeface="方正舒体" panose="02010601030101010101" pitchFamily="2" charset="-122"/>
              </a:rPr>
              <a:t>陶瓷电容结构</a:t>
            </a:r>
            <a:endParaRPr lang="en-US" altLang="zh-CN" sz="2800" spc="300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6299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57BE37DA-1FE6-4B71-A10E-51B30FA91986}"/>
              </a:ext>
            </a:extLst>
          </p:cNvPr>
          <p:cNvGrpSpPr/>
          <p:nvPr/>
        </p:nvGrpSpPr>
        <p:grpSpPr>
          <a:xfrm>
            <a:off x="921345" y="468370"/>
            <a:ext cx="10349310" cy="5108460"/>
            <a:chOff x="6634163" y="2308225"/>
            <a:chExt cx="901700" cy="750888"/>
          </a:xfrm>
        </p:grpSpPr>
        <p:sp>
          <p:nvSpPr>
            <p:cNvPr id="16" name="Freeform 95">
              <a:extLst>
                <a:ext uri="{FF2B5EF4-FFF2-40B4-BE49-F238E27FC236}">
                  <a16:creationId xmlns:a16="http://schemas.microsoft.com/office/drawing/2014/main" id="{5F481F69-AA36-4BBF-90E9-9B42F56B91F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4163" y="2308225"/>
              <a:ext cx="901700" cy="750888"/>
            </a:xfrm>
            <a:custGeom>
              <a:avLst/>
              <a:gdLst>
                <a:gd name="T0" fmla="*/ 240 w 240"/>
                <a:gd name="T1" fmla="*/ 184 h 200"/>
                <a:gd name="T2" fmla="*/ 224 w 240"/>
                <a:gd name="T3" fmla="*/ 200 h 200"/>
                <a:gd name="T4" fmla="*/ 16 w 240"/>
                <a:gd name="T5" fmla="*/ 200 h 200"/>
                <a:gd name="T6" fmla="*/ 0 w 240"/>
                <a:gd name="T7" fmla="*/ 184 h 200"/>
                <a:gd name="T8" fmla="*/ 0 w 240"/>
                <a:gd name="T9" fmla="*/ 16 h 200"/>
                <a:gd name="T10" fmla="*/ 16 w 240"/>
                <a:gd name="T11" fmla="*/ 0 h 200"/>
                <a:gd name="T12" fmla="*/ 224 w 240"/>
                <a:gd name="T13" fmla="*/ 0 h 200"/>
                <a:gd name="T14" fmla="*/ 240 w 240"/>
                <a:gd name="T15" fmla="*/ 16 h 200"/>
                <a:gd name="T16" fmla="*/ 240 w 240"/>
                <a:gd name="T17" fmla="*/ 184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0" h="200">
                  <a:moveTo>
                    <a:pt x="240" y="184"/>
                  </a:moveTo>
                  <a:cubicBezTo>
                    <a:pt x="240" y="193"/>
                    <a:pt x="233" y="200"/>
                    <a:pt x="224" y="200"/>
                  </a:cubicBezTo>
                  <a:cubicBezTo>
                    <a:pt x="16" y="200"/>
                    <a:pt x="16" y="200"/>
                    <a:pt x="16" y="200"/>
                  </a:cubicBezTo>
                  <a:cubicBezTo>
                    <a:pt x="7" y="200"/>
                    <a:pt x="0" y="193"/>
                    <a:pt x="0" y="184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24" y="0"/>
                    <a:pt x="224" y="0"/>
                    <a:pt x="224" y="0"/>
                  </a:cubicBezTo>
                  <a:cubicBezTo>
                    <a:pt x="233" y="0"/>
                    <a:pt x="240" y="7"/>
                    <a:pt x="240" y="16"/>
                  </a:cubicBezTo>
                  <a:lnTo>
                    <a:pt x="240" y="184"/>
                  </a:lnTo>
                  <a:close/>
                </a:path>
              </a:pathLst>
            </a:custGeom>
            <a:solidFill>
              <a:srgbClr val="334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96">
              <a:extLst>
                <a:ext uri="{FF2B5EF4-FFF2-40B4-BE49-F238E27FC236}">
                  <a16:creationId xmlns:a16="http://schemas.microsoft.com/office/drawing/2014/main" id="{7C52B508-F441-45BE-90B0-60D117BD42D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4163" y="2308225"/>
              <a:ext cx="901700" cy="692150"/>
            </a:xfrm>
            <a:custGeom>
              <a:avLst/>
              <a:gdLst>
                <a:gd name="T0" fmla="*/ 240 w 240"/>
                <a:gd name="T1" fmla="*/ 168 h 184"/>
                <a:gd name="T2" fmla="*/ 224 w 240"/>
                <a:gd name="T3" fmla="*/ 184 h 184"/>
                <a:gd name="T4" fmla="*/ 16 w 240"/>
                <a:gd name="T5" fmla="*/ 184 h 184"/>
                <a:gd name="T6" fmla="*/ 0 w 240"/>
                <a:gd name="T7" fmla="*/ 168 h 184"/>
                <a:gd name="T8" fmla="*/ 0 w 240"/>
                <a:gd name="T9" fmla="*/ 16 h 184"/>
                <a:gd name="T10" fmla="*/ 16 w 240"/>
                <a:gd name="T11" fmla="*/ 0 h 184"/>
                <a:gd name="T12" fmla="*/ 224 w 240"/>
                <a:gd name="T13" fmla="*/ 0 h 184"/>
                <a:gd name="T14" fmla="*/ 240 w 240"/>
                <a:gd name="T15" fmla="*/ 16 h 184"/>
                <a:gd name="T16" fmla="*/ 240 w 240"/>
                <a:gd name="T17" fmla="*/ 168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0" h="184">
                  <a:moveTo>
                    <a:pt x="240" y="168"/>
                  </a:moveTo>
                  <a:cubicBezTo>
                    <a:pt x="240" y="177"/>
                    <a:pt x="233" y="184"/>
                    <a:pt x="224" y="184"/>
                  </a:cubicBezTo>
                  <a:cubicBezTo>
                    <a:pt x="16" y="184"/>
                    <a:pt x="16" y="184"/>
                    <a:pt x="16" y="184"/>
                  </a:cubicBezTo>
                  <a:cubicBezTo>
                    <a:pt x="7" y="184"/>
                    <a:pt x="0" y="177"/>
                    <a:pt x="0" y="16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24" y="0"/>
                    <a:pt x="224" y="0"/>
                    <a:pt x="224" y="0"/>
                  </a:cubicBezTo>
                  <a:cubicBezTo>
                    <a:pt x="233" y="0"/>
                    <a:pt x="240" y="7"/>
                    <a:pt x="240" y="16"/>
                  </a:cubicBezTo>
                  <a:lnTo>
                    <a:pt x="240" y="168"/>
                  </a:lnTo>
                  <a:close/>
                </a:path>
              </a:pathLst>
            </a:custGeom>
            <a:solidFill>
              <a:srgbClr val="647A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Rectangle 97">
              <a:extLst>
                <a:ext uri="{FF2B5EF4-FFF2-40B4-BE49-F238E27FC236}">
                  <a16:creationId xmlns:a16="http://schemas.microsoft.com/office/drawing/2014/main" id="{BAF0510B-E039-4F2A-9A5B-2B3D1562D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4488" y="2879725"/>
              <a:ext cx="195263" cy="30163"/>
            </a:xfrm>
            <a:prstGeom prst="rect">
              <a:avLst/>
            </a:prstGeom>
            <a:solidFill>
              <a:srgbClr val="F05F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Rectangle 98">
              <a:extLst>
                <a:ext uri="{FF2B5EF4-FFF2-40B4-BE49-F238E27FC236}">
                  <a16:creationId xmlns:a16="http://schemas.microsoft.com/office/drawing/2014/main" id="{001D45F9-D46A-47F2-BC63-6D2DAE42A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4488" y="2368550"/>
              <a:ext cx="781050" cy="450850"/>
            </a:xfrm>
            <a:prstGeom prst="rect">
              <a:avLst/>
            </a:prstGeom>
            <a:solidFill>
              <a:srgbClr val="EBF0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99">
              <a:extLst>
                <a:ext uri="{FF2B5EF4-FFF2-40B4-BE49-F238E27FC236}">
                  <a16:creationId xmlns:a16="http://schemas.microsoft.com/office/drawing/2014/main" id="{96F8FA33-C258-49C4-8943-E1251820F41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4688" y="2473325"/>
              <a:ext cx="209550" cy="241300"/>
            </a:xfrm>
            <a:custGeom>
              <a:avLst/>
              <a:gdLst>
                <a:gd name="T0" fmla="*/ 0 w 132"/>
                <a:gd name="T1" fmla="*/ 152 h 152"/>
                <a:gd name="T2" fmla="*/ 0 w 132"/>
                <a:gd name="T3" fmla="*/ 0 h 152"/>
                <a:gd name="T4" fmla="*/ 132 w 132"/>
                <a:gd name="T5" fmla="*/ 76 h 152"/>
                <a:gd name="T6" fmla="*/ 0 w 132"/>
                <a:gd name="T7" fmla="*/ 15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2" h="152">
                  <a:moveTo>
                    <a:pt x="0" y="152"/>
                  </a:moveTo>
                  <a:lnTo>
                    <a:pt x="0" y="0"/>
                  </a:lnTo>
                  <a:lnTo>
                    <a:pt x="132" y="76"/>
                  </a:lnTo>
                  <a:lnTo>
                    <a:pt x="0" y="152"/>
                  </a:lnTo>
                  <a:close/>
                </a:path>
              </a:pathLst>
            </a:custGeom>
            <a:solidFill>
              <a:srgbClr val="F05F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Rectangle 100">
              <a:extLst>
                <a:ext uri="{FF2B5EF4-FFF2-40B4-BE49-F238E27FC236}">
                  <a16:creationId xmlns:a16="http://schemas.microsoft.com/office/drawing/2014/main" id="{91F407E6-5990-4EFF-8A0B-A2DECE1B5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473325"/>
              <a:ext cx="60325" cy="241300"/>
            </a:xfrm>
            <a:prstGeom prst="rect">
              <a:avLst/>
            </a:prstGeom>
            <a:solidFill>
              <a:srgbClr val="CD41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Rectangle 101">
              <a:extLst>
                <a:ext uri="{FF2B5EF4-FFF2-40B4-BE49-F238E27FC236}">
                  <a16:creationId xmlns:a16="http://schemas.microsoft.com/office/drawing/2014/main" id="{2F2D6930-C18E-4D6A-86DF-0BE6263A27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9751" y="2879725"/>
              <a:ext cx="585788" cy="30163"/>
            </a:xfrm>
            <a:prstGeom prst="rect">
              <a:avLst/>
            </a:prstGeom>
            <a:solidFill>
              <a:srgbClr val="EBF0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Rectangle 102">
              <a:extLst>
                <a:ext uri="{FF2B5EF4-FFF2-40B4-BE49-F238E27FC236}">
                  <a16:creationId xmlns:a16="http://schemas.microsoft.com/office/drawing/2014/main" id="{7387D3B3-822D-44AD-BB30-2BB377A7E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9751" y="2879725"/>
              <a:ext cx="30163" cy="30163"/>
            </a:xfrm>
            <a:prstGeom prst="rect">
              <a:avLst/>
            </a:prstGeom>
            <a:solidFill>
              <a:srgbClr val="CD41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55038729-A383-411B-A96F-889C8A1ECCD0}"/>
              </a:ext>
            </a:extLst>
          </p:cNvPr>
          <p:cNvSpPr txBox="1"/>
          <p:nvPr/>
        </p:nvSpPr>
        <p:spPr>
          <a:xfrm>
            <a:off x="3048000" y="3093801"/>
            <a:ext cx="6096000" cy="829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介质材料不同</a:t>
            </a:r>
            <a:endParaRPr lang="en-US" altLang="zh-CN" sz="36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D5FC8A1-B4CF-47B2-A057-091BE87E67D5}"/>
              </a:ext>
            </a:extLst>
          </p:cNvPr>
          <p:cNvSpPr txBox="1"/>
          <p:nvPr/>
        </p:nvSpPr>
        <p:spPr>
          <a:xfrm>
            <a:off x="3106783" y="973569"/>
            <a:ext cx="59784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spc="300" dirty="0">
                <a:latin typeface="方正舒体" panose="02010601030101010101" pitchFamily="2" charset="-122"/>
                <a:ea typeface="方正舒体" panose="02010601030101010101" pitchFamily="2" charset="-122"/>
              </a:rPr>
              <a:t>器件篇</a:t>
            </a:r>
            <a:r>
              <a:rPr lang="en-US" altLang="zh-CN" sz="2800" spc="300" dirty="0">
                <a:latin typeface="方正舒体" panose="02010601030101010101" pitchFamily="2" charset="-122"/>
                <a:ea typeface="方正舒体" panose="02010601030101010101" pitchFamily="2" charset="-122"/>
              </a:rPr>
              <a:t>-02-MLCC</a:t>
            </a:r>
            <a:r>
              <a:rPr lang="zh-CN" altLang="en-US" sz="2800" spc="300" dirty="0">
                <a:latin typeface="方正舒体" panose="02010601030101010101" pitchFamily="2" charset="-122"/>
                <a:ea typeface="方正舒体" panose="02010601030101010101" pitchFamily="2" charset="-122"/>
              </a:rPr>
              <a:t>陶瓷电容结构</a:t>
            </a:r>
            <a:endParaRPr lang="en-US" altLang="zh-CN" sz="2800" spc="300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5871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7698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3786E4A-283D-4044-BB57-BBDAED70B8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667757">
            <a:off x="881498" y="2061116"/>
            <a:ext cx="2735768" cy="273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17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3786E4A-283D-4044-BB57-BBDAED70B8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667757">
            <a:off x="881498" y="2061116"/>
            <a:ext cx="2735768" cy="273576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729E924-5989-43BC-BB94-55CDC2048CCE}"/>
              </a:ext>
            </a:extLst>
          </p:cNvPr>
          <p:cNvSpPr txBox="1"/>
          <p:nvPr/>
        </p:nvSpPr>
        <p:spPr>
          <a:xfrm>
            <a:off x="3033484" y="2830247"/>
            <a:ext cx="7242629" cy="1197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咱该怎么选择电容呢？</a:t>
            </a:r>
            <a:endParaRPr lang="en-US" altLang="zh-CN" sz="36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4777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1731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E553892-9089-4DC7-9EC6-9B024C195A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2FE061B7-5F78-4E6A-A0FE-64F178ED81EF}"/>
              </a:ext>
            </a:extLst>
          </p:cNvPr>
          <p:cNvSpPr/>
          <p:nvPr/>
        </p:nvSpPr>
        <p:spPr>
          <a:xfrm>
            <a:off x="1846311" y="472899"/>
            <a:ext cx="7102380" cy="369332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endParaRPr lang="en-US" altLang="zh-CN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6784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E553892-9089-4DC7-9EC6-9B024C195A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2FE061B7-5F78-4E6A-A0FE-64F178ED81EF}"/>
              </a:ext>
            </a:extLst>
          </p:cNvPr>
          <p:cNvSpPr/>
          <p:nvPr/>
        </p:nvSpPr>
        <p:spPr>
          <a:xfrm>
            <a:off x="1846311" y="472899"/>
            <a:ext cx="7102380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类电容器：</a:t>
            </a:r>
            <a:r>
              <a:rPr lang="en-US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C0G</a:t>
            </a:r>
          </a:p>
        </p:txBody>
      </p:sp>
    </p:spTree>
    <p:extLst>
      <p:ext uri="{BB962C8B-B14F-4D97-AF65-F5344CB8AC3E}">
        <p14:creationId xmlns:p14="http://schemas.microsoft.com/office/powerpoint/2010/main" val="446045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E553892-9089-4DC7-9EC6-9B024C195A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2FE061B7-5F78-4E6A-A0FE-64F178ED81EF}"/>
              </a:ext>
            </a:extLst>
          </p:cNvPr>
          <p:cNvSpPr/>
          <p:nvPr/>
        </p:nvSpPr>
        <p:spPr>
          <a:xfrm>
            <a:off x="1846311" y="472899"/>
            <a:ext cx="7102380" cy="111678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类电容器：</a:t>
            </a:r>
            <a:r>
              <a:rPr lang="en-US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C0G</a:t>
            </a:r>
          </a:p>
          <a:p>
            <a:pPr>
              <a:lnSpc>
                <a:spcPct val="200000"/>
              </a:lnSpc>
            </a:pP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电性能最稳定</a:t>
            </a:r>
            <a:endParaRPr lang="en-US" altLang="zh-CN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81734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E553892-9089-4DC7-9EC6-9B024C195A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2FE061B7-5F78-4E6A-A0FE-64F178ED81EF}"/>
              </a:ext>
            </a:extLst>
          </p:cNvPr>
          <p:cNvSpPr/>
          <p:nvPr/>
        </p:nvSpPr>
        <p:spPr>
          <a:xfrm>
            <a:off x="1846311" y="472899"/>
            <a:ext cx="7102380" cy="1670778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类电容器：</a:t>
            </a:r>
            <a:r>
              <a:rPr lang="en-US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C0G</a:t>
            </a:r>
          </a:p>
          <a:p>
            <a:pPr>
              <a:lnSpc>
                <a:spcPct val="200000"/>
              </a:lnSpc>
            </a:pP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电性能最稳定</a:t>
            </a:r>
            <a:endParaRPr lang="en-US" altLang="zh-CN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振荡器，谐振，高频耦合</a:t>
            </a:r>
            <a:endParaRPr lang="en-US" altLang="zh-CN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24979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E553892-9089-4DC7-9EC6-9B024C195A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2FE061B7-5F78-4E6A-A0FE-64F178ED81EF}"/>
              </a:ext>
            </a:extLst>
          </p:cNvPr>
          <p:cNvSpPr/>
          <p:nvPr/>
        </p:nvSpPr>
        <p:spPr>
          <a:xfrm>
            <a:off x="1846311" y="472899"/>
            <a:ext cx="7102380" cy="1670778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类电容器：</a:t>
            </a:r>
            <a:r>
              <a:rPr lang="en-US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C0G</a:t>
            </a:r>
          </a:p>
          <a:p>
            <a:pPr>
              <a:lnSpc>
                <a:spcPct val="200000"/>
              </a:lnSpc>
            </a:pP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电性能最稳定</a:t>
            </a:r>
            <a:endParaRPr lang="en-US" altLang="zh-CN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振荡器，谐振，高频耦合</a:t>
            </a:r>
            <a:endParaRPr lang="en-US" altLang="zh-CN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4374799-9A86-4B02-9C12-C72C1D87C5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899" y="3214942"/>
            <a:ext cx="428116" cy="42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051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E553892-9089-4DC7-9EC6-9B024C195A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2FE061B7-5F78-4E6A-A0FE-64F178ED81EF}"/>
              </a:ext>
            </a:extLst>
          </p:cNvPr>
          <p:cNvSpPr/>
          <p:nvPr/>
        </p:nvSpPr>
        <p:spPr>
          <a:xfrm>
            <a:off x="1846311" y="472899"/>
            <a:ext cx="7102380" cy="1670778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类电容器：</a:t>
            </a:r>
            <a:r>
              <a:rPr lang="en-US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C0G</a:t>
            </a:r>
          </a:p>
          <a:p>
            <a:pPr>
              <a:lnSpc>
                <a:spcPct val="200000"/>
              </a:lnSpc>
            </a:pP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电性能最稳定</a:t>
            </a:r>
            <a:endParaRPr lang="en-US" altLang="zh-CN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振荡器，谐振，高频耦合</a:t>
            </a:r>
            <a:endParaRPr lang="en-US" altLang="zh-CN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4374799-9A86-4B02-9C12-C72C1D87C5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899" y="3214942"/>
            <a:ext cx="428116" cy="428116"/>
          </a:xfrm>
          <a:prstGeom prst="rect">
            <a:avLst/>
          </a:prstGeom>
        </p:spPr>
      </p:pic>
      <p:sp>
        <p:nvSpPr>
          <p:cNvPr id="7" name="矩形 6" descr="段落内容1">
            <a:extLst>
              <a:ext uri="{FF2B5EF4-FFF2-40B4-BE49-F238E27FC236}">
                <a16:creationId xmlns:a16="http://schemas.microsoft.com/office/drawing/2014/main" id="{3E5AB823-7B27-4768-BD51-9437E28075A0}"/>
              </a:ext>
            </a:extLst>
          </p:cNvPr>
          <p:cNvSpPr/>
          <p:nvPr/>
        </p:nvSpPr>
        <p:spPr>
          <a:xfrm>
            <a:off x="1846311" y="3105834"/>
            <a:ext cx="905546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II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类电容器：</a:t>
            </a:r>
            <a:r>
              <a:rPr lang="pl-PL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X7R</a:t>
            </a:r>
            <a:r>
              <a:rPr lang="zh-CN" altLang="pl-PL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pl-PL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X5R</a:t>
            </a:r>
            <a:r>
              <a:rPr lang="zh-CN" altLang="pl-PL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pl-PL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Y5V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pl-PL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Z5U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578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E553892-9089-4DC7-9EC6-9B024C195A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2FE061B7-5F78-4E6A-A0FE-64F178ED81EF}"/>
              </a:ext>
            </a:extLst>
          </p:cNvPr>
          <p:cNvSpPr/>
          <p:nvPr/>
        </p:nvSpPr>
        <p:spPr>
          <a:xfrm>
            <a:off x="1846311" y="472899"/>
            <a:ext cx="7102380" cy="1670778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类电容器：</a:t>
            </a:r>
            <a:r>
              <a:rPr lang="en-US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C0G</a:t>
            </a:r>
          </a:p>
          <a:p>
            <a:pPr>
              <a:lnSpc>
                <a:spcPct val="200000"/>
              </a:lnSpc>
            </a:pP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电性能最稳定</a:t>
            </a:r>
            <a:endParaRPr lang="en-US" altLang="zh-CN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振荡器，谐振，高频耦合</a:t>
            </a:r>
            <a:endParaRPr lang="en-US" altLang="zh-CN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4374799-9A86-4B02-9C12-C72C1D87C5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899" y="3214942"/>
            <a:ext cx="428116" cy="428116"/>
          </a:xfrm>
          <a:prstGeom prst="rect">
            <a:avLst/>
          </a:prstGeom>
        </p:spPr>
      </p:pic>
      <p:sp>
        <p:nvSpPr>
          <p:cNvPr id="7" name="矩形 6" descr="段落内容1">
            <a:extLst>
              <a:ext uri="{FF2B5EF4-FFF2-40B4-BE49-F238E27FC236}">
                <a16:creationId xmlns:a16="http://schemas.microsoft.com/office/drawing/2014/main" id="{3E5AB823-7B27-4768-BD51-9437E28075A0}"/>
              </a:ext>
            </a:extLst>
          </p:cNvPr>
          <p:cNvSpPr/>
          <p:nvPr/>
        </p:nvSpPr>
        <p:spPr>
          <a:xfrm>
            <a:off x="1846311" y="3105834"/>
            <a:ext cx="9055468" cy="1220655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II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类电容器：</a:t>
            </a:r>
            <a:r>
              <a:rPr lang="pl-PL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X7R</a:t>
            </a:r>
            <a:r>
              <a:rPr lang="zh-CN" altLang="pl-PL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pl-PL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X5R</a:t>
            </a:r>
            <a:r>
              <a:rPr lang="zh-CN" altLang="pl-PL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pl-PL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Y5V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pl-PL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Z5U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电容容量随温度非线性变化</a:t>
            </a:r>
            <a:endParaRPr lang="en-US" altLang="zh-CN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14892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E553892-9089-4DC7-9EC6-9B024C195A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2FE061B7-5F78-4E6A-A0FE-64F178ED81EF}"/>
              </a:ext>
            </a:extLst>
          </p:cNvPr>
          <p:cNvSpPr/>
          <p:nvPr/>
        </p:nvSpPr>
        <p:spPr>
          <a:xfrm>
            <a:off x="1846311" y="472899"/>
            <a:ext cx="7102380" cy="1670778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类电容器：</a:t>
            </a:r>
            <a:r>
              <a:rPr lang="en-US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C0G</a:t>
            </a:r>
          </a:p>
          <a:p>
            <a:pPr>
              <a:lnSpc>
                <a:spcPct val="200000"/>
              </a:lnSpc>
            </a:pP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电性能最稳定</a:t>
            </a:r>
            <a:endParaRPr lang="en-US" altLang="zh-CN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振荡器，谐振，高频耦合</a:t>
            </a:r>
            <a:endParaRPr lang="en-US" altLang="zh-CN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4374799-9A86-4B02-9C12-C72C1D87C5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899" y="3214942"/>
            <a:ext cx="428116" cy="428116"/>
          </a:xfrm>
          <a:prstGeom prst="rect">
            <a:avLst/>
          </a:prstGeom>
        </p:spPr>
      </p:pic>
      <p:sp>
        <p:nvSpPr>
          <p:cNvPr id="7" name="矩形 6" descr="段落内容1">
            <a:extLst>
              <a:ext uri="{FF2B5EF4-FFF2-40B4-BE49-F238E27FC236}">
                <a16:creationId xmlns:a16="http://schemas.microsoft.com/office/drawing/2014/main" id="{3E5AB823-7B27-4768-BD51-9437E28075A0}"/>
              </a:ext>
            </a:extLst>
          </p:cNvPr>
          <p:cNvSpPr/>
          <p:nvPr/>
        </p:nvSpPr>
        <p:spPr>
          <a:xfrm>
            <a:off x="1846311" y="3105834"/>
            <a:ext cx="9055468" cy="1913152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II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类电容器：</a:t>
            </a:r>
            <a:r>
              <a:rPr lang="pl-PL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X7R</a:t>
            </a:r>
            <a:r>
              <a:rPr lang="zh-CN" altLang="pl-PL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pl-PL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X5R</a:t>
            </a:r>
            <a:r>
              <a:rPr lang="zh-CN" altLang="pl-PL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pl-PL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Y5V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pl-PL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Z5U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电容容量随温度非线性变化</a:t>
            </a:r>
            <a:endParaRPr lang="en-US" altLang="zh-CN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旁路、耦合</a:t>
            </a:r>
            <a:endParaRPr lang="en-US" altLang="zh-CN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5019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E553892-9089-4DC7-9EC6-9B024C195A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2FE061B7-5F78-4E6A-A0FE-64F178ED81EF}"/>
              </a:ext>
            </a:extLst>
          </p:cNvPr>
          <p:cNvSpPr/>
          <p:nvPr/>
        </p:nvSpPr>
        <p:spPr>
          <a:xfrm>
            <a:off x="1846311" y="472899"/>
            <a:ext cx="7102380" cy="1670778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类电容器：</a:t>
            </a:r>
            <a:r>
              <a:rPr lang="en-US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C0G</a:t>
            </a:r>
          </a:p>
          <a:p>
            <a:pPr>
              <a:lnSpc>
                <a:spcPct val="200000"/>
              </a:lnSpc>
            </a:pP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电性能最稳定</a:t>
            </a:r>
            <a:endParaRPr lang="en-US" altLang="zh-CN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振荡器，谐振，高频耦合</a:t>
            </a:r>
            <a:endParaRPr lang="en-US" altLang="zh-CN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4374799-9A86-4B02-9C12-C72C1D87C5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899" y="3214942"/>
            <a:ext cx="428116" cy="428116"/>
          </a:xfrm>
          <a:prstGeom prst="rect">
            <a:avLst/>
          </a:prstGeom>
        </p:spPr>
      </p:pic>
      <p:sp>
        <p:nvSpPr>
          <p:cNvPr id="7" name="矩形 6" descr="段落内容1">
            <a:extLst>
              <a:ext uri="{FF2B5EF4-FFF2-40B4-BE49-F238E27FC236}">
                <a16:creationId xmlns:a16="http://schemas.microsoft.com/office/drawing/2014/main" id="{3E5AB823-7B27-4768-BD51-9437E28075A0}"/>
              </a:ext>
            </a:extLst>
          </p:cNvPr>
          <p:cNvSpPr/>
          <p:nvPr/>
        </p:nvSpPr>
        <p:spPr>
          <a:xfrm>
            <a:off x="1846311" y="3105834"/>
            <a:ext cx="9055468" cy="2605650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II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类电容器：</a:t>
            </a:r>
            <a:r>
              <a:rPr lang="pl-PL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X7R</a:t>
            </a:r>
            <a:r>
              <a:rPr lang="zh-CN" altLang="pl-PL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pl-PL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X5R</a:t>
            </a:r>
            <a:r>
              <a:rPr lang="zh-CN" altLang="pl-PL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pl-PL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Y5V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pl-PL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Z5U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电容容量随温度非线性变化</a:t>
            </a:r>
            <a:endParaRPr lang="en-US" altLang="zh-CN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旁路、耦合</a:t>
            </a:r>
            <a:endParaRPr lang="en-US" altLang="zh-CN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稳定级：</a:t>
            </a:r>
            <a:r>
              <a:rPr lang="pl-PL" altLang="zh-CN" sz="1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X7R</a:t>
            </a:r>
            <a:r>
              <a:rPr lang="zh-CN" altLang="pl-PL" sz="1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pl-PL" altLang="zh-CN" sz="1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X5R</a:t>
            </a:r>
            <a:r>
              <a:rPr lang="en-US" altLang="zh-CN" sz="1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26956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E553892-9089-4DC7-9EC6-9B024C195A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2FE061B7-5F78-4E6A-A0FE-64F178ED81EF}"/>
              </a:ext>
            </a:extLst>
          </p:cNvPr>
          <p:cNvSpPr/>
          <p:nvPr/>
        </p:nvSpPr>
        <p:spPr>
          <a:xfrm>
            <a:off x="1846311" y="472899"/>
            <a:ext cx="7102380" cy="1670778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类电容器：</a:t>
            </a:r>
            <a:r>
              <a:rPr lang="en-US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C0G</a:t>
            </a:r>
          </a:p>
          <a:p>
            <a:pPr>
              <a:lnSpc>
                <a:spcPct val="200000"/>
              </a:lnSpc>
            </a:pP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电性能最稳定</a:t>
            </a:r>
            <a:endParaRPr lang="en-US" altLang="zh-CN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振荡器，谐振，高频耦合</a:t>
            </a:r>
            <a:endParaRPr lang="en-US" altLang="zh-CN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4374799-9A86-4B02-9C12-C72C1D87C5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899" y="3214942"/>
            <a:ext cx="428116" cy="428116"/>
          </a:xfrm>
          <a:prstGeom prst="rect">
            <a:avLst/>
          </a:prstGeom>
        </p:spPr>
      </p:pic>
      <p:sp>
        <p:nvSpPr>
          <p:cNvPr id="7" name="矩形 6" descr="段落内容1">
            <a:extLst>
              <a:ext uri="{FF2B5EF4-FFF2-40B4-BE49-F238E27FC236}">
                <a16:creationId xmlns:a16="http://schemas.microsoft.com/office/drawing/2014/main" id="{3E5AB823-7B27-4768-BD51-9437E28075A0}"/>
              </a:ext>
            </a:extLst>
          </p:cNvPr>
          <p:cNvSpPr/>
          <p:nvPr/>
        </p:nvSpPr>
        <p:spPr>
          <a:xfrm>
            <a:off x="1846311" y="3105834"/>
            <a:ext cx="9055468" cy="3298147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II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类电容器：</a:t>
            </a:r>
            <a:r>
              <a:rPr lang="pl-PL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X7R</a:t>
            </a:r>
            <a:r>
              <a:rPr lang="zh-CN" altLang="pl-PL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pl-PL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X5R</a:t>
            </a:r>
            <a:r>
              <a:rPr lang="zh-CN" altLang="pl-PL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pl-PL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Y5V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pl-PL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Z5U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电容容量随温度非线性变化</a:t>
            </a:r>
            <a:endParaRPr lang="en-US" altLang="zh-CN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旁路、耦合</a:t>
            </a:r>
            <a:endParaRPr lang="en-US" altLang="zh-CN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稳定级：</a:t>
            </a:r>
            <a:r>
              <a:rPr lang="pl-PL" altLang="zh-CN" sz="1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X7R</a:t>
            </a:r>
            <a:r>
              <a:rPr lang="zh-CN" altLang="pl-PL" sz="1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pl-PL" altLang="zh-CN" sz="1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X5R</a:t>
            </a:r>
            <a:r>
              <a:rPr lang="en-US" altLang="zh-CN" sz="1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ct val="250000"/>
              </a:lnSpc>
            </a:pP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可用级：</a:t>
            </a:r>
            <a:r>
              <a:rPr lang="pl-PL" altLang="zh-CN" sz="1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Y5V</a:t>
            </a:r>
            <a:r>
              <a:rPr lang="zh-CN" altLang="en-US" sz="1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pl-PL" altLang="zh-CN" sz="1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Z5U</a:t>
            </a:r>
            <a:endParaRPr lang="en-US" altLang="zh-CN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60211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82065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 descr="段落内容1">
            <a:extLst>
              <a:ext uri="{FF2B5EF4-FFF2-40B4-BE49-F238E27FC236}">
                <a16:creationId xmlns:a16="http://schemas.microsoft.com/office/drawing/2014/main" id="{9233276C-72AC-4FCD-9B9D-550F37A3DBB0}"/>
              </a:ext>
            </a:extLst>
          </p:cNvPr>
          <p:cNvSpPr/>
          <p:nvPr/>
        </p:nvSpPr>
        <p:spPr>
          <a:xfrm>
            <a:off x="4875232" y="766152"/>
            <a:ext cx="2441536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en-US" altLang="zh-CN" sz="6000" spc="3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65AFD12F-D739-419D-B95B-BD6B13D9C2D8}"/>
              </a:ext>
            </a:extLst>
          </p:cNvPr>
          <p:cNvSpPr/>
          <p:nvPr/>
        </p:nvSpPr>
        <p:spPr>
          <a:xfrm>
            <a:off x="794490" y="2203817"/>
            <a:ext cx="10603020" cy="662554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57365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 descr="段落内容1">
            <a:extLst>
              <a:ext uri="{FF2B5EF4-FFF2-40B4-BE49-F238E27FC236}">
                <a16:creationId xmlns:a16="http://schemas.microsoft.com/office/drawing/2014/main" id="{9233276C-72AC-4FCD-9B9D-550F37A3DBB0}"/>
              </a:ext>
            </a:extLst>
          </p:cNvPr>
          <p:cNvSpPr/>
          <p:nvPr/>
        </p:nvSpPr>
        <p:spPr>
          <a:xfrm>
            <a:off x="4875232" y="766152"/>
            <a:ext cx="2441536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en-US" altLang="zh-CN" sz="6000" spc="3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65AFD12F-D739-419D-B95B-BD6B13D9C2D8}"/>
              </a:ext>
            </a:extLst>
          </p:cNvPr>
          <p:cNvSpPr/>
          <p:nvPr/>
        </p:nvSpPr>
        <p:spPr>
          <a:xfrm>
            <a:off x="794490" y="2203817"/>
            <a:ext cx="10603020" cy="1815882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	</a:t>
            </a:r>
            <a:r>
              <a:rPr lang="en-US" altLang="zh-CN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C0G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X7R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X5R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Y5V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Z5U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等电容，其温度稳定性按次序下降、</a:t>
            </a:r>
            <a:r>
              <a:rPr lang="en-US" altLang="zh-CN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Y5V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Z5U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电容温度特性很差，需要谨慎使用</a:t>
            </a:r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28222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 descr="段落内容1">
            <a:extLst>
              <a:ext uri="{FF2B5EF4-FFF2-40B4-BE49-F238E27FC236}">
                <a16:creationId xmlns:a16="http://schemas.microsoft.com/office/drawing/2014/main" id="{9233276C-72AC-4FCD-9B9D-550F37A3DBB0}"/>
              </a:ext>
            </a:extLst>
          </p:cNvPr>
          <p:cNvSpPr/>
          <p:nvPr/>
        </p:nvSpPr>
        <p:spPr>
          <a:xfrm>
            <a:off x="4875232" y="766152"/>
            <a:ext cx="2441536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en-US" altLang="zh-CN" sz="6000" spc="3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65AFD12F-D739-419D-B95B-BD6B13D9C2D8}"/>
              </a:ext>
            </a:extLst>
          </p:cNvPr>
          <p:cNvSpPr/>
          <p:nvPr/>
        </p:nvSpPr>
        <p:spPr>
          <a:xfrm>
            <a:off x="794490" y="2203817"/>
            <a:ext cx="10603020" cy="303243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	</a:t>
            </a:r>
            <a:r>
              <a:rPr lang="en-US" altLang="zh-CN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C0G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X7R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X5R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Y5V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Z5U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等电容，其温度稳定性按次序下降、</a:t>
            </a:r>
            <a:r>
              <a:rPr lang="en-US" altLang="zh-CN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Y5V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Z5U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电容温度特性很差，需要谨慎使用</a:t>
            </a:r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	</a:t>
            </a:r>
            <a:r>
              <a:rPr lang="en-US" altLang="zh-CN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C0G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X7R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X5R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Y5V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Z5U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等电容，其容量上限按照次序增大，</a:t>
            </a:r>
            <a:r>
              <a:rPr lang="en-US" altLang="zh-CN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C0G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容量最小，</a:t>
            </a:r>
            <a:r>
              <a:rPr lang="en-US" altLang="zh-CN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Y5V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Z5U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最大。</a:t>
            </a:r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75452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FC10841C-AEE5-4A99-8DD5-735864B68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450" y="1187450"/>
            <a:ext cx="4483100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734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1144</TotalTime>
  <Words>360</Words>
  <Application>Microsoft Office PowerPoint</Application>
  <PresentationFormat>宽屏</PresentationFormat>
  <Paragraphs>52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1" baseType="lpstr">
      <vt:lpstr>等线</vt:lpstr>
      <vt:lpstr>等线 Light</vt:lpstr>
      <vt:lpstr>方正舒体</vt:lpstr>
      <vt:lpstr>微软雅黑</vt:lpstr>
      <vt:lpstr>微软雅黑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wuxiaochuan</dc:creator>
  <cp:lastModifiedBy>wuxiaochuan</cp:lastModifiedBy>
  <cp:revision>97</cp:revision>
  <dcterms:created xsi:type="dcterms:W3CDTF">2020-06-10T12:57:46Z</dcterms:created>
  <dcterms:modified xsi:type="dcterms:W3CDTF">2020-07-07T13:31:57Z</dcterms:modified>
</cp:coreProperties>
</file>