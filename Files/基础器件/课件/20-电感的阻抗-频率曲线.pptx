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93" r:id="rId2"/>
    <p:sldId id="298" r:id="rId3"/>
    <p:sldId id="296" r:id="rId4"/>
    <p:sldId id="295" r:id="rId5"/>
    <p:sldId id="29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 userDrawn="1">
          <p15:clr>
            <a:srgbClr val="A4A3A4"/>
          </p15:clr>
        </p15:guide>
        <p15:guide id="2" pos="1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DCDCDC"/>
    <a:srgbClr val="F3F3F3"/>
    <a:srgbClr val="FFFFFF"/>
    <a:srgbClr val="B4B4B4"/>
    <a:srgbClr val="C4C4C4"/>
    <a:srgbClr val="8C8C8C"/>
    <a:srgbClr val="666666"/>
    <a:srgbClr val="B2B2B2"/>
    <a:srgbClr val="A3A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6" autoAdjust="0"/>
    <p:restoredTop sz="91935" autoAdjust="0"/>
  </p:normalViewPr>
  <p:slideViewPr>
    <p:cSldViewPr snapToGrid="0">
      <p:cViewPr varScale="1">
        <p:scale>
          <a:sx n="105" d="100"/>
          <a:sy n="105" d="100"/>
        </p:scale>
        <p:origin x="222" y="102"/>
      </p:cViewPr>
      <p:guideLst>
        <p:guide orient="horz" pos="1230"/>
        <p:guide pos="1912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65AE0-690F-4E1E-A814-50BF005BB22A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32911-2138-4BB8-8059-3830608EDD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32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3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3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76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0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1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4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9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7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0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137E7-C718-4E91-A476-3082A6A9DA68}" type="datetimeFigureOut">
              <a:rPr lang="zh-CN" altLang="en-US" smtClean="0"/>
              <a:t>2020/10/24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4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11" Type="http://schemas.openxmlformats.org/officeDocument/2006/relationships/image" Target="../media/image5.png"/><Relationship Id="rId5" Type="http://schemas.openxmlformats.org/officeDocument/2006/relationships/image" Target="../media/image3.png"/><Relationship Id="rId15" Type="http://schemas.openxmlformats.org/officeDocument/2006/relationships/image" Target="../media/image9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30.png"/><Relationship Id="rId1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1.wdp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770" y="1012371"/>
            <a:ext cx="8592460" cy="48332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C9E923B-F28C-41E8-93F6-64B558665E1A}"/>
                  </a:ext>
                </a:extLst>
              </p:cNvPr>
              <p:cNvSpPr/>
              <p:nvPr/>
            </p:nvSpPr>
            <p:spPr>
              <a:xfrm>
                <a:off x="5932380" y="1714591"/>
                <a:ext cx="4325415" cy="761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chemeClr val="tx1"/>
                    </a:solidFill>
                  </a:rPr>
                  <a:t>复阻抗：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zh-CN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zh-CN" alt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f>
                          <m:f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zh-CN" alt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zh-CN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d>
                          <m:dPr>
                            <m:ctrlP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zh-CN" alt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d>
                        <m:r>
                          <a:rPr lang="zh-CN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𝑅𝐶</m:t>
                        </m:r>
                      </m:den>
                    </m:f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C9E923B-F28C-41E8-93F6-64B558665E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380" y="1714591"/>
                <a:ext cx="4325415" cy="761683"/>
              </a:xfrm>
              <a:prstGeom prst="rect">
                <a:avLst/>
              </a:prstGeom>
              <a:blipFill>
                <a:blip r:embed="rId4"/>
                <a:stretch>
                  <a:fillRect l="-1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2E82F26-E00C-442D-96AA-0A06B4E1CD65}"/>
                  </a:ext>
                </a:extLst>
              </p:cNvPr>
              <p:cNvSpPr/>
              <p:nvPr/>
            </p:nvSpPr>
            <p:spPr>
              <a:xfrm>
                <a:off x="5932380" y="2977526"/>
                <a:ext cx="3562001" cy="656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chemeClr val="tx1"/>
                    </a:solidFill>
                  </a:rPr>
                  <a:t>阻抗模：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zh-CN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zh-CN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alt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zh-CN" alt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zh-CN" altLang="en-US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𝐿𝐶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alt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zh-CN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𝑅𝐶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alt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2E82F26-E00C-442D-96AA-0A06B4E1CD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380" y="2977526"/>
                <a:ext cx="3562001" cy="656013"/>
              </a:xfrm>
              <a:prstGeom prst="rect">
                <a:avLst/>
              </a:prstGeom>
              <a:blipFill>
                <a:blip r:embed="rId5"/>
                <a:stretch>
                  <a:fillRect l="-1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E51A45A-0E3F-48DA-A4A3-F69EB825B262}"/>
                  </a:ext>
                </a:extLst>
              </p:cNvPr>
              <p:cNvSpPr/>
              <p:nvPr/>
            </p:nvSpPr>
            <p:spPr>
              <a:xfrm>
                <a:off x="5932380" y="4134791"/>
                <a:ext cx="1829219" cy="6646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谐振</m:t>
                          </m:r>
                        </m:sub>
                      </m:sSub>
                      <m:r>
                        <a:rPr lang="zh-CN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E51A45A-0E3F-48DA-A4A3-F69EB825B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380" y="4134791"/>
                <a:ext cx="1829219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组合 46">
            <a:extLst>
              <a:ext uri="{FF2B5EF4-FFF2-40B4-BE49-F238E27FC236}">
                <a16:creationId xmlns:a16="http://schemas.microsoft.com/office/drawing/2014/main" id="{D56BC53D-BC27-4342-80B3-CA8E940DD956}"/>
              </a:ext>
            </a:extLst>
          </p:cNvPr>
          <p:cNvGrpSpPr/>
          <p:nvPr/>
        </p:nvGrpSpPr>
        <p:grpSpPr>
          <a:xfrm>
            <a:off x="5654584" y="2410540"/>
            <a:ext cx="3535192" cy="2402754"/>
            <a:chOff x="5654584" y="2410540"/>
            <a:chExt cx="3535192" cy="2402754"/>
          </a:xfrm>
        </p:grpSpPr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7991AA92-025F-4115-BDDF-8ECE13ACF4CE}"/>
                </a:ext>
              </a:extLst>
            </p:cNvPr>
            <p:cNvCxnSpPr/>
            <p:nvPr/>
          </p:nvCxnSpPr>
          <p:spPr>
            <a:xfrm flipV="1">
              <a:off x="6370320" y="2410540"/>
              <a:ext cx="0" cy="18640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A6FC669-2018-4AA1-A619-EF14AC7DEF5B}"/>
                </a:ext>
              </a:extLst>
            </p:cNvPr>
            <p:cNvGrpSpPr/>
            <p:nvPr/>
          </p:nvGrpSpPr>
          <p:grpSpPr>
            <a:xfrm>
              <a:off x="5654584" y="2424644"/>
              <a:ext cx="3535192" cy="2388650"/>
              <a:chOff x="5654584" y="2424644"/>
              <a:chExt cx="3535192" cy="238865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03E5B95E-FDD7-4E2B-86C9-098C33191E6A}"/>
                  </a:ext>
                </a:extLst>
              </p:cNvPr>
              <p:cNvGrpSpPr/>
              <p:nvPr/>
            </p:nvGrpSpPr>
            <p:grpSpPr>
              <a:xfrm>
                <a:off x="6415639" y="2561629"/>
                <a:ext cx="2457577" cy="1668252"/>
                <a:chOff x="4206240" y="1828800"/>
                <a:chExt cx="4389120" cy="2979420"/>
              </a:xfrm>
            </p:grpSpPr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DCEE529F-21AD-4396-A7EC-562F15E3BB0D}"/>
                    </a:ext>
                  </a:extLst>
                </p:cNvPr>
                <p:cNvCxnSpPr/>
                <p:nvPr/>
              </p:nvCxnSpPr>
              <p:spPr>
                <a:xfrm flipV="1">
                  <a:off x="5288280" y="1828800"/>
                  <a:ext cx="0" cy="2979420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B9187712-8512-468A-9D32-50C44EA04F20}"/>
                    </a:ext>
                  </a:extLst>
                </p:cNvPr>
                <p:cNvCxnSpPr/>
                <p:nvPr/>
              </p:nvCxnSpPr>
              <p:spPr>
                <a:xfrm flipV="1">
                  <a:off x="6390640" y="1828800"/>
                  <a:ext cx="0" cy="2979420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B11B0D7D-995F-4DAD-AB78-8BA880BF0347}"/>
                    </a:ext>
                  </a:extLst>
                </p:cNvPr>
                <p:cNvCxnSpPr/>
                <p:nvPr/>
              </p:nvCxnSpPr>
              <p:spPr>
                <a:xfrm flipV="1">
                  <a:off x="7493000" y="1828800"/>
                  <a:ext cx="0" cy="2979420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>
                  <a:extLst>
                    <a:ext uri="{FF2B5EF4-FFF2-40B4-BE49-F238E27FC236}">
                      <a16:creationId xmlns:a16="http://schemas.microsoft.com/office/drawing/2014/main" id="{F5E2DF34-AA92-4D95-A242-37115366D74F}"/>
                    </a:ext>
                  </a:extLst>
                </p:cNvPr>
                <p:cNvCxnSpPr/>
                <p:nvPr/>
              </p:nvCxnSpPr>
              <p:spPr>
                <a:xfrm flipV="1">
                  <a:off x="8595360" y="1828800"/>
                  <a:ext cx="0" cy="2979420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>
                  <a:extLst>
                    <a:ext uri="{FF2B5EF4-FFF2-40B4-BE49-F238E27FC236}">
                      <a16:creationId xmlns:a16="http://schemas.microsoft.com/office/drawing/2014/main" id="{61783B0F-AB12-43FF-9DDA-6196620C0F2E}"/>
                    </a:ext>
                  </a:extLst>
                </p:cNvPr>
                <p:cNvCxnSpPr/>
                <p:nvPr/>
              </p:nvCxnSpPr>
              <p:spPr>
                <a:xfrm>
                  <a:off x="4206240" y="1828800"/>
                  <a:ext cx="4389120" cy="0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>
                  <a:extLst>
                    <a:ext uri="{FF2B5EF4-FFF2-40B4-BE49-F238E27FC236}">
                      <a16:creationId xmlns:a16="http://schemas.microsoft.com/office/drawing/2014/main" id="{4B0D1D4A-19A3-4B31-821E-F9D0F987D60E}"/>
                    </a:ext>
                  </a:extLst>
                </p:cNvPr>
                <p:cNvCxnSpPr/>
                <p:nvPr/>
              </p:nvCxnSpPr>
              <p:spPr>
                <a:xfrm>
                  <a:off x="4206240" y="2327148"/>
                  <a:ext cx="4389120" cy="0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>
                  <a:extLst>
                    <a:ext uri="{FF2B5EF4-FFF2-40B4-BE49-F238E27FC236}">
                      <a16:creationId xmlns:a16="http://schemas.microsoft.com/office/drawing/2014/main" id="{A2999E8E-7638-4D28-86AF-4E4063696F76}"/>
                    </a:ext>
                  </a:extLst>
                </p:cNvPr>
                <p:cNvCxnSpPr/>
                <p:nvPr/>
              </p:nvCxnSpPr>
              <p:spPr>
                <a:xfrm>
                  <a:off x="4206240" y="2825496"/>
                  <a:ext cx="4389120" cy="0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83E1A141-C490-4730-AF5B-8323AA2AC635}"/>
                    </a:ext>
                  </a:extLst>
                </p:cNvPr>
                <p:cNvCxnSpPr/>
                <p:nvPr/>
              </p:nvCxnSpPr>
              <p:spPr>
                <a:xfrm>
                  <a:off x="4206240" y="3323844"/>
                  <a:ext cx="4389120" cy="0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7BC99238-60A6-4B3A-9A88-43C75EE2E1D9}"/>
                    </a:ext>
                  </a:extLst>
                </p:cNvPr>
                <p:cNvCxnSpPr/>
                <p:nvPr/>
              </p:nvCxnSpPr>
              <p:spPr>
                <a:xfrm>
                  <a:off x="4206240" y="3822192"/>
                  <a:ext cx="4389120" cy="0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7CA7CDC6-1553-4992-A173-CA0A1792B8EA}"/>
                    </a:ext>
                  </a:extLst>
                </p:cNvPr>
                <p:cNvCxnSpPr/>
                <p:nvPr/>
              </p:nvCxnSpPr>
              <p:spPr>
                <a:xfrm>
                  <a:off x="4206240" y="4320540"/>
                  <a:ext cx="4389120" cy="0"/>
                </a:xfrm>
                <a:prstGeom prst="line">
                  <a:avLst/>
                </a:prstGeom>
                <a:ln>
                  <a:solidFill>
                    <a:schemeClr val="tx1">
                      <a:lumMod val="85000"/>
                      <a:lumOff val="15000"/>
                      <a:alpha val="1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3E04E6C-9D19-48E7-A51C-61975B188B6A}"/>
                  </a:ext>
                </a:extLst>
              </p:cNvPr>
              <p:cNvSpPr txBox="1"/>
              <p:nvPr/>
            </p:nvSpPr>
            <p:spPr>
              <a:xfrm>
                <a:off x="7125735" y="4536295"/>
                <a:ext cx="183393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频率（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Hz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73E0A2F-4B46-4BBF-86C2-20C393A191DE}"/>
                  </a:ext>
                </a:extLst>
              </p:cNvPr>
              <p:cNvSpPr txBox="1"/>
              <p:nvPr/>
            </p:nvSpPr>
            <p:spPr>
              <a:xfrm rot="16200000">
                <a:off x="5038406" y="3232590"/>
                <a:ext cx="15093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|Z| 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阻抗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(Ohm)</a:t>
                </a:r>
                <a:endPara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F835701C-155C-45E2-A02C-1FF2A8A3746C}"/>
                  </a:ext>
                </a:extLst>
              </p:cNvPr>
              <p:cNvGrpSpPr/>
              <p:nvPr/>
            </p:nvGrpSpPr>
            <p:grpSpPr>
              <a:xfrm>
                <a:off x="6268352" y="4272112"/>
                <a:ext cx="2921424" cy="315283"/>
                <a:chOff x="3875678" y="4811395"/>
                <a:chExt cx="5217530" cy="56308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文本框 28">
                      <a:extLst>
                        <a:ext uri="{FF2B5EF4-FFF2-40B4-BE49-F238E27FC236}">
                          <a16:creationId xmlns:a16="http://schemas.microsoft.com/office/drawing/2014/main" id="{B5A8289A-EC20-407D-9B57-26304CE891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75678" y="4877047"/>
                      <a:ext cx="842263" cy="4947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4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6" name="文本框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75678" y="4877047"/>
                      <a:ext cx="842263" cy="494707"/>
                    </a:xfrm>
                    <a:prstGeom prst="rect">
                      <a:avLst/>
                    </a:prstGeom>
                    <a:blipFill rotWithShape="0"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0" name="组合 29">
                  <a:extLst>
                    <a:ext uri="{FF2B5EF4-FFF2-40B4-BE49-F238E27FC236}">
                      <a16:creationId xmlns:a16="http://schemas.microsoft.com/office/drawing/2014/main" id="{0A98C9BE-5979-45FE-B4A3-84A179C2D26B}"/>
                    </a:ext>
                  </a:extLst>
                </p:cNvPr>
                <p:cNvGrpSpPr/>
                <p:nvPr/>
              </p:nvGrpSpPr>
              <p:grpSpPr>
                <a:xfrm>
                  <a:off x="4048262" y="4811395"/>
                  <a:ext cx="5044946" cy="563080"/>
                  <a:chOff x="4048262" y="4811395"/>
                  <a:chExt cx="5044946" cy="563080"/>
                </a:xfrm>
              </p:grpSpPr>
              <p:cxnSp>
                <p:nvCxnSpPr>
                  <p:cNvPr id="31" name="直接箭头连接符 30">
                    <a:extLst>
                      <a:ext uri="{FF2B5EF4-FFF2-40B4-BE49-F238E27FC236}">
                        <a16:creationId xmlns:a16="http://schemas.microsoft.com/office/drawing/2014/main" id="{CBAE9CE7-F17D-45D8-BEBF-1F470D2E860E}"/>
                      </a:ext>
                    </a:extLst>
                  </p:cNvPr>
                  <p:cNvCxnSpPr/>
                  <p:nvPr/>
                </p:nvCxnSpPr>
                <p:spPr>
                  <a:xfrm>
                    <a:off x="4048262" y="4811395"/>
                    <a:ext cx="4854465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文本框 31">
                        <a:extLst>
                          <a:ext uri="{FF2B5EF4-FFF2-40B4-BE49-F238E27FC236}">
                            <a16:creationId xmlns:a16="http://schemas.microsoft.com/office/drawing/2014/main" id="{55033243-151D-43FF-BDAE-4D3F6209D48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47052" y="4875989"/>
                        <a:ext cx="842263" cy="49848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zh-CN" altLang="en-US" sz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9" name="文本框 2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947052" y="4875989"/>
                        <a:ext cx="842263" cy="498486"/>
                      </a:xfrm>
                      <a:prstGeom prst="rect">
                        <a:avLst/>
                      </a:prstGeom>
                      <a:blipFill rotWithShape="0"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文本框 32">
                        <a:extLst>
                          <a:ext uri="{FF2B5EF4-FFF2-40B4-BE49-F238E27FC236}">
                            <a16:creationId xmlns:a16="http://schemas.microsoft.com/office/drawing/2014/main" id="{A0B3B3FE-44DE-4E6A-92C6-92184B40E48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018429" y="4877047"/>
                        <a:ext cx="842263" cy="49470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zh-CN" altLang="en-US" sz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0" name="文本框 2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018429" y="4877047"/>
                        <a:ext cx="842263" cy="494707"/>
                      </a:xfrm>
                      <a:prstGeom prst="rect">
                        <a:avLst/>
                      </a:prstGeom>
                      <a:blipFill rotWithShape="0"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文本框 33">
                        <a:extLst>
                          <a:ext uri="{FF2B5EF4-FFF2-40B4-BE49-F238E27FC236}">
                            <a16:creationId xmlns:a16="http://schemas.microsoft.com/office/drawing/2014/main" id="{76A4BFC8-7EBE-4395-AAB6-ADC40655549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50945" y="4877047"/>
                        <a:ext cx="842263" cy="49470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zh-CN" altLang="en-US" sz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1" name="文本框 3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50945" y="4877047"/>
                        <a:ext cx="842263" cy="494707"/>
                      </a:xfrm>
                      <a:prstGeom prst="rect">
                        <a:avLst/>
                      </a:prstGeom>
                      <a:blipFill rotWithShape="0"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5" name="文本框 34">
                        <a:extLst>
                          <a:ext uri="{FF2B5EF4-FFF2-40B4-BE49-F238E27FC236}">
                            <a16:creationId xmlns:a16="http://schemas.microsoft.com/office/drawing/2014/main" id="{8D89CA35-525F-4B15-8B96-981B8AF493C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179569" y="4877047"/>
                        <a:ext cx="842263" cy="49470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zh-CN" altLang="en-US" sz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2" name="文本框 3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179569" y="4877047"/>
                        <a:ext cx="842263" cy="494707"/>
                      </a:xfrm>
                      <a:prstGeom prst="rect">
                        <a:avLst/>
                      </a:prstGeom>
                      <a:blipFill rotWithShape="0">
                        <a:blip r:embed="rId1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7DC9FD80-D29D-41BE-893C-A6D709A4B4DD}"/>
                  </a:ext>
                </a:extLst>
              </p:cNvPr>
              <p:cNvGrpSpPr/>
              <p:nvPr/>
            </p:nvGrpSpPr>
            <p:grpSpPr>
              <a:xfrm>
                <a:off x="5884093" y="2424644"/>
                <a:ext cx="471605" cy="1942221"/>
                <a:chOff x="3347525" y="1508844"/>
                <a:chExt cx="842264" cy="346871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文本框 21">
                      <a:extLst>
                        <a:ext uri="{FF2B5EF4-FFF2-40B4-BE49-F238E27FC236}">
                          <a16:creationId xmlns:a16="http://schemas.microsoft.com/office/drawing/2014/main" id="{E178709E-5C26-4477-9D6A-F296C7B30D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47525" y="4482854"/>
                      <a:ext cx="842262" cy="4947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文本框 1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7525" y="4482854"/>
                      <a:ext cx="842262" cy="494707"/>
                    </a:xfrm>
                    <a:prstGeom prst="rect">
                      <a:avLst/>
                    </a:prstGeom>
                    <a:blipFill rotWithShape="0"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文本框 22">
                      <a:extLst>
                        <a:ext uri="{FF2B5EF4-FFF2-40B4-BE49-F238E27FC236}">
                          <a16:creationId xmlns:a16="http://schemas.microsoft.com/office/drawing/2014/main" id="{CB5DE177-2DE3-4473-97AB-4F29B23166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47525" y="1508844"/>
                      <a:ext cx="842262" cy="4947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6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文本框 1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7525" y="1508844"/>
                      <a:ext cx="842262" cy="494707"/>
                    </a:xfrm>
                    <a:prstGeom prst="rect">
                      <a:avLst/>
                    </a:prstGeom>
                    <a:blipFill rotWithShape="0"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文本框 23">
                      <a:extLst>
                        <a:ext uri="{FF2B5EF4-FFF2-40B4-BE49-F238E27FC236}">
                          <a16:creationId xmlns:a16="http://schemas.microsoft.com/office/drawing/2014/main" id="{0E8A8D2D-E61D-4822-9F5C-323B0E9C41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47525" y="2501986"/>
                      <a:ext cx="842264" cy="4947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4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文本框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7525" y="2501986"/>
                      <a:ext cx="842264" cy="494707"/>
                    </a:xfrm>
                    <a:prstGeom prst="rect">
                      <a:avLst/>
                    </a:prstGeom>
                    <a:blipFill rotWithShape="0"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文本框 24">
                      <a:extLst>
                        <a:ext uri="{FF2B5EF4-FFF2-40B4-BE49-F238E27FC236}">
                          <a16:creationId xmlns:a16="http://schemas.microsoft.com/office/drawing/2014/main" id="{42AB6D80-DF43-4F6E-89A0-FC3C889DEC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47525" y="2998554"/>
                      <a:ext cx="842262" cy="4947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文本框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7525" y="2998554"/>
                      <a:ext cx="842262" cy="494707"/>
                    </a:xfrm>
                    <a:prstGeom prst="rect">
                      <a:avLst/>
                    </a:prstGeom>
                    <a:blipFill rotWithShape="0"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文本框 25">
                      <a:extLst>
                        <a:ext uri="{FF2B5EF4-FFF2-40B4-BE49-F238E27FC236}">
                          <a16:creationId xmlns:a16="http://schemas.microsoft.com/office/drawing/2014/main" id="{B37CD65D-07C4-438E-BE6B-75F69CD469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47525" y="3495126"/>
                      <a:ext cx="842262" cy="4947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文本框 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7525" y="3495126"/>
                      <a:ext cx="842262" cy="494707"/>
                    </a:xfrm>
                    <a:prstGeom prst="rect">
                      <a:avLst/>
                    </a:prstGeom>
                    <a:blipFill rotWithShape="0"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文本框 26">
                      <a:extLst>
                        <a:ext uri="{FF2B5EF4-FFF2-40B4-BE49-F238E27FC236}">
                          <a16:creationId xmlns:a16="http://schemas.microsoft.com/office/drawing/2014/main" id="{AEC4C72F-49B6-49E2-A12F-FC8AAEAA90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47525" y="3991698"/>
                      <a:ext cx="836420" cy="49470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文本框 2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7525" y="3991698"/>
                      <a:ext cx="836420" cy="494707"/>
                    </a:xfrm>
                    <a:prstGeom prst="rect">
                      <a:avLst/>
                    </a:prstGeom>
                    <a:blipFill rotWithShape="0"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文本框 27">
                      <a:extLst>
                        <a:ext uri="{FF2B5EF4-FFF2-40B4-BE49-F238E27FC236}">
                          <a16:creationId xmlns:a16="http://schemas.microsoft.com/office/drawing/2014/main" id="{6B9BED48-D923-4A9E-B2B1-D54EB65823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47525" y="2005414"/>
                      <a:ext cx="842262" cy="49848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5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文本框 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7525" y="2005414"/>
                      <a:ext cx="842262" cy="498486"/>
                    </a:xfrm>
                    <a:prstGeom prst="rect">
                      <a:avLst/>
                    </a:prstGeom>
                    <a:blipFill rotWithShape="0"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B203A1C3-0D27-4923-9A22-306FEDE24E15}"/>
              </a:ext>
            </a:extLst>
          </p:cNvPr>
          <p:cNvGrpSpPr/>
          <p:nvPr/>
        </p:nvGrpSpPr>
        <p:grpSpPr>
          <a:xfrm>
            <a:off x="6375120" y="2934095"/>
            <a:ext cx="3767983" cy="1306274"/>
            <a:chOff x="6375120" y="2934095"/>
            <a:chExt cx="3767983" cy="1306274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60DFD4A-8CC6-4E2A-A77B-D97EE560BC76}"/>
                </a:ext>
              </a:extLst>
            </p:cNvPr>
            <p:cNvCxnSpPr/>
            <p:nvPr/>
          </p:nvCxnSpPr>
          <p:spPr>
            <a:xfrm flipV="1">
              <a:off x="6375120" y="2934095"/>
              <a:ext cx="2466661" cy="1114705"/>
            </a:xfrm>
            <a:prstGeom prst="line">
              <a:avLst/>
            </a:prstGeom>
            <a:ln w="12700">
              <a:solidFill>
                <a:srgbClr val="00B0F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944F4EB-8BC4-499F-B506-19E2D56C34A3}"/>
                </a:ext>
              </a:extLst>
            </p:cNvPr>
            <p:cNvCxnSpPr/>
            <p:nvPr/>
          </p:nvCxnSpPr>
          <p:spPr>
            <a:xfrm>
              <a:off x="9138142" y="4115154"/>
              <a:ext cx="298741" cy="0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EADB080-79B7-4DA4-85A5-1FEE484ABC8B}"/>
                </a:ext>
              </a:extLst>
            </p:cNvPr>
            <p:cNvSpPr txBox="1"/>
            <p:nvPr/>
          </p:nvSpPr>
          <p:spPr>
            <a:xfrm>
              <a:off x="9335999" y="3994148"/>
              <a:ext cx="8071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理想电感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F427ADE-DCB5-4DAB-87DF-AA5E12BA448A}"/>
              </a:ext>
            </a:extLst>
          </p:cNvPr>
          <p:cNvGrpSpPr/>
          <p:nvPr/>
        </p:nvGrpSpPr>
        <p:grpSpPr>
          <a:xfrm>
            <a:off x="6378886" y="2597729"/>
            <a:ext cx="3757132" cy="1803568"/>
            <a:chOff x="6378886" y="2597729"/>
            <a:chExt cx="3757132" cy="1803568"/>
          </a:xfrm>
        </p:grpSpPr>
        <p:sp>
          <p:nvSpPr>
            <p:cNvPr id="9" name="任意多边形 43">
              <a:extLst>
                <a:ext uri="{FF2B5EF4-FFF2-40B4-BE49-F238E27FC236}">
                  <a16:creationId xmlns:a16="http://schemas.microsoft.com/office/drawing/2014/main" id="{6A3BB348-5707-4493-B284-8E3D0FC4BFFC}"/>
                </a:ext>
              </a:extLst>
            </p:cNvPr>
            <p:cNvSpPr/>
            <p:nvPr/>
          </p:nvSpPr>
          <p:spPr>
            <a:xfrm>
              <a:off x="6378886" y="2597729"/>
              <a:ext cx="2462895" cy="1433240"/>
            </a:xfrm>
            <a:custGeom>
              <a:avLst/>
              <a:gdLst>
                <a:gd name="connsiteX0" fmla="*/ 0 w 4983480"/>
                <a:gd name="connsiteY0" fmla="*/ 2903543 h 2903543"/>
                <a:gd name="connsiteX1" fmla="*/ 2385060 w 4983480"/>
                <a:gd name="connsiteY1" fmla="*/ 1844363 h 2903543"/>
                <a:gd name="connsiteX2" fmla="*/ 2956560 w 4983480"/>
                <a:gd name="connsiteY2" fmla="*/ 1432883 h 2903543"/>
                <a:gd name="connsiteX3" fmla="*/ 3101340 w 4983480"/>
                <a:gd name="connsiteY3" fmla="*/ 632783 h 2903543"/>
                <a:gd name="connsiteX4" fmla="*/ 3124200 w 4983480"/>
                <a:gd name="connsiteY4" fmla="*/ 323 h 2903543"/>
                <a:gd name="connsiteX5" fmla="*/ 3162300 w 4983480"/>
                <a:gd name="connsiteY5" fmla="*/ 556583 h 2903543"/>
                <a:gd name="connsiteX6" fmla="*/ 3223260 w 4983480"/>
                <a:gd name="connsiteY6" fmla="*/ 1227143 h 2903543"/>
                <a:gd name="connsiteX7" fmla="*/ 3482340 w 4983480"/>
                <a:gd name="connsiteY7" fmla="*/ 1615763 h 2903543"/>
                <a:gd name="connsiteX8" fmla="*/ 4983480 w 4983480"/>
                <a:gd name="connsiteY8" fmla="*/ 2339663 h 2903543"/>
                <a:gd name="connsiteX0" fmla="*/ 0 w 4983480"/>
                <a:gd name="connsiteY0" fmla="*/ 2928943 h 2928943"/>
                <a:gd name="connsiteX1" fmla="*/ 2385060 w 4983480"/>
                <a:gd name="connsiteY1" fmla="*/ 184436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928943 h 2928943"/>
                <a:gd name="connsiteX1" fmla="*/ 2391410 w 4983480"/>
                <a:gd name="connsiteY1" fmla="*/ 1838013 h 2928943"/>
                <a:gd name="connsiteX2" fmla="*/ 2956560 w 4983480"/>
                <a:gd name="connsiteY2" fmla="*/ 1432883 h 2928943"/>
                <a:gd name="connsiteX3" fmla="*/ 3101340 w 4983480"/>
                <a:gd name="connsiteY3" fmla="*/ 632783 h 2928943"/>
                <a:gd name="connsiteX4" fmla="*/ 3124200 w 4983480"/>
                <a:gd name="connsiteY4" fmla="*/ 323 h 2928943"/>
                <a:gd name="connsiteX5" fmla="*/ 3162300 w 4983480"/>
                <a:gd name="connsiteY5" fmla="*/ 556583 h 2928943"/>
                <a:gd name="connsiteX6" fmla="*/ 3223260 w 4983480"/>
                <a:gd name="connsiteY6" fmla="*/ 1227143 h 2928943"/>
                <a:gd name="connsiteX7" fmla="*/ 3482340 w 4983480"/>
                <a:gd name="connsiteY7" fmla="*/ 1615763 h 2928943"/>
                <a:gd name="connsiteX8" fmla="*/ 4983480 w 4983480"/>
                <a:gd name="connsiteY8" fmla="*/ 2339663 h 2928943"/>
                <a:gd name="connsiteX0" fmla="*/ 0 w 4983480"/>
                <a:gd name="connsiteY0" fmla="*/ 2884529 h 2884529"/>
                <a:gd name="connsiteX1" fmla="*/ 2391410 w 4983480"/>
                <a:gd name="connsiteY1" fmla="*/ 1793599 h 2884529"/>
                <a:gd name="connsiteX2" fmla="*/ 2956560 w 4983480"/>
                <a:gd name="connsiteY2" fmla="*/ 1388469 h 2884529"/>
                <a:gd name="connsiteX3" fmla="*/ 3101340 w 4983480"/>
                <a:gd name="connsiteY3" fmla="*/ 588369 h 2884529"/>
                <a:gd name="connsiteX4" fmla="*/ 3130550 w 4983480"/>
                <a:gd name="connsiteY4" fmla="*/ 359 h 2884529"/>
                <a:gd name="connsiteX5" fmla="*/ 3162300 w 4983480"/>
                <a:gd name="connsiteY5" fmla="*/ 512169 h 2884529"/>
                <a:gd name="connsiteX6" fmla="*/ 3223260 w 4983480"/>
                <a:gd name="connsiteY6" fmla="*/ 1182729 h 2884529"/>
                <a:gd name="connsiteX7" fmla="*/ 3482340 w 4983480"/>
                <a:gd name="connsiteY7" fmla="*/ 1571349 h 2884529"/>
                <a:gd name="connsiteX8" fmla="*/ 4983480 w 4983480"/>
                <a:gd name="connsiteY8" fmla="*/ 2295249 h 2884529"/>
                <a:gd name="connsiteX0" fmla="*/ 0 w 4983480"/>
                <a:gd name="connsiteY0" fmla="*/ 2887700 h 2887700"/>
                <a:gd name="connsiteX1" fmla="*/ 2391410 w 4983480"/>
                <a:gd name="connsiteY1" fmla="*/ 1796770 h 2887700"/>
                <a:gd name="connsiteX2" fmla="*/ 2956560 w 4983480"/>
                <a:gd name="connsiteY2" fmla="*/ 1391640 h 2887700"/>
                <a:gd name="connsiteX3" fmla="*/ 3101340 w 4983480"/>
                <a:gd name="connsiteY3" fmla="*/ 591540 h 2887700"/>
                <a:gd name="connsiteX4" fmla="*/ 3127375 w 4983480"/>
                <a:gd name="connsiteY4" fmla="*/ 355 h 2887700"/>
                <a:gd name="connsiteX5" fmla="*/ 3162300 w 4983480"/>
                <a:gd name="connsiteY5" fmla="*/ 515340 h 2887700"/>
                <a:gd name="connsiteX6" fmla="*/ 3223260 w 4983480"/>
                <a:gd name="connsiteY6" fmla="*/ 1185900 h 2887700"/>
                <a:gd name="connsiteX7" fmla="*/ 3482340 w 4983480"/>
                <a:gd name="connsiteY7" fmla="*/ 1574520 h 2887700"/>
                <a:gd name="connsiteX8" fmla="*/ 4983480 w 4983480"/>
                <a:gd name="connsiteY8" fmla="*/ 2298420 h 2887700"/>
                <a:gd name="connsiteX0" fmla="*/ 0 w 4983480"/>
                <a:gd name="connsiteY0" fmla="*/ 2900390 h 2900390"/>
                <a:gd name="connsiteX1" fmla="*/ 2391410 w 4983480"/>
                <a:gd name="connsiteY1" fmla="*/ 1809460 h 2900390"/>
                <a:gd name="connsiteX2" fmla="*/ 2956560 w 4983480"/>
                <a:gd name="connsiteY2" fmla="*/ 1404330 h 2900390"/>
                <a:gd name="connsiteX3" fmla="*/ 3101340 w 4983480"/>
                <a:gd name="connsiteY3" fmla="*/ 604230 h 2900390"/>
                <a:gd name="connsiteX4" fmla="*/ 3124200 w 4983480"/>
                <a:gd name="connsiteY4" fmla="*/ 345 h 2900390"/>
                <a:gd name="connsiteX5" fmla="*/ 3162300 w 4983480"/>
                <a:gd name="connsiteY5" fmla="*/ 528030 h 2900390"/>
                <a:gd name="connsiteX6" fmla="*/ 3223260 w 4983480"/>
                <a:gd name="connsiteY6" fmla="*/ 1198590 h 2900390"/>
                <a:gd name="connsiteX7" fmla="*/ 3482340 w 4983480"/>
                <a:gd name="connsiteY7" fmla="*/ 1587210 h 2900390"/>
                <a:gd name="connsiteX8" fmla="*/ 4983480 w 4983480"/>
                <a:gd name="connsiteY8" fmla="*/ 2311110 h 2900390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24200 w 4983480"/>
                <a:gd name="connsiteY4" fmla="*/ 6 h 2900051"/>
                <a:gd name="connsiteX5" fmla="*/ 3178175 w 4983480"/>
                <a:gd name="connsiteY5" fmla="*/ 613416 h 2900051"/>
                <a:gd name="connsiteX6" fmla="*/ 3223260 w 4983480"/>
                <a:gd name="connsiteY6" fmla="*/ 119825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24200 w 4983480"/>
                <a:gd name="connsiteY4" fmla="*/ 6 h 2900051"/>
                <a:gd name="connsiteX5" fmla="*/ 3178175 w 4983480"/>
                <a:gd name="connsiteY5" fmla="*/ 613416 h 2900051"/>
                <a:gd name="connsiteX6" fmla="*/ 3223260 w 4983480"/>
                <a:gd name="connsiteY6" fmla="*/ 119825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23260 w 4983480"/>
                <a:gd name="connsiteY6" fmla="*/ 119825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67710 w 4983480"/>
                <a:gd name="connsiteY6" fmla="*/ 1385576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67710 w 4983480"/>
                <a:gd name="connsiteY6" fmla="*/ 1385576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482340 w 4983480"/>
                <a:gd name="connsiteY7" fmla="*/ 1586871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  <a:gd name="connsiteX0" fmla="*/ 0 w 4983480"/>
                <a:gd name="connsiteY0" fmla="*/ 2900051 h 2900051"/>
                <a:gd name="connsiteX1" fmla="*/ 2391410 w 4983480"/>
                <a:gd name="connsiteY1" fmla="*/ 1809121 h 2900051"/>
                <a:gd name="connsiteX2" fmla="*/ 2956560 w 4983480"/>
                <a:gd name="connsiteY2" fmla="*/ 1403991 h 2900051"/>
                <a:gd name="connsiteX3" fmla="*/ 3101340 w 4983480"/>
                <a:gd name="connsiteY3" fmla="*/ 603891 h 2900051"/>
                <a:gd name="connsiteX4" fmla="*/ 3133725 w 4983480"/>
                <a:gd name="connsiteY4" fmla="*/ 6 h 2900051"/>
                <a:gd name="connsiteX5" fmla="*/ 3178175 w 4983480"/>
                <a:gd name="connsiteY5" fmla="*/ 613416 h 2900051"/>
                <a:gd name="connsiteX6" fmla="*/ 3277235 w 4983480"/>
                <a:gd name="connsiteY6" fmla="*/ 1395101 h 2900051"/>
                <a:gd name="connsiteX7" fmla="*/ 3910965 w 4983480"/>
                <a:gd name="connsiteY7" fmla="*/ 1805946 h 2900051"/>
                <a:gd name="connsiteX8" fmla="*/ 4983480 w 4983480"/>
                <a:gd name="connsiteY8" fmla="*/ 2310771 h 29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83480" h="2900051">
                  <a:moveTo>
                    <a:pt x="0" y="2900051"/>
                  </a:moveTo>
                  <a:cubicBezTo>
                    <a:pt x="946150" y="2493016"/>
                    <a:pt x="1898650" y="2058464"/>
                    <a:pt x="2391410" y="1809121"/>
                  </a:cubicBezTo>
                  <a:cubicBezTo>
                    <a:pt x="2607945" y="1696303"/>
                    <a:pt x="2838238" y="1604863"/>
                    <a:pt x="2956560" y="1403991"/>
                  </a:cubicBezTo>
                  <a:cubicBezTo>
                    <a:pt x="3074882" y="1203119"/>
                    <a:pt x="3084513" y="847413"/>
                    <a:pt x="3101340" y="603891"/>
                  </a:cubicBezTo>
                  <a:cubicBezTo>
                    <a:pt x="3118167" y="360369"/>
                    <a:pt x="3120919" y="-1582"/>
                    <a:pt x="3133725" y="6"/>
                  </a:cubicBezTo>
                  <a:cubicBezTo>
                    <a:pt x="3146531" y="1594"/>
                    <a:pt x="3173307" y="388837"/>
                    <a:pt x="3178175" y="613416"/>
                  </a:cubicBezTo>
                  <a:cubicBezTo>
                    <a:pt x="3183043" y="837995"/>
                    <a:pt x="3197966" y="1239208"/>
                    <a:pt x="3277235" y="1395101"/>
                  </a:cubicBezTo>
                  <a:cubicBezTo>
                    <a:pt x="3367617" y="1522419"/>
                    <a:pt x="3358303" y="1527922"/>
                    <a:pt x="3910965" y="1805946"/>
                  </a:cubicBezTo>
                  <a:cubicBezTo>
                    <a:pt x="4087389" y="1893470"/>
                    <a:pt x="4379595" y="2041531"/>
                    <a:pt x="4983480" y="2310771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13CE08E-67AB-4DCD-9EB8-1D6C37F765BB}"/>
                </a:ext>
              </a:extLst>
            </p:cNvPr>
            <p:cNvCxnSpPr/>
            <p:nvPr/>
          </p:nvCxnSpPr>
          <p:spPr>
            <a:xfrm>
              <a:off x="9138142" y="4270334"/>
              <a:ext cx="298741" cy="0"/>
            </a:xfrm>
            <a:prstGeom prst="line">
              <a:avLst/>
            </a:prstGeom>
            <a:ln w="127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A94843E-D070-4BA4-999F-D1FB308A6F37}"/>
                </a:ext>
              </a:extLst>
            </p:cNvPr>
            <p:cNvSpPr txBox="1"/>
            <p:nvPr/>
          </p:nvSpPr>
          <p:spPr>
            <a:xfrm>
              <a:off x="9328914" y="4155076"/>
              <a:ext cx="8071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实际电感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616A44F-BAE7-4835-9065-51A260AE38D3}"/>
              </a:ext>
            </a:extLst>
          </p:cNvPr>
          <p:cNvGrpSpPr/>
          <p:nvPr/>
        </p:nvGrpSpPr>
        <p:grpSpPr>
          <a:xfrm>
            <a:off x="7710297" y="2597732"/>
            <a:ext cx="502813" cy="1907569"/>
            <a:chOff x="7710297" y="2597732"/>
            <a:chExt cx="502813" cy="1907569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1AAEF661-76A8-4CFD-8CF1-27DA5EBC62AE}"/>
                </a:ext>
              </a:extLst>
            </p:cNvPr>
            <p:cNvCxnSpPr>
              <a:stCxn id="9" idx="4"/>
            </p:cNvCxnSpPr>
            <p:nvPr/>
          </p:nvCxnSpPr>
          <p:spPr>
            <a:xfrm>
              <a:off x="7927609" y="2597732"/>
              <a:ext cx="2534" cy="1657362"/>
            </a:xfrm>
            <a:prstGeom prst="line">
              <a:avLst/>
            </a:prstGeom>
            <a:ln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BD7EF25-EAC9-437B-A5DE-971FC83FD352}"/>
                </a:ext>
              </a:extLst>
            </p:cNvPr>
            <p:cNvSpPr txBox="1"/>
            <p:nvPr/>
          </p:nvSpPr>
          <p:spPr>
            <a:xfrm>
              <a:off x="7710297" y="4243691"/>
              <a:ext cx="50281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SRF</a:t>
              </a:r>
              <a:endParaRPr lang="zh-CN" altLang="en-US" sz="105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箭头: 下 2">
            <a:extLst>
              <a:ext uri="{FF2B5EF4-FFF2-40B4-BE49-F238E27FC236}">
                <a16:creationId xmlns:a16="http://schemas.microsoft.com/office/drawing/2014/main" id="{574930D5-FC5D-4E57-A36E-21AFFCEB03F6}"/>
              </a:ext>
            </a:extLst>
          </p:cNvPr>
          <p:cNvSpPr/>
          <p:nvPr/>
        </p:nvSpPr>
        <p:spPr>
          <a:xfrm>
            <a:off x="7658411" y="1787162"/>
            <a:ext cx="267036" cy="319754"/>
          </a:xfrm>
          <a:prstGeom prst="down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5040B04-E0C4-448F-8AAE-DD0A2308A434}"/>
              </a:ext>
            </a:extLst>
          </p:cNvPr>
          <p:cNvSpPr txBox="1"/>
          <p:nvPr/>
        </p:nvSpPr>
        <p:spPr>
          <a:xfrm>
            <a:off x="6842541" y="29498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感性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6B29D84-92F1-4E5B-B569-730AC208C526}"/>
              </a:ext>
            </a:extLst>
          </p:cNvPr>
          <p:cNvSpPr txBox="1"/>
          <p:nvPr/>
        </p:nvSpPr>
        <p:spPr>
          <a:xfrm>
            <a:off x="8354084" y="29498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497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15"/>
    </mc:Choice>
    <mc:Fallback xmlns="">
      <p:transition spd="slow" advTm="241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path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-0.27695 0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54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</p:cBhvr>
                                      <p:by x="70000" y="7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500"/>
                            </p:stCondLst>
                            <p:childTnLst>
                              <p:par>
                                <p:cTn id="26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44444E-6 L -2.29167E-6 -0.30787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9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4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825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6" grpId="0"/>
      <p:bldP spid="6" grpId="1"/>
      <p:bldP spid="3" grpId="0" animBg="1"/>
      <p:bldP spid="51" grpId="0"/>
      <p:bldP spid="5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7EF16021-7AF3-4D91-BBF0-56F07348042C}"/>
              </a:ext>
            </a:extLst>
          </p:cNvPr>
          <p:cNvGrpSpPr/>
          <p:nvPr/>
        </p:nvGrpSpPr>
        <p:grpSpPr>
          <a:xfrm>
            <a:off x="3559969" y="536732"/>
            <a:ext cx="5072062" cy="626608"/>
            <a:chOff x="2214563" y="536732"/>
            <a:chExt cx="5072062" cy="6266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05739EF0-DB89-4D35-8D02-6E954C28D1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867" b="86266" l="16890" r="80161">
                          <a14:foregroundMark x1="47453" y1="67382" x2="47453" y2="67382"/>
                          <a14:foregroundMark x1="39946" y1="68670" x2="39946" y2="68670"/>
                          <a14:foregroundMark x1="42627" y1="80687" x2="42627" y2="80687"/>
                          <a14:foregroundMark x1="51475" y1="68670" x2="51475" y2="68670"/>
                          <a14:foregroundMark x1="54692" y1="67382" x2="54692" y2="67382"/>
                          <a14:foregroundMark x1="65147" y1="70386" x2="65147" y2="70386"/>
                          <a14:foregroundMark x1="72386" y1="71674" x2="72386" y2="71674"/>
                          <a14:foregroundMark x1="76676" y1="69957" x2="76676" y2="69957"/>
                          <a14:foregroundMark x1="73995" y1="81545" x2="73995" y2="81545"/>
                          <a14:foregroundMark x1="24933" y1="75107" x2="24933" y2="75107"/>
                          <a14:foregroundMark x1="21448" y1="72532" x2="21448" y2="72532"/>
                          <a14:foregroundMark x1="21448" y1="73820" x2="21448" y2="73820"/>
                          <a14:foregroundMark x1="21448" y1="75536" x2="21448" y2="75536"/>
                          <a14:foregroundMark x1="21448" y1="76824" x2="21448" y2="76824"/>
                          <a14:foregroundMark x1="21448" y1="67382" x2="21448" y2="67382"/>
                          <a14:foregroundMark x1="21984" y1="67382" x2="21984" y2="67382"/>
                          <a14:foregroundMark x1="46113" y1="66094" x2="46113" y2="66094"/>
                          <a14:foregroundMark x1="31903" y1="65665" x2="31903" y2="65665"/>
                          <a14:foregroundMark x1="56836" y1="81545" x2="56836" y2="81545"/>
                          <a14:backgroundMark x1="34048" y1="51931" x2="34048" y2="51931"/>
                          <a14:backgroundMark x1="32976" y1="44206" x2="32976" y2="44206"/>
                          <a14:backgroundMark x1="38070" y1="53648" x2="38070" y2="53648"/>
                          <a14:backgroundMark x1="45308" y1="62661" x2="45308" y2="62661"/>
                          <a14:backgroundMark x1="42895" y1="57940" x2="42895" y2="57940"/>
                          <a14:backgroundMark x1="64075" y1="50215" x2="64075" y2="50215"/>
                          <a14:backgroundMark x1="39410" y1="73820" x2="39410" y2="73820"/>
                          <a14:backgroundMark x1="64611" y1="73820" x2="64611" y2="73820"/>
                          <a14:backgroundMark x1="75335" y1="76824" x2="75335" y2="7682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58" t="6867" r="19705" b="13949"/>
            <a:stretch/>
          </p:blipFill>
          <p:spPr bwMode="auto">
            <a:xfrm>
              <a:off x="2214563" y="536732"/>
              <a:ext cx="799816" cy="626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78DA502-FD37-4900-B1C2-BE0D96B8EB01}"/>
                </a:ext>
              </a:extLst>
            </p:cNvPr>
            <p:cNvSpPr txBox="1"/>
            <p:nvPr/>
          </p:nvSpPr>
          <p:spPr>
            <a:xfrm>
              <a:off x="3326364" y="588426"/>
              <a:ext cx="39602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MATLAB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绘制电感曲线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8A858711-DCE2-48A9-B9A8-D50F9DD2375D}"/>
                  </a:ext>
                </a:extLst>
              </p:cNvPr>
              <p:cNvSpPr/>
              <p:nvPr/>
            </p:nvSpPr>
            <p:spPr>
              <a:xfrm>
                <a:off x="4124627" y="1905962"/>
                <a:ext cx="3942746" cy="7186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</a:rPr>
                  <a:t>阻抗模：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zh-CN" altLang="en-US" sz="20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zh-CN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zh-CN" alt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zh-CN" altLang="en-US" sz="20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𝐿𝐶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𝑅𝐶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altLang="en-US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8A858711-DCE2-48A9-B9A8-D50F9DD237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27" y="1905962"/>
                <a:ext cx="3942746" cy="718658"/>
              </a:xfrm>
              <a:prstGeom prst="rect">
                <a:avLst/>
              </a:prstGeom>
              <a:blipFill>
                <a:blip r:embed="rId4"/>
                <a:stretch>
                  <a:fillRect l="-1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756653CB-0FB1-4FD6-808B-30EA6373DCB9}"/>
                  </a:ext>
                </a:extLst>
              </p:cNvPr>
              <p:cNvSpPr txBox="1"/>
              <p:nvPr/>
            </p:nvSpPr>
            <p:spPr>
              <a:xfrm>
                <a:off x="4285428" y="3167390"/>
                <a:ext cx="9289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756653CB-0FB1-4FD6-808B-30EA6373D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428" y="3167390"/>
                <a:ext cx="92893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BEB70F8-962C-45C1-9273-282C4734DAFE}"/>
                  </a:ext>
                </a:extLst>
              </p:cNvPr>
              <p:cNvSpPr txBox="1"/>
              <p:nvPr/>
            </p:nvSpPr>
            <p:spPr>
              <a:xfrm>
                <a:off x="5631534" y="3167390"/>
                <a:ext cx="9289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BEB70F8-962C-45C1-9273-282C4734D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534" y="3167390"/>
                <a:ext cx="92893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C73DABF9-538F-4866-9A7C-71D6EEAA9A25}"/>
                  </a:ext>
                </a:extLst>
              </p:cNvPr>
              <p:cNvSpPr txBox="1"/>
              <p:nvPr/>
            </p:nvSpPr>
            <p:spPr>
              <a:xfrm>
                <a:off x="6977640" y="3167390"/>
                <a:ext cx="9289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C73DABF9-538F-4866-9A7C-71D6EEAA9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640" y="3167390"/>
                <a:ext cx="92893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68EDD17D-246E-40A9-BC04-1C90FCB17171}"/>
                  </a:ext>
                </a:extLst>
              </p:cNvPr>
              <p:cNvSpPr/>
              <p:nvPr/>
            </p:nvSpPr>
            <p:spPr>
              <a:xfrm>
                <a:off x="3959877" y="4225932"/>
                <a:ext cx="1829219" cy="6646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谐振</m:t>
                          </m:r>
                        </m:sub>
                      </m:sSub>
                      <m:r>
                        <a:rPr lang="zh-CN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68EDD17D-246E-40A9-BC04-1C90FCB17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877" y="4225932"/>
                <a:ext cx="1829219" cy="6646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箭头: 右 54">
            <a:extLst>
              <a:ext uri="{FF2B5EF4-FFF2-40B4-BE49-F238E27FC236}">
                <a16:creationId xmlns:a16="http://schemas.microsoft.com/office/drawing/2014/main" id="{7E537902-FD57-44DC-9ADD-780474A51028}"/>
              </a:ext>
            </a:extLst>
          </p:cNvPr>
          <p:cNvSpPr/>
          <p:nvPr/>
        </p:nvSpPr>
        <p:spPr>
          <a:xfrm>
            <a:off x="6044942" y="4407707"/>
            <a:ext cx="451700" cy="301057"/>
          </a:xfrm>
          <a:prstGeom prst="right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5721F658-3955-488B-9B32-99974EA9583C}"/>
                  </a:ext>
                </a:extLst>
              </p:cNvPr>
              <p:cNvSpPr txBox="1"/>
              <p:nvPr/>
            </p:nvSpPr>
            <p:spPr>
              <a:xfrm>
                <a:off x="6752488" y="4227568"/>
                <a:ext cx="1428297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b="0" i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zh-CN" altLang="en-US" b="0" i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b="0" i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5721F658-3955-488B-9B32-99974EA95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488" y="4227568"/>
                <a:ext cx="1428297" cy="6613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63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2287"/>
    </mc:Choice>
    <mc:Fallback xmlns="">
      <p:transition advTm="122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/>
      <p:bldP spid="47" grpId="0"/>
      <p:bldP spid="50" grpId="0"/>
      <p:bldP spid="56" grpId="0"/>
      <p:bldP spid="55" grpId="0" animBg="1"/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085FEC-BDD0-440C-B43C-85138159E32B}"/>
              </a:ext>
            </a:extLst>
          </p:cNvPr>
          <p:cNvGrpSpPr/>
          <p:nvPr/>
        </p:nvGrpSpPr>
        <p:grpSpPr>
          <a:xfrm>
            <a:off x="3559969" y="536732"/>
            <a:ext cx="5072062" cy="626608"/>
            <a:chOff x="2214563" y="536732"/>
            <a:chExt cx="5072062" cy="6266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BCD118F-03FE-4F03-8552-152A4A2C5A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867" b="86266" l="16890" r="80161">
                          <a14:foregroundMark x1="47453" y1="67382" x2="47453" y2="67382"/>
                          <a14:foregroundMark x1="39946" y1="68670" x2="39946" y2="68670"/>
                          <a14:foregroundMark x1="42627" y1="80687" x2="42627" y2="80687"/>
                          <a14:foregroundMark x1="51475" y1="68670" x2="51475" y2="68670"/>
                          <a14:foregroundMark x1="54692" y1="67382" x2="54692" y2="67382"/>
                          <a14:foregroundMark x1="65147" y1="70386" x2="65147" y2="70386"/>
                          <a14:foregroundMark x1="72386" y1="71674" x2="72386" y2="71674"/>
                          <a14:foregroundMark x1="76676" y1="69957" x2="76676" y2="69957"/>
                          <a14:foregroundMark x1="73995" y1="81545" x2="73995" y2="81545"/>
                          <a14:foregroundMark x1="24933" y1="75107" x2="24933" y2="75107"/>
                          <a14:foregroundMark x1="21448" y1="72532" x2="21448" y2="72532"/>
                          <a14:foregroundMark x1="21448" y1="73820" x2="21448" y2="73820"/>
                          <a14:foregroundMark x1="21448" y1="75536" x2="21448" y2="75536"/>
                          <a14:foregroundMark x1="21448" y1="76824" x2="21448" y2="76824"/>
                          <a14:foregroundMark x1="21448" y1="67382" x2="21448" y2="67382"/>
                          <a14:foregroundMark x1="21984" y1="67382" x2="21984" y2="67382"/>
                          <a14:foregroundMark x1="46113" y1="66094" x2="46113" y2="66094"/>
                          <a14:foregroundMark x1="31903" y1="65665" x2="31903" y2="65665"/>
                          <a14:foregroundMark x1="56836" y1="81545" x2="56836" y2="81545"/>
                          <a14:backgroundMark x1="34048" y1="51931" x2="34048" y2="51931"/>
                          <a14:backgroundMark x1="32976" y1="44206" x2="32976" y2="44206"/>
                          <a14:backgroundMark x1="38070" y1="53648" x2="38070" y2="53648"/>
                          <a14:backgroundMark x1="45308" y1="62661" x2="45308" y2="62661"/>
                          <a14:backgroundMark x1="42895" y1="57940" x2="42895" y2="57940"/>
                          <a14:backgroundMark x1="64075" y1="50215" x2="64075" y2="50215"/>
                          <a14:backgroundMark x1="39410" y1="73820" x2="39410" y2="73820"/>
                          <a14:backgroundMark x1="64611" y1="73820" x2="64611" y2="73820"/>
                          <a14:backgroundMark x1="75335" y1="76824" x2="75335" y2="7682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58" t="6867" r="19705" b="13949"/>
            <a:stretch/>
          </p:blipFill>
          <p:spPr bwMode="auto">
            <a:xfrm>
              <a:off x="2214563" y="536732"/>
              <a:ext cx="799816" cy="626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29480EC7-A3D9-481F-B90E-A667E5AC8289}"/>
                </a:ext>
              </a:extLst>
            </p:cNvPr>
            <p:cNvSpPr txBox="1"/>
            <p:nvPr/>
          </p:nvSpPr>
          <p:spPr>
            <a:xfrm>
              <a:off x="3326364" y="588426"/>
              <a:ext cx="39602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MATLAB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绘制电感曲线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297504A0-67B2-4266-9988-49CCA8E46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575" y="1652253"/>
            <a:ext cx="8433273" cy="3970874"/>
          </a:xfrm>
          <a:prstGeom prst="rect">
            <a:avLst/>
          </a:prstGeom>
          <a:effectLst>
            <a:softEdge rad="38100"/>
          </a:effectLst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A61A7C17-C106-4D67-AC00-21C4AB13A8EF}"/>
              </a:ext>
            </a:extLst>
          </p:cNvPr>
          <p:cNvGrpSpPr/>
          <p:nvPr/>
        </p:nvGrpSpPr>
        <p:grpSpPr>
          <a:xfrm>
            <a:off x="2584450" y="3757996"/>
            <a:ext cx="3161111" cy="338554"/>
            <a:chOff x="2584450" y="3757996"/>
            <a:chExt cx="3161111" cy="33855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01C72EC-2D10-495A-A517-8A679FB7AC5F}"/>
                </a:ext>
              </a:extLst>
            </p:cNvPr>
            <p:cNvSpPr/>
            <p:nvPr/>
          </p:nvSpPr>
          <p:spPr>
            <a:xfrm>
              <a:off x="2584450" y="3829050"/>
              <a:ext cx="2590800" cy="1587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E7A7F88-98E6-4849-94E3-0AD918668ACA}"/>
                </a:ext>
              </a:extLst>
            </p:cNvPr>
            <p:cNvSpPr txBox="1"/>
            <p:nvPr/>
          </p:nvSpPr>
          <p:spPr>
            <a:xfrm>
              <a:off x="5128689" y="3757996"/>
              <a:ext cx="61687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FF0000"/>
                  </a:solidFill>
                </a:rPr>
                <a:t>1uH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DB569ED-9670-47F1-822A-7333D91B2189}"/>
              </a:ext>
            </a:extLst>
          </p:cNvPr>
          <p:cNvGrpSpPr/>
          <p:nvPr/>
        </p:nvGrpSpPr>
        <p:grpSpPr>
          <a:xfrm>
            <a:off x="2584450" y="3964209"/>
            <a:ext cx="3321131" cy="338554"/>
            <a:chOff x="2584450" y="3964209"/>
            <a:chExt cx="3321131" cy="33855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11B2BDA-A45E-41E0-BD40-79F0D28A97EF}"/>
                </a:ext>
              </a:extLst>
            </p:cNvPr>
            <p:cNvSpPr/>
            <p:nvPr/>
          </p:nvSpPr>
          <p:spPr>
            <a:xfrm>
              <a:off x="2584450" y="4043680"/>
              <a:ext cx="2590800" cy="1587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A968B30-7454-40EB-AA90-499429ECAF0F}"/>
                </a:ext>
              </a:extLst>
            </p:cNvPr>
            <p:cNvSpPr txBox="1"/>
            <p:nvPr/>
          </p:nvSpPr>
          <p:spPr>
            <a:xfrm>
              <a:off x="5128689" y="3964209"/>
              <a:ext cx="7768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FF0000"/>
                  </a:solidFill>
                </a:rPr>
                <a:t>10uH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E91C090-1922-4661-8E77-5EF3B4055B7F}"/>
              </a:ext>
            </a:extLst>
          </p:cNvPr>
          <p:cNvGrpSpPr/>
          <p:nvPr/>
        </p:nvGrpSpPr>
        <p:grpSpPr>
          <a:xfrm>
            <a:off x="2584450" y="5237167"/>
            <a:ext cx="3321131" cy="338554"/>
            <a:chOff x="2584450" y="5237167"/>
            <a:chExt cx="3321131" cy="33855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BCF1FBE-3C61-462F-8E2F-82D0ED4FF990}"/>
                </a:ext>
              </a:extLst>
            </p:cNvPr>
            <p:cNvSpPr/>
            <p:nvPr/>
          </p:nvSpPr>
          <p:spPr>
            <a:xfrm>
              <a:off x="2584450" y="5325110"/>
              <a:ext cx="2590800" cy="1587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48C5D05-F806-4A4B-9535-51674C5D36CD}"/>
                </a:ext>
              </a:extLst>
            </p:cNvPr>
            <p:cNvSpPr txBox="1"/>
            <p:nvPr/>
          </p:nvSpPr>
          <p:spPr>
            <a:xfrm>
              <a:off x="5128689" y="5237167"/>
              <a:ext cx="7768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FF0000"/>
                  </a:solidFill>
                </a:rPr>
                <a:t>470uH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6321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57"/>
    </mc:Choice>
    <mc:Fallback xmlns="">
      <p:transition spd="slow" advTm="136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3DBD490-7016-40C5-B390-B4B65CCB3B54}"/>
              </a:ext>
            </a:extLst>
          </p:cNvPr>
          <p:cNvGrpSpPr/>
          <p:nvPr/>
        </p:nvGrpSpPr>
        <p:grpSpPr>
          <a:xfrm>
            <a:off x="3559969" y="536732"/>
            <a:ext cx="5072062" cy="626608"/>
            <a:chOff x="2214563" y="536732"/>
            <a:chExt cx="5072062" cy="626608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BE5EED59-D103-4B03-8893-FAB4C42864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867" b="86266" l="16890" r="80161">
                          <a14:foregroundMark x1="47453" y1="67382" x2="47453" y2="67382"/>
                          <a14:foregroundMark x1="39946" y1="68670" x2="39946" y2="68670"/>
                          <a14:foregroundMark x1="42627" y1="80687" x2="42627" y2="80687"/>
                          <a14:foregroundMark x1="51475" y1="68670" x2="51475" y2="68670"/>
                          <a14:foregroundMark x1="54692" y1="67382" x2="54692" y2="67382"/>
                          <a14:foregroundMark x1="65147" y1="70386" x2="65147" y2="70386"/>
                          <a14:foregroundMark x1="72386" y1="71674" x2="72386" y2="71674"/>
                          <a14:foregroundMark x1="76676" y1="69957" x2="76676" y2="69957"/>
                          <a14:foregroundMark x1="73995" y1="81545" x2="73995" y2="81545"/>
                          <a14:foregroundMark x1="24933" y1="75107" x2="24933" y2="75107"/>
                          <a14:foregroundMark x1="21448" y1="72532" x2="21448" y2="72532"/>
                          <a14:foregroundMark x1="21448" y1="73820" x2="21448" y2="73820"/>
                          <a14:foregroundMark x1="21448" y1="75536" x2="21448" y2="75536"/>
                          <a14:foregroundMark x1="21448" y1="76824" x2="21448" y2="76824"/>
                          <a14:foregroundMark x1="21448" y1="67382" x2="21448" y2="67382"/>
                          <a14:foregroundMark x1="21984" y1="67382" x2="21984" y2="67382"/>
                          <a14:foregroundMark x1="46113" y1="66094" x2="46113" y2="66094"/>
                          <a14:foregroundMark x1="31903" y1="65665" x2="31903" y2="65665"/>
                          <a14:foregroundMark x1="56836" y1="81545" x2="56836" y2="81545"/>
                          <a14:backgroundMark x1="34048" y1="51931" x2="34048" y2="51931"/>
                          <a14:backgroundMark x1="32976" y1="44206" x2="32976" y2="44206"/>
                          <a14:backgroundMark x1="38070" y1="53648" x2="38070" y2="53648"/>
                          <a14:backgroundMark x1="45308" y1="62661" x2="45308" y2="62661"/>
                          <a14:backgroundMark x1="42895" y1="57940" x2="42895" y2="57940"/>
                          <a14:backgroundMark x1="64075" y1="50215" x2="64075" y2="50215"/>
                          <a14:backgroundMark x1="39410" y1="73820" x2="39410" y2="73820"/>
                          <a14:backgroundMark x1="64611" y1="73820" x2="64611" y2="73820"/>
                          <a14:backgroundMark x1="75335" y1="76824" x2="75335" y2="7682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58" t="6867" r="19705" b="13949"/>
            <a:stretch/>
          </p:blipFill>
          <p:spPr bwMode="auto">
            <a:xfrm>
              <a:off x="2214563" y="536732"/>
              <a:ext cx="799816" cy="626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07BAD87-7D84-4DC9-81A5-DF17B918D56B}"/>
                </a:ext>
              </a:extLst>
            </p:cNvPr>
            <p:cNvSpPr txBox="1"/>
            <p:nvPr/>
          </p:nvSpPr>
          <p:spPr>
            <a:xfrm>
              <a:off x="3326364" y="588426"/>
              <a:ext cx="39602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MATLAB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绘制电感曲线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63FBB91-84E1-488A-8875-E6FFDBEE2F07}"/>
              </a:ext>
            </a:extLst>
          </p:cNvPr>
          <p:cNvGrpSpPr/>
          <p:nvPr/>
        </p:nvGrpSpPr>
        <p:grpSpPr>
          <a:xfrm>
            <a:off x="2322575" y="1652253"/>
            <a:ext cx="8433273" cy="3970874"/>
            <a:chOff x="2322575" y="1652253"/>
            <a:chExt cx="8433273" cy="3970874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6B41E76-6ADA-4DAC-9110-864F3AC52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22575" y="1652253"/>
              <a:ext cx="8433273" cy="3970874"/>
            </a:xfrm>
            <a:prstGeom prst="rect">
              <a:avLst/>
            </a:prstGeom>
            <a:effectLst>
              <a:softEdge rad="38100"/>
            </a:effectLst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C36B8006-0B51-4B25-AD22-F8EA6A480BAE}"/>
                </a:ext>
              </a:extLst>
            </p:cNvPr>
            <p:cNvGrpSpPr/>
            <p:nvPr/>
          </p:nvGrpSpPr>
          <p:grpSpPr>
            <a:xfrm>
              <a:off x="2584450" y="3757996"/>
              <a:ext cx="3161111" cy="338554"/>
              <a:chOff x="2584450" y="3757996"/>
              <a:chExt cx="3161111" cy="338554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E842102-854D-4755-B3DA-AE1973F9DE23}"/>
                  </a:ext>
                </a:extLst>
              </p:cNvPr>
              <p:cNvSpPr/>
              <p:nvPr/>
            </p:nvSpPr>
            <p:spPr>
              <a:xfrm>
                <a:off x="2584450" y="3829050"/>
                <a:ext cx="2590800" cy="158750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A7E2ED-FF56-499D-94C0-588C099F00FC}"/>
                  </a:ext>
                </a:extLst>
              </p:cNvPr>
              <p:cNvSpPr txBox="1"/>
              <p:nvPr/>
            </p:nvSpPr>
            <p:spPr>
              <a:xfrm>
                <a:off x="5128689" y="3757996"/>
                <a:ext cx="61687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solidFill>
                      <a:srgbClr val="FF0000"/>
                    </a:solidFill>
                  </a:rPr>
                  <a:t>1uH</a:t>
                </a:r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593E898-8EF9-4204-8C89-C1688A4ADE4C}"/>
                </a:ext>
              </a:extLst>
            </p:cNvPr>
            <p:cNvGrpSpPr/>
            <p:nvPr/>
          </p:nvGrpSpPr>
          <p:grpSpPr>
            <a:xfrm>
              <a:off x="2584450" y="3964209"/>
              <a:ext cx="3321131" cy="338554"/>
              <a:chOff x="2584450" y="3964209"/>
              <a:chExt cx="3321131" cy="338554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77B962C-1E01-4B9D-B894-7BA8A60B2EC6}"/>
                  </a:ext>
                </a:extLst>
              </p:cNvPr>
              <p:cNvSpPr/>
              <p:nvPr/>
            </p:nvSpPr>
            <p:spPr>
              <a:xfrm>
                <a:off x="2584450" y="4043680"/>
                <a:ext cx="2590800" cy="158750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A2465B2-0D15-462E-BA7E-19B778FFE7B1}"/>
                  </a:ext>
                </a:extLst>
              </p:cNvPr>
              <p:cNvSpPr txBox="1"/>
              <p:nvPr/>
            </p:nvSpPr>
            <p:spPr>
              <a:xfrm>
                <a:off x="5128689" y="3964209"/>
                <a:ext cx="77689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solidFill>
                      <a:srgbClr val="FF0000"/>
                    </a:solidFill>
                  </a:rPr>
                  <a:t>10uH</a:t>
                </a:r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A871F67-032B-4901-AE22-8D9D952B577B}"/>
                </a:ext>
              </a:extLst>
            </p:cNvPr>
            <p:cNvGrpSpPr/>
            <p:nvPr/>
          </p:nvGrpSpPr>
          <p:grpSpPr>
            <a:xfrm>
              <a:off x="2584450" y="5237167"/>
              <a:ext cx="3321131" cy="338554"/>
              <a:chOff x="2584450" y="5237167"/>
              <a:chExt cx="3321131" cy="338554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CAFF59F-E480-4736-BAB1-73F10BFF0440}"/>
                  </a:ext>
                </a:extLst>
              </p:cNvPr>
              <p:cNvSpPr/>
              <p:nvPr/>
            </p:nvSpPr>
            <p:spPr>
              <a:xfrm>
                <a:off x="2584450" y="5325110"/>
                <a:ext cx="2590800" cy="158750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27CF5A1-C249-44FD-9462-F2DCC58F1D67}"/>
                  </a:ext>
                </a:extLst>
              </p:cNvPr>
              <p:cNvSpPr txBox="1"/>
              <p:nvPr/>
            </p:nvSpPr>
            <p:spPr>
              <a:xfrm>
                <a:off x="5128689" y="5237167"/>
                <a:ext cx="77689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solidFill>
                      <a:srgbClr val="FF0000"/>
                    </a:solidFill>
                  </a:rPr>
                  <a:t>470uH</a:t>
                </a:r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p:grpSp>
      </p:grpSp>
      <p:graphicFrame>
        <p:nvGraphicFramePr>
          <p:cNvPr id="20" name="表格 4">
            <a:extLst>
              <a:ext uri="{FF2B5EF4-FFF2-40B4-BE49-F238E27FC236}">
                <a16:creationId xmlns:a16="http://schemas.microsoft.com/office/drawing/2014/main" id="{535A60B5-5B44-4EE1-8E80-E25B5F82B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367586"/>
              </p:ext>
            </p:extLst>
          </p:nvPr>
        </p:nvGraphicFramePr>
        <p:xfrm>
          <a:off x="4953000" y="1679210"/>
          <a:ext cx="6819900" cy="183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">
                  <a:extLst>
                    <a:ext uri="{9D8B030D-6E8A-4147-A177-3AD203B41FA5}">
                      <a16:colId xmlns:a16="http://schemas.microsoft.com/office/drawing/2014/main" val="285698230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1959975765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3273552843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3077987095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4123114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7030A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rgbClr val="7030A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理想电感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rgbClr val="7030A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1uH</a:t>
                      </a:r>
                      <a:r>
                        <a:rPr lang="zh-CN" altLang="en-US" b="0" dirty="0">
                          <a:solidFill>
                            <a:srgbClr val="7030A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电感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>
                          <a:solidFill>
                            <a:srgbClr val="7030A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10uH</a:t>
                      </a:r>
                      <a:r>
                        <a:rPr lang="zh-CN" altLang="en-US" b="0" dirty="0">
                          <a:solidFill>
                            <a:srgbClr val="7030A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电感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>
                          <a:solidFill>
                            <a:srgbClr val="7030A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470uH</a:t>
                      </a:r>
                      <a:r>
                        <a:rPr lang="zh-CN" altLang="en-US" b="0" dirty="0">
                          <a:solidFill>
                            <a:srgbClr val="7030A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电感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38772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7030A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L</a:t>
                      </a:r>
                      <a:endParaRPr lang="zh-CN" altLang="en-US" dirty="0">
                        <a:solidFill>
                          <a:srgbClr val="7030A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1uH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1uH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10uH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470uH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74099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70C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谐振频率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070C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无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70C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97Mhz</a:t>
                      </a:r>
                      <a:endParaRPr lang="zh-CN" altLang="en-US" dirty="0">
                        <a:solidFill>
                          <a:srgbClr val="0070C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70C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16Mhz</a:t>
                      </a:r>
                      <a:endParaRPr lang="zh-CN" altLang="en-US" dirty="0">
                        <a:solidFill>
                          <a:srgbClr val="0070C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70C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2Mhz</a:t>
                      </a:r>
                      <a:endParaRPr lang="zh-CN" altLang="en-US" dirty="0">
                        <a:solidFill>
                          <a:srgbClr val="0070C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24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7030A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</a:t>
                      </a:r>
                      <a:endParaRPr lang="zh-CN" altLang="en-US" dirty="0">
                        <a:solidFill>
                          <a:srgbClr val="7030A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2.7pF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10pF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13.4pF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149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7030A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R</a:t>
                      </a:r>
                      <a:endParaRPr lang="zh-CN" altLang="en-US" dirty="0">
                        <a:solidFill>
                          <a:srgbClr val="7030A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0.01Ω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0.062Ω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2.5Ω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699182"/>
                  </a:ext>
                </a:extLst>
              </a:tr>
            </a:tbl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DDBA1F86-343B-4C18-A905-5695E7181D01}"/>
              </a:ext>
            </a:extLst>
          </p:cNvPr>
          <p:cNvGrpSpPr/>
          <p:nvPr/>
        </p:nvGrpSpPr>
        <p:grpSpPr>
          <a:xfrm>
            <a:off x="6096000" y="4137032"/>
            <a:ext cx="4220908" cy="664606"/>
            <a:chOff x="6096000" y="4137032"/>
            <a:chExt cx="4220908" cy="6646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46A7C279-F2F9-4352-897F-83DA2D068C2D}"/>
                    </a:ext>
                  </a:extLst>
                </p:cNvPr>
                <p:cNvSpPr/>
                <p:nvPr/>
              </p:nvSpPr>
              <p:spPr>
                <a:xfrm>
                  <a:off x="6096000" y="4137032"/>
                  <a:ext cx="1829219" cy="6646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谐振</m:t>
                            </m:r>
                          </m:sub>
                        </m:sSub>
                        <m:r>
                          <a:rPr lang="zh-CN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46A7C279-F2F9-4352-897F-83DA2D068C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137032"/>
                  <a:ext cx="1829219" cy="66460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箭头: 右 22">
              <a:extLst>
                <a:ext uri="{FF2B5EF4-FFF2-40B4-BE49-F238E27FC236}">
                  <a16:creationId xmlns:a16="http://schemas.microsoft.com/office/drawing/2014/main" id="{6FED0579-0B56-4903-9A64-02C668CD6136}"/>
                </a:ext>
              </a:extLst>
            </p:cNvPr>
            <p:cNvSpPr/>
            <p:nvPr/>
          </p:nvSpPr>
          <p:spPr>
            <a:xfrm>
              <a:off x="8181065" y="4318807"/>
              <a:ext cx="451700" cy="301057"/>
            </a:xfrm>
            <a:prstGeom prst="rightArrow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D4474E5D-BDF3-4EC2-BBE5-99FF6137B7EF}"/>
                    </a:ext>
                  </a:extLst>
                </p:cNvPr>
                <p:cNvSpPr txBox="1"/>
                <p:nvPr/>
              </p:nvSpPr>
              <p:spPr>
                <a:xfrm>
                  <a:off x="8888611" y="4138668"/>
                  <a:ext cx="1428297" cy="6613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zh-CN" altLang="en-US" b="0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b="0" i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zh-CN" altLang="en-US" b="0" i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zh-CN" altLang="en-US" b="0" i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oMath>
                    </m:oMathPara>
                  </a14:m>
                  <a:endParaRPr lang="zh-CN" alt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D4474E5D-BDF3-4EC2-BBE5-99FF6137B7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8611" y="4138668"/>
                  <a:ext cx="1428297" cy="66133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702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85"/>
    </mc:Choice>
    <mc:Fallback xmlns="">
      <p:transition spd="slow" advTm="74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07407E-6 L -0.33841 -4.07407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2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5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9475293-421D-4F24-9C46-87CF4F9A57B0}"/>
              </a:ext>
            </a:extLst>
          </p:cNvPr>
          <p:cNvSpPr txBox="1"/>
          <p:nvPr/>
        </p:nvSpPr>
        <p:spPr>
          <a:xfrm>
            <a:off x="6877049" y="474345"/>
            <a:ext cx="2709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源代码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D3120E-781C-494B-8632-566F832E0CE2}"/>
              </a:ext>
            </a:extLst>
          </p:cNvPr>
          <p:cNvSpPr txBox="1"/>
          <p:nvPr/>
        </p:nvSpPr>
        <p:spPr>
          <a:xfrm>
            <a:off x="6877049" y="1230604"/>
            <a:ext cx="531495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获取方法：</a:t>
            </a:r>
            <a:endParaRPr lang="en-US" altLang="zh-CN" sz="20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关注视频末尾微信公众号“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硬件工程师炼成之路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在微信公众号后台回复“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器件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645A2A3-8943-4566-A1DD-828B6739492D}"/>
              </a:ext>
            </a:extLst>
          </p:cNvPr>
          <p:cNvGrpSpPr/>
          <p:nvPr/>
        </p:nvGrpSpPr>
        <p:grpSpPr>
          <a:xfrm>
            <a:off x="311150" y="474345"/>
            <a:ext cx="5784850" cy="5909310"/>
            <a:chOff x="311150" y="58847"/>
            <a:chExt cx="5784850" cy="590931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40C3248-29F1-4FE3-AB27-467ACCB130DA}"/>
                </a:ext>
              </a:extLst>
            </p:cNvPr>
            <p:cNvSpPr txBox="1"/>
            <p:nvPr/>
          </p:nvSpPr>
          <p:spPr>
            <a:xfrm>
              <a:off x="311150" y="58847"/>
              <a:ext cx="5784850" cy="590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203200"/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</a:t>
              </a:r>
              <a:r>
                <a:rPr lang="zh-CN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顺络</a:t>
              </a:r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SWPA6040S1R0MT 1uH</a:t>
              </a:r>
              <a:r>
                <a:rPr lang="zh-CN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电感</a:t>
              </a:r>
              <a:r>
                <a:rPr lang="zh-CN" altLang="zh-CN" sz="1400" kern="100" dirty="0">
                  <a:solidFill>
                    <a:srgbClr val="7030A0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 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C1=0.0000000000027; </a:t>
              </a:r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%2.7pF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L1=0.000001;        </a:t>
              </a:r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%1uH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R1=0.01;            </a:t>
              </a:r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%0.01Ω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solidFill>
                    <a:srgbClr val="7030A0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 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%SWPA6040S100MT   </a:t>
              </a:r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10uH </a:t>
              </a:r>
              <a:r>
                <a:rPr lang="zh-CN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电感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C2=0.00000000001; </a:t>
              </a:r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%10pF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L2=0.00001;       </a:t>
              </a:r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%10uH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R2=0.062;          </a:t>
              </a:r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%0.062Ω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solidFill>
                    <a:srgbClr val="7030A0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 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%SWPA6040S471MT     470uH </a:t>
              </a:r>
              <a:r>
                <a:rPr lang="zh-CN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电感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C3=0.0000000000134; </a:t>
              </a:r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%13.4pF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L3=0.00047;         </a:t>
              </a:r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%470uH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R3=2.5;             </a:t>
              </a:r>
              <a:r>
                <a:rPr lang="en-US" altLang="zh-CN" sz="1400" kern="100" dirty="0">
                  <a:solidFill>
                    <a:srgbClr val="70AD47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%2.5Ω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solidFill>
                    <a:srgbClr val="7030A0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 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f=[10000:1000:1000000000];   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w=(f.*pi*2);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Z0=w.*L1;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Z1=(((w.*L1).^2+R1^2)./((1-w.^2*L1*C1).^2+(w.*R1*C1).^2)).^0.5;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Z2=(((w.*L2).^2+R2^2)./((1-w.^2*L2*C2).^2+(w.*R2*C2).^2)).^0.5;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Z3=(((w.*L3).^2+R3^2)./((1-w.^2*L3*C3).^2+(w.*R3*C3).^2)).^0.5;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1270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 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loglog(f,Z0,f,Z1,f,Z2,f,Z3);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legend('</a:t>
              </a:r>
              <a:r>
                <a:rPr lang="zh-CN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理想</a:t>
              </a:r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1uH','</a:t>
              </a:r>
              <a:r>
                <a:rPr lang="zh-CN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顺络</a:t>
              </a:r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1uH','</a:t>
              </a:r>
              <a:r>
                <a:rPr lang="zh-CN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顺络</a:t>
              </a:r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10uH','</a:t>
              </a:r>
              <a:r>
                <a:rPr lang="zh-CN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顺络</a:t>
              </a:r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470uH');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grid on;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xlabel('</a:t>
              </a:r>
              <a:r>
                <a:rPr lang="zh-CN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频率</a:t>
              </a:r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-Hz'), ylabel('|Z|:</a:t>
              </a:r>
              <a:r>
                <a:rPr lang="zh-CN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阻抗Ω</a:t>
              </a:r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');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  <a:p>
              <a:pPr indent="203200"/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title '</a:t>
              </a:r>
              <a:r>
                <a:rPr lang="zh-CN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电感阻抗</a:t>
              </a:r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频率曲线</a:t>
              </a:r>
              <a:r>
                <a:rPr lang="en-US" altLang="zh-CN" sz="1400" kern="100" dirty="0"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';</a:t>
              </a:r>
              <a:endParaRPr lang="zh-CN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1AD4B5F-9D2B-48B5-8E81-9AE43BDB4A32}"/>
                </a:ext>
              </a:extLst>
            </p:cNvPr>
            <p:cNvSpPr/>
            <p:nvPr/>
          </p:nvSpPr>
          <p:spPr>
            <a:xfrm>
              <a:off x="484632" y="58847"/>
              <a:ext cx="5504688" cy="583903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291807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4696</TotalTime>
  <Words>365</Words>
  <Application>Microsoft Office PowerPoint</Application>
  <PresentationFormat>宽屏</PresentationFormat>
  <Paragraphs>94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微软雅黑</vt:lpstr>
      <vt:lpstr>微软雅黑 Light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539</cp:revision>
  <dcterms:created xsi:type="dcterms:W3CDTF">2020-08-24T03:54:07Z</dcterms:created>
  <dcterms:modified xsi:type="dcterms:W3CDTF">2020-10-24T11:19:06Z</dcterms:modified>
</cp:coreProperties>
</file>