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437" r:id="rId3"/>
    <p:sldId id="436" r:id="rId4"/>
    <p:sldId id="464" r:id="rId5"/>
    <p:sldId id="465" r:id="rId6"/>
    <p:sldId id="466" r:id="rId7"/>
    <p:sldId id="467" r:id="rId8"/>
    <p:sldId id="468" r:id="rId9"/>
    <p:sldId id="459" r:id="rId10"/>
    <p:sldId id="456" r:id="rId11"/>
    <p:sldId id="469" r:id="rId12"/>
    <p:sldId id="470" r:id="rId13"/>
    <p:sldId id="471" r:id="rId14"/>
    <p:sldId id="472" r:id="rId15"/>
    <p:sldId id="473" r:id="rId16"/>
    <p:sldId id="458" r:id="rId17"/>
    <p:sldId id="455" r:id="rId18"/>
    <p:sldId id="474" r:id="rId19"/>
    <p:sldId id="475" r:id="rId20"/>
    <p:sldId id="476" r:id="rId21"/>
    <p:sldId id="478" r:id="rId22"/>
    <p:sldId id="479" r:id="rId23"/>
    <p:sldId id="480" r:id="rId24"/>
    <p:sldId id="477" r:id="rId25"/>
    <p:sldId id="481" r:id="rId26"/>
    <p:sldId id="482" r:id="rId27"/>
    <p:sldId id="483" r:id="rId28"/>
    <p:sldId id="484" r:id="rId29"/>
    <p:sldId id="485" r:id="rId30"/>
    <p:sldId id="460" r:id="rId31"/>
    <p:sldId id="461" r:id="rId32"/>
    <p:sldId id="487" r:id="rId33"/>
    <p:sldId id="488" r:id="rId34"/>
    <p:sldId id="489" r:id="rId35"/>
    <p:sldId id="490" r:id="rId36"/>
    <p:sldId id="486" r:id="rId37"/>
    <p:sldId id="462" r:id="rId38"/>
    <p:sldId id="491" r:id="rId39"/>
    <p:sldId id="492" r:id="rId40"/>
    <p:sldId id="493" r:id="rId41"/>
    <p:sldId id="494" r:id="rId42"/>
    <p:sldId id="495" r:id="rId43"/>
    <p:sldId id="496" r:id="rId44"/>
    <p:sldId id="497" r:id="rId45"/>
    <p:sldId id="498" r:id="rId46"/>
    <p:sldId id="499" r:id="rId47"/>
    <p:sldId id="500" r:id="rId48"/>
    <p:sldId id="501" r:id="rId49"/>
    <p:sldId id="502" r:id="rId50"/>
    <p:sldId id="503" r:id="rId51"/>
    <p:sldId id="451" r:id="rId52"/>
    <p:sldId id="454" r:id="rId53"/>
    <p:sldId id="463" r:id="rId54"/>
    <p:sldId id="346" r:id="rId5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2025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62" autoAdjust="0"/>
    <p:restoredTop sz="94660"/>
  </p:normalViewPr>
  <p:slideViewPr>
    <p:cSldViewPr snapToGrid="0">
      <p:cViewPr>
        <p:scale>
          <a:sx n="100" d="100"/>
          <a:sy n="100" d="100"/>
        </p:scale>
        <p:origin x="36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E44E49-B0D9-4706-868B-5889D3A25B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F8D9918-3AB5-4BE3-90EF-F94FC2A875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73703E-3322-40FC-8787-F3E20C230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D650DC-A624-456A-A126-B8F1F838B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546143-118A-4A28-8A19-6BC35F44E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8823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E0BB6C-6ABB-4B2B-9725-FDC1BE9C9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146B91-7420-456E-BD98-D8ABE75E3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BB58B1-8F09-450C-886D-B47496AE9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3293CC-1DA1-4CD5-8322-6C20B1B02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1A5435-AD74-4105-9E5C-18D1B172A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0820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E6B85F-D98C-4A1B-9F13-1F87A1148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A8E2CFF-03E8-414C-AABD-26898041A2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B2FCD8-1483-4FAC-8377-81D0AF500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A6A4E9-0DA6-4AEF-941B-DE110A13A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71F056-9F80-4735-98FC-FB9414495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4530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F580BD-B975-4AF9-9F57-5CBC534EE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25B173-E218-4879-8704-52E0ED0088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82506D-508D-4CA9-A154-F079308E84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3C18ABC-C9B1-4830-8AD2-83CC9E5BB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74C9BCA-8CC4-44E9-97B8-AAD3C5EF2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6C2B09C-B6F7-47C1-BEBB-2E3C84262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847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2B039D-81CB-4899-AA9C-3B180993B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298E01-7DCE-4427-9379-27DC59548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37B538C-7788-45CF-996C-6D3EB2E177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C49C056-9795-4D8F-A4CE-B639129FA8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0C1D8B3-B497-4940-A742-1AF75D447A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8343125-6FA6-4950-8FE3-FDB5A2882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0303CE0-CE25-473A-B5E4-2FA0BB0CA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3AD48A5-C5FC-4EC0-B676-A9B7CC19A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7496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8373AB-BBBC-4686-89C0-63CAB85C4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E98F6D2-F4E4-47AF-93A0-9DF6A649D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244BCB8-8294-4E7D-AAD5-C1BBB21A6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6F6B71C-9DFD-4420-BFB0-76438F071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4076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5399917-3CB4-491C-9473-890DB8B75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B84501C-9879-44AD-A3B9-85E3E84D1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C9C6F50-07D4-487A-956A-C292F5E7A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0350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DD4130-3573-4C55-A6D0-028F1CDA7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60FE88-9209-4A5D-939C-862D68A89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BA9C650-6D5F-437D-BFD2-1A0D82E686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88E517-402D-4380-B17B-35ABBD9FC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7D383A3-7C92-4A5D-97F9-5313A829B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44A4F65-D1B8-4A2C-A062-41BDB28C6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1392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03709C-F489-4048-AEB8-663258EDE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9A4C458-F1BC-44FE-90B6-954DDCB152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4AF3892-E433-45AD-A948-2237EE65AA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8E72DE0-09AA-48CB-AC0E-D768EA13A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B7BD1EF-F7AA-4B75-AA5A-1C34962B5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8795F0-787D-450E-961D-26A2CEAE9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9745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E3B332-42A7-4B0D-90B8-4A68F4D57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632AC77-0820-4B8F-8819-296149ECA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069B8D-6B48-4BB1-BABF-B8B945A49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032B04-6BE0-4722-8D9D-4C460EE43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52181D-D509-4B8D-822E-128878FB9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2346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197586C-AC2A-4FC5-A48D-4AA27BA948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89EBCCB-6E4E-43EF-95E4-BA1C7B9C26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06CA1E-3FDB-4E81-A86E-D7907DA2D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6831A7-33CF-4637-835A-4AE4D2726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C11E3D-8B94-4F61-AA6B-E71FAD6D0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9727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B3A36F2-E160-491C-94CD-186B2ECDC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66E8900-3692-4DEF-8886-461D1A35DA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5D4E82-7023-40EA-BEB0-D75ED39443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2A7DE3-7461-4351-842C-02EB77888246}" type="datetimeFigureOut">
              <a:rPr lang="zh-CN" altLang="en-US" smtClean="0"/>
              <a:t>2020/7/11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8B27E6-965C-4D6B-9F9F-A4F41511D1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84CF8E-8B64-46AC-8247-5696965B3F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1745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0" name="组合 219">
            <a:extLst>
              <a:ext uri="{FF2B5EF4-FFF2-40B4-BE49-F238E27FC236}">
                <a16:creationId xmlns:a16="http://schemas.microsoft.com/office/drawing/2014/main" id="{DF8570F6-BD9A-4CC6-8811-FBBC3D720396}"/>
              </a:ext>
            </a:extLst>
          </p:cNvPr>
          <p:cNvGrpSpPr/>
          <p:nvPr/>
        </p:nvGrpSpPr>
        <p:grpSpPr>
          <a:xfrm>
            <a:off x="977953" y="270354"/>
            <a:ext cx="2050883" cy="6317292"/>
            <a:chOff x="5791550" y="296215"/>
            <a:chExt cx="385618" cy="1187811"/>
          </a:xfrm>
        </p:grpSpPr>
        <p:sp>
          <p:nvSpPr>
            <p:cNvPr id="2" name="Rectangle 1565">
              <a:extLst>
                <a:ext uri="{FF2B5EF4-FFF2-40B4-BE49-F238E27FC236}">
                  <a16:creationId xmlns:a16="http://schemas.microsoft.com/office/drawing/2014/main" id="{17B13F00-8686-4C71-8349-1B1C3DD3ED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1990" y="583315"/>
              <a:ext cx="87257" cy="87255"/>
            </a:xfrm>
            <a:prstGeom prst="rect">
              <a:avLst/>
            </a:prstGeom>
            <a:solidFill>
              <a:srgbClr val="CF9E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Rectangle 1566">
              <a:extLst>
                <a:ext uri="{FF2B5EF4-FFF2-40B4-BE49-F238E27FC236}">
                  <a16:creationId xmlns:a16="http://schemas.microsoft.com/office/drawing/2014/main" id="{EDD239C6-1192-40E6-BD9C-57F54989D7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1990" y="583315"/>
              <a:ext cx="87257" cy="87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Freeform 1567">
              <a:extLst>
                <a:ext uri="{FF2B5EF4-FFF2-40B4-BE49-F238E27FC236}">
                  <a16:creationId xmlns:a16="http://schemas.microsoft.com/office/drawing/2014/main" id="{38E4D7CF-FD83-4C89-A646-27D7CB34C68C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9104" y="963303"/>
              <a:ext cx="258954" cy="121032"/>
            </a:xfrm>
            <a:custGeom>
              <a:avLst/>
              <a:gdLst>
                <a:gd name="T0" fmla="*/ 90 w 92"/>
                <a:gd name="T1" fmla="*/ 43 h 43"/>
                <a:gd name="T2" fmla="*/ 7 w 92"/>
                <a:gd name="T3" fmla="*/ 43 h 43"/>
                <a:gd name="T4" fmla="*/ 0 w 92"/>
                <a:gd name="T5" fmla="*/ 0 h 43"/>
                <a:gd name="T6" fmla="*/ 92 w 92"/>
                <a:gd name="T7" fmla="*/ 0 h 43"/>
                <a:gd name="T8" fmla="*/ 90 w 92"/>
                <a:gd name="T9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43">
                  <a:moveTo>
                    <a:pt x="90" y="43"/>
                  </a:moveTo>
                  <a:lnTo>
                    <a:pt x="7" y="43"/>
                  </a:lnTo>
                  <a:lnTo>
                    <a:pt x="0" y="0"/>
                  </a:lnTo>
                  <a:lnTo>
                    <a:pt x="92" y="0"/>
                  </a:lnTo>
                  <a:lnTo>
                    <a:pt x="90" y="43"/>
                  </a:ln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Freeform 1568">
              <a:extLst>
                <a:ext uri="{FF2B5EF4-FFF2-40B4-BE49-F238E27FC236}">
                  <a16:creationId xmlns:a16="http://schemas.microsoft.com/office/drawing/2014/main" id="{22810413-8FC8-4C32-BEC8-5C47B95F376A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9104" y="963303"/>
              <a:ext cx="258954" cy="121032"/>
            </a:xfrm>
            <a:custGeom>
              <a:avLst/>
              <a:gdLst>
                <a:gd name="T0" fmla="*/ 90 w 92"/>
                <a:gd name="T1" fmla="*/ 43 h 43"/>
                <a:gd name="T2" fmla="*/ 7 w 92"/>
                <a:gd name="T3" fmla="*/ 43 h 43"/>
                <a:gd name="T4" fmla="*/ 0 w 92"/>
                <a:gd name="T5" fmla="*/ 0 h 43"/>
                <a:gd name="T6" fmla="*/ 92 w 92"/>
                <a:gd name="T7" fmla="*/ 0 h 43"/>
                <a:gd name="T8" fmla="*/ 90 w 92"/>
                <a:gd name="T9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43">
                  <a:moveTo>
                    <a:pt x="90" y="43"/>
                  </a:moveTo>
                  <a:lnTo>
                    <a:pt x="7" y="43"/>
                  </a:lnTo>
                  <a:lnTo>
                    <a:pt x="0" y="0"/>
                  </a:lnTo>
                  <a:lnTo>
                    <a:pt x="92" y="0"/>
                  </a:lnTo>
                  <a:lnTo>
                    <a:pt x="90" y="4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Freeform 1569">
              <a:extLst>
                <a:ext uri="{FF2B5EF4-FFF2-40B4-BE49-F238E27FC236}">
                  <a16:creationId xmlns:a16="http://schemas.microsoft.com/office/drawing/2014/main" id="{967DCA54-45A1-4550-974D-957D3C2288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8807" y="1084335"/>
              <a:ext cx="92887" cy="388432"/>
            </a:xfrm>
            <a:custGeom>
              <a:avLst/>
              <a:gdLst>
                <a:gd name="T0" fmla="*/ 21 w 33"/>
                <a:gd name="T1" fmla="*/ 128 h 138"/>
                <a:gd name="T2" fmla="*/ 0 w 33"/>
                <a:gd name="T3" fmla="*/ 0 h 138"/>
                <a:gd name="T4" fmla="*/ 31 w 33"/>
                <a:gd name="T5" fmla="*/ 0 h 138"/>
                <a:gd name="T6" fmla="*/ 33 w 33"/>
                <a:gd name="T7" fmla="*/ 138 h 138"/>
                <a:gd name="T8" fmla="*/ 21 w 33"/>
                <a:gd name="T9" fmla="*/ 128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138">
                  <a:moveTo>
                    <a:pt x="21" y="128"/>
                  </a:moveTo>
                  <a:lnTo>
                    <a:pt x="0" y="0"/>
                  </a:lnTo>
                  <a:lnTo>
                    <a:pt x="31" y="0"/>
                  </a:lnTo>
                  <a:lnTo>
                    <a:pt x="33" y="138"/>
                  </a:lnTo>
                  <a:lnTo>
                    <a:pt x="21" y="128"/>
                  </a:ln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Freeform 1570">
              <a:extLst>
                <a:ext uri="{FF2B5EF4-FFF2-40B4-BE49-F238E27FC236}">
                  <a16:creationId xmlns:a16="http://schemas.microsoft.com/office/drawing/2014/main" id="{6282784E-EA23-4B70-9147-97264E9119E1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8214" y="1084335"/>
              <a:ext cx="59110" cy="388432"/>
            </a:xfrm>
            <a:custGeom>
              <a:avLst/>
              <a:gdLst>
                <a:gd name="T0" fmla="*/ 7 w 9"/>
                <a:gd name="T1" fmla="*/ 0 h 58"/>
                <a:gd name="T2" fmla="*/ 5 w 9"/>
                <a:gd name="T3" fmla="*/ 0 h 58"/>
                <a:gd name="T4" fmla="*/ 0 w 9"/>
                <a:gd name="T5" fmla="*/ 36 h 58"/>
                <a:gd name="T6" fmla="*/ 0 w 9"/>
                <a:gd name="T7" fmla="*/ 36 h 58"/>
                <a:gd name="T8" fmla="*/ 3 w 9"/>
                <a:gd name="T9" fmla="*/ 54 h 58"/>
                <a:gd name="T10" fmla="*/ 8 w 9"/>
                <a:gd name="T11" fmla="*/ 58 h 58"/>
                <a:gd name="T12" fmla="*/ 7 w 9"/>
                <a:gd name="T13" fmla="*/ 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58">
                  <a:moveTo>
                    <a:pt x="7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7" y="11"/>
                    <a:pt x="9" y="29"/>
                    <a:pt x="0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3" y="54"/>
                    <a:pt x="3" y="54"/>
                    <a:pt x="3" y="54"/>
                  </a:cubicBezTo>
                  <a:cubicBezTo>
                    <a:pt x="8" y="58"/>
                    <a:pt x="8" y="58"/>
                    <a:pt x="8" y="58"/>
                  </a:cubicBezTo>
                  <a:lnTo>
                    <a:pt x="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Freeform 1571">
              <a:extLst>
                <a:ext uri="{FF2B5EF4-FFF2-40B4-BE49-F238E27FC236}">
                  <a16:creationId xmlns:a16="http://schemas.microsoft.com/office/drawing/2014/main" id="{319DD380-3115-4A5B-8890-C995D9B1057A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9544" y="1084335"/>
              <a:ext cx="92887" cy="388432"/>
            </a:xfrm>
            <a:custGeom>
              <a:avLst/>
              <a:gdLst>
                <a:gd name="T0" fmla="*/ 11 w 33"/>
                <a:gd name="T1" fmla="*/ 128 h 138"/>
                <a:gd name="T2" fmla="*/ 33 w 33"/>
                <a:gd name="T3" fmla="*/ 0 h 138"/>
                <a:gd name="T4" fmla="*/ 0 w 33"/>
                <a:gd name="T5" fmla="*/ 0 h 138"/>
                <a:gd name="T6" fmla="*/ 0 w 33"/>
                <a:gd name="T7" fmla="*/ 138 h 138"/>
                <a:gd name="T8" fmla="*/ 11 w 33"/>
                <a:gd name="T9" fmla="*/ 128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138">
                  <a:moveTo>
                    <a:pt x="11" y="128"/>
                  </a:moveTo>
                  <a:lnTo>
                    <a:pt x="33" y="0"/>
                  </a:lnTo>
                  <a:lnTo>
                    <a:pt x="0" y="0"/>
                  </a:lnTo>
                  <a:lnTo>
                    <a:pt x="0" y="138"/>
                  </a:lnTo>
                  <a:lnTo>
                    <a:pt x="11" y="128"/>
                  </a:ln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Freeform 1572">
              <a:extLst>
                <a:ext uri="{FF2B5EF4-FFF2-40B4-BE49-F238E27FC236}">
                  <a16:creationId xmlns:a16="http://schemas.microsoft.com/office/drawing/2014/main" id="{F3E48D84-55BC-414B-AB2B-982A417EFABA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1099" y="1084335"/>
              <a:ext cx="67553" cy="388432"/>
            </a:xfrm>
            <a:custGeom>
              <a:avLst/>
              <a:gdLst>
                <a:gd name="T0" fmla="*/ 9 w 10"/>
                <a:gd name="T1" fmla="*/ 30 h 58"/>
                <a:gd name="T2" fmla="*/ 3 w 10"/>
                <a:gd name="T3" fmla="*/ 28 h 58"/>
                <a:gd name="T4" fmla="*/ 4 w 10"/>
                <a:gd name="T5" fmla="*/ 0 h 58"/>
                <a:gd name="T6" fmla="*/ 1 w 10"/>
                <a:gd name="T7" fmla="*/ 0 h 58"/>
                <a:gd name="T8" fmla="*/ 1 w 10"/>
                <a:gd name="T9" fmla="*/ 58 h 58"/>
                <a:gd name="T10" fmla="*/ 6 w 10"/>
                <a:gd name="T11" fmla="*/ 54 h 58"/>
                <a:gd name="T12" fmla="*/ 10 w 10"/>
                <a:gd name="T13" fmla="*/ 29 h 58"/>
                <a:gd name="T14" fmla="*/ 9 w 10"/>
                <a:gd name="T15" fmla="*/ 3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" h="58">
                  <a:moveTo>
                    <a:pt x="9" y="30"/>
                  </a:moveTo>
                  <a:cubicBezTo>
                    <a:pt x="7" y="32"/>
                    <a:pt x="4" y="31"/>
                    <a:pt x="3" y="28"/>
                  </a:cubicBezTo>
                  <a:cubicBezTo>
                    <a:pt x="0" y="19"/>
                    <a:pt x="3" y="9"/>
                    <a:pt x="4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58"/>
                    <a:pt x="1" y="58"/>
                    <a:pt x="1" y="58"/>
                  </a:cubicBezTo>
                  <a:cubicBezTo>
                    <a:pt x="6" y="54"/>
                    <a:pt x="6" y="54"/>
                    <a:pt x="6" y="54"/>
                  </a:cubicBezTo>
                  <a:cubicBezTo>
                    <a:pt x="10" y="29"/>
                    <a:pt x="10" y="29"/>
                    <a:pt x="10" y="29"/>
                  </a:cubicBezTo>
                  <a:lnTo>
                    <a:pt x="9" y="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Freeform 1573">
              <a:extLst>
                <a:ext uri="{FF2B5EF4-FFF2-40B4-BE49-F238E27FC236}">
                  <a16:creationId xmlns:a16="http://schemas.microsoft.com/office/drawing/2014/main" id="{69E60ACB-190E-47CF-9B99-E21705A58C82}"/>
                </a:ext>
              </a:extLst>
            </p:cNvPr>
            <p:cNvSpPr>
              <a:spLocks/>
            </p:cNvSpPr>
            <p:nvPr/>
          </p:nvSpPr>
          <p:spPr bwMode="auto">
            <a:xfrm>
              <a:off x="5830956" y="645239"/>
              <a:ext cx="315249" cy="318063"/>
            </a:xfrm>
            <a:custGeom>
              <a:avLst/>
              <a:gdLst>
                <a:gd name="T0" fmla="*/ 44 w 47"/>
                <a:gd name="T1" fmla="*/ 4 h 48"/>
                <a:gd name="T2" fmla="*/ 24 w 47"/>
                <a:gd name="T3" fmla="*/ 0 h 48"/>
                <a:gd name="T4" fmla="*/ 24 w 47"/>
                <a:gd name="T5" fmla="*/ 0 h 48"/>
                <a:gd name="T6" fmla="*/ 24 w 47"/>
                <a:gd name="T7" fmla="*/ 0 h 48"/>
                <a:gd name="T8" fmla="*/ 23 w 47"/>
                <a:gd name="T9" fmla="*/ 0 h 48"/>
                <a:gd name="T10" fmla="*/ 23 w 47"/>
                <a:gd name="T11" fmla="*/ 0 h 48"/>
                <a:gd name="T12" fmla="*/ 3 w 47"/>
                <a:gd name="T13" fmla="*/ 4 h 48"/>
                <a:gd name="T14" fmla="*/ 4 w 47"/>
                <a:gd name="T15" fmla="*/ 48 h 48"/>
                <a:gd name="T16" fmla="*/ 23 w 47"/>
                <a:gd name="T17" fmla="*/ 48 h 48"/>
                <a:gd name="T18" fmla="*/ 24 w 47"/>
                <a:gd name="T19" fmla="*/ 48 h 48"/>
                <a:gd name="T20" fmla="*/ 43 w 47"/>
                <a:gd name="T21" fmla="*/ 48 h 48"/>
                <a:gd name="T22" fmla="*/ 44 w 47"/>
                <a:gd name="T23" fmla="*/ 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7" h="48">
                  <a:moveTo>
                    <a:pt x="44" y="4"/>
                  </a:moveTo>
                  <a:cubicBezTo>
                    <a:pt x="42" y="1"/>
                    <a:pt x="3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3" y="0"/>
                    <a:pt x="6" y="1"/>
                    <a:pt x="3" y="4"/>
                  </a:cubicBezTo>
                  <a:cubicBezTo>
                    <a:pt x="0" y="8"/>
                    <a:pt x="4" y="48"/>
                    <a:pt x="4" y="48"/>
                  </a:cubicBezTo>
                  <a:cubicBezTo>
                    <a:pt x="23" y="48"/>
                    <a:pt x="23" y="48"/>
                    <a:pt x="23" y="48"/>
                  </a:cubicBezTo>
                  <a:cubicBezTo>
                    <a:pt x="24" y="48"/>
                    <a:pt x="24" y="48"/>
                    <a:pt x="24" y="4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8"/>
                    <a:pt x="47" y="9"/>
                    <a:pt x="44" y="4"/>
                  </a:cubicBezTo>
                </a:path>
              </a:pathLst>
            </a:custGeom>
            <a:solidFill>
              <a:srgbClr val="D1DB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Freeform 1574">
              <a:extLst>
                <a:ext uri="{FF2B5EF4-FFF2-40B4-BE49-F238E27FC236}">
                  <a16:creationId xmlns:a16="http://schemas.microsoft.com/office/drawing/2014/main" id="{FAA06312-9BFA-4DA9-87AB-F9B2098943E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4139" y="650868"/>
              <a:ext cx="168883" cy="301174"/>
            </a:xfrm>
            <a:custGeom>
              <a:avLst/>
              <a:gdLst>
                <a:gd name="T0" fmla="*/ 23 w 25"/>
                <a:gd name="T1" fmla="*/ 4 h 45"/>
                <a:gd name="T2" fmla="*/ 21 w 25"/>
                <a:gd name="T3" fmla="*/ 1 h 45"/>
                <a:gd name="T4" fmla="*/ 19 w 25"/>
                <a:gd name="T5" fmla="*/ 0 h 45"/>
                <a:gd name="T6" fmla="*/ 20 w 25"/>
                <a:gd name="T7" fmla="*/ 33 h 45"/>
                <a:gd name="T8" fmla="*/ 18 w 25"/>
                <a:gd name="T9" fmla="*/ 41 h 45"/>
                <a:gd name="T10" fmla="*/ 10 w 25"/>
                <a:gd name="T11" fmla="*/ 43 h 45"/>
                <a:gd name="T12" fmla="*/ 5 w 25"/>
                <a:gd name="T13" fmla="*/ 33 h 45"/>
                <a:gd name="T14" fmla="*/ 6 w 25"/>
                <a:gd name="T15" fmla="*/ 31 h 45"/>
                <a:gd name="T16" fmla="*/ 6 w 25"/>
                <a:gd name="T17" fmla="*/ 21 h 45"/>
                <a:gd name="T18" fmla="*/ 7 w 25"/>
                <a:gd name="T19" fmla="*/ 0 h 45"/>
                <a:gd name="T20" fmla="*/ 2 w 25"/>
                <a:gd name="T21" fmla="*/ 3 h 45"/>
                <a:gd name="T22" fmla="*/ 2 w 25"/>
                <a:gd name="T23" fmla="*/ 44 h 45"/>
                <a:gd name="T24" fmla="*/ 23 w 25"/>
                <a:gd name="T25" fmla="*/ 44 h 45"/>
                <a:gd name="T26" fmla="*/ 23 w 25"/>
                <a:gd name="T27" fmla="*/ 4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5" h="45">
                  <a:moveTo>
                    <a:pt x="23" y="4"/>
                  </a:moveTo>
                  <a:cubicBezTo>
                    <a:pt x="23" y="2"/>
                    <a:pt x="22" y="2"/>
                    <a:pt x="21" y="1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13"/>
                    <a:pt x="18" y="21"/>
                    <a:pt x="20" y="33"/>
                  </a:cubicBezTo>
                  <a:cubicBezTo>
                    <a:pt x="20" y="36"/>
                    <a:pt x="19" y="41"/>
                    <a:pt x="18" y="41"/>
                  </a:cubicBezTo>
                  <a:cubicBezTo>
                    <a:pt x="16" y="45"/>
                    <a:pt x="13" y="43"/>
                    <a:pt x="10" y="43"/>
                  </a:cubicBezTo>
                  <a:cubicBezTo>
                    <a:pt x="7" y="42"/>
                    <a:pt x="5" y="39"/>
                    <a:pt x="5" y="33"/>
                  </a:cubicBezTo>
                  <a:cubicBezTo>
                    <a:pt x="5" y="32"/>
                    <a:pt x="5" y="32"/>
                    <a:pt x="6" y="31"/>
                  </a:cubicBezTo>
                  <a:cubicBezTo>
                    <a:pt x="5" y="27"/>
                    <a:pt x="6" y="24"/>
                    <a:pt x="6" y="21"/>
                  </a:cubicBezTo>
                  <a:cubicBezTo>
                    <a:pt x="6" y="14"/>
                    <a:pt x="11" y="11"/>
                    <a:pt x="7" y="0"/>
                  </a:cubicBezTo>
                  <a:cubicBezTo>
                    <a:pt x="6" y="0"/>
                    <a:pt x="3" y="2"/>
                    <a:pt x="2" y="3"/>
                  </a:cubicBezTo>
                  <a:cubicBezTo>
                    <a:pt x="0" y="7"/>
                    <a:pt x="2" y="44"/>
                    <a:pt x="2" y="44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3" y="44"/>
                    <a:pt x="25" y="7"/>
                    <a:pt x="23" y="4"/>
                  </a:cubicBezTo>
                </a:path>
              </a:pathLst>
            </a:custGeom>
            <a:solidFill>
              <a:srgbClr val="C7D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Rectangle 1575">
              <a:extLst>
                <a:ext uri="{FF2B5EF4-FFF2-40B4-BE49-F238E27FC236}">
                  <a16:creationId xmlns:a16="http://schemas.microsoft.com/office/drawing/2014/main" id="{5ECECDBA-A7A8-4653-B59C-8FEAAFCB35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9544" y="1472767"/>
              <a:ext cx="59110" cy="11259"/>
            </a:xfrm>
            <a:prstGeom prst="rect">
              <a:avLst/>
            </a:pr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Freeform 1576">
              <a:extLst>
                <a:ext uri="{FF2B5EF4-FFF2-40B4-BE49-F238E27FC236}">
                  <a16:creationId xmlns:a16="http://schemas.microsoft.com/office/drawing/2014/main" id="{32E65056-11D8-4235-ABC1-2417DEAF9FDA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9104" y="943599"/>
              <a:ext cx="258954" cy="19702"/>
            </a:xfrm>
            <a:custGeom>
              <a:avLst/>
              <a:gdLst>
                <a:gd name="T0" fmla="*/ 90 w 92"/>
                <a:gd name="T1" fmla="*/ 7 h 7"/>
                <a:gd name="T2" fmla="*/ 7 w 92"/>
                <a:gd name="T3" fmla="*/ 7 h 7"/>
                <a:gd name="T4" fmla="*/ 0 w 92"/>
                <a:gd name="T5" fmla="*/ 0 h 7"/>
                <a:gd name="T6" fmla="*/ 92 w 92"/>
                <a:gd name="T7" fmla="*/ 0 h 7"/>
                <a:gd name="T8" fmla="*/ 90 w 92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7">
                  <a:moveTo>
                    <a:pt x="90" y="7"/>
                  </a:moveTo>
                  <a:lnTo>
                    <a:pt x="7" y="7"/>
                  </a:lnTo>
                  <a:lnTo>
                    <a:pt x="0" y="0"/>
                  </a:lnTo>
                  <a:lnTo>
                    <a:pt x="92" y="0"/>
                  </a:lnTo>
                  <a:lnTo>
                    <a:pt x="90" y="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Freeform 1577">
              <a:extLst>
                <a:ext uri="{FF2B5EF4-FFF2-40B4-BE49-F238E27FC236}">
                  <a16:creationId xmlns:a16="http://schemas.microsoft.com/office/drawing/2014/main" id="{C2A534E6-DF68-4CCB-9FD9-69156DE1F218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9104" y="943599"/>
              <a:ext cx="258954" cy="19702"/>
            </a:xfrm>
            <a:custGeom>
              <a:avLst/>
              <a:gdLst>
                <a:gd name="T0" fmla="*/ 90 w 92"/>
                <a:gd name="T1" fmla="*/ 7 h 7"/>
                <a:gd name="T2" fmla="*/ 7 w 92"/>
                <a:gd name="T3" fmla="*/ 7 h 7"/>
                <a:gd name="T4" fmla="*/ 0 w 92"/>
                <a:gd name="T5" fmla="*/ 0 h 7"/>
                <a:gd name="T6" fmla="*/ 92 w 92"/>
                <a:gd name="T7" fmla="*/ 0 h 7"/>
                <a:gd name="T8" fmla="*/ 90 w 92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7">
                  <a:moveTo>
                    <a:pt x="90" y="7"/>
                  </a:moveTo>
                  <a:lnTo>
                    <a:pt x="7" y="7"/>
                  </a:lnTo>
                  <a:lnTo>
                    <a:pt x="0" y="0"/>
                  </a:lnTo>
                  <a:lnTo>
                    <a:pt x="92" y="0"/>
                  </a:lnTo>
                  <a:lnTo>
                    <a:pt x="90" y="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Freeform 1578">
              <a:extLst>
                <a:ext uri="{FF2B5EF4-FFF2-40B4-BE49-F238E27FC236}">
                  <a16:creationId xmlns:a16="http://schemas.microsoft.com/office/drawing/2014/main" id="{3F9558F9-6E89-4A05-A5DE-B7BE1E690789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9544" y="1444620"/>
              <a:ext cx="59110" cy="39406"/>
            </a:xfrm>
            <a:custGeom>
              <a:avLst/>
              <a:gdLst>
                <a:gd name="T0" fmla="*/ 0 w 9"/>
                <a:gd name="T1" fmla="*/ 4 h 6"/>
                <a:gd name="T2" fmla="*/ 3 w 9"/>
                <a:gd name="T3" fmla="*/ 0 h 6"/>
                <a:gd name="T4" fmla="*/ 9 w 9"/>
                <a:gd name="T5" fmla="*/ 4 h 6"/>
                <a:gd name="T6" fmla="*/ 0 w 9"/>
                <a:gd name="T7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6">
                  <a:moveTo>
                    <a:pt x="0" y="4"/>
                  </a:moveTo>
                  <a:cubicBezTo>
                    <a:pt x="0" y="4"/>
                    <a:pt x="0" y="0"/>
                    <a:pt x="3" y="0"/>
                  </a:cubicBezTo>
                  <a:cubicBezTo>
                    <a:pt x="7" y="0"/>
                    <a:pt x="9" y="2"/>
                    <a:pt x="9" y="4"/>
                  </a:cubicBezTo>
                  <a:cubicBezTo>
                    <a:pt x="9" y="6"/>
                    <a:pt x="0" y="4"/>
                    <a:pt x="0" y="4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Rectangle 1579">
              <a:extLst>
                <a:ext uri="{FF2B5EF4-FFF2-40B4-BE49-F238E27FC236}">
                  <a16:creationId xmlns:a16="http://schemas.microsoft.com/office/drawing/2014/main" id="{F0681E54-04BA-4E44-9B55-E80D2E4BA8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12584" y="1472767"/>
              <a:ext cx="59110" cy="11259"/>
            </a:xfrm>
            <a:prstGeom prst="rect">
              <a:avLst/>
            </a:pr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Freeform 1580">
              <a:extLst>
                <a:ext uri="{FF2B5EF4-FFF2-40B4-BE49-F238E27FC236}">
                  <a16:creationId xmlns:a16="http://schemas.microsoft.com/office/drawing/2014/main" id="{3848DB35-098B-4E7E-9E7D-00E63B22B46A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2584" y="1444620"/>
              <a:ext cx="59110" cy="39406"/>
            </a:xfrm>
            <a:custGeom>
              <a:avLst/>
              <a:gdLst>
                <a:gd name="T0" fmla="*/ 9 w 9"/>
                <a:gd name="T1" fmla="*/ 4 h 6"/>
                <a:gd name="T2" fmla="*/ 6 w 9"/>
                <a:gd name="T3" fmla="*/ 0 h 6"/>
                <a:gd name="T4" fmla="*/ 0 w 9"/>
                <a:gd name="T5" fmla="*/ 4 h 6"/>
                <a:gd name="T6" fmla="*/ 9 w 9"/>
                <a:gd name="T7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6">
                  <a:moveTo>
                    <a:pt x="9" y="4"/>
                  </a:moveTo>
                  <a:cubicBezTo>
                    <a:pt x="9" y="4"/>
                    <a:pt x="9" y="0"/>
                    <a:pt x="6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6"/>
                    <a:pt x="9" y="4"/>
                    <a:pt x="9" y="4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" name="Freeform 1581">
              <a:extLst>
                <a:ext uri="{FF2B5EF4-FFF2-40B4-BE49-F238E27FC236}">
                  <a16:creationId xmlns:a16="http://schemas.microsoft.com/office/drawing/2014/main" id="{A695D0F2-1FAC-4D8A-9AF3-AE8CCD46F8B3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9544" y="1444620"/>
              <a:ext cx="59110" cy="39406"/>
            </a:xfrm>
            <a:custGeom>
              <a:avLst/>
              <a:gdLst>
                <a:gd name="T0" fmla="*/ 0 w 9"/>
                <a:gd name="T1" fmla="*/ 4 h 6"/>
                <a:gd name="T2" fmla="*/ 3 w 9"/>
                <a:gd name="T3" fmla="*/ 0 h 6"/>
                <a:gd name="T4" fmla="*/ 9 w 9"/>
                <a:gd name="T5" fmla="*/ 4 h 6"/>
                <a:gd name="T6" fmla="*/ 0 w 9"/>
                <a:gd name="T7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6">
                  <a:moveTo>
                    <a:pt x="0" y="4"/>
                  </a:moveTo>
                  <a:cubicBezTo>
                    <a:pt x="0" y="4"/>
                    <a:pt x="0" y="0"/>
                    <a:pt x="3" y="0"/>
                  </a:cubicBezTo>
                  <a:cubicBezTo>
                    <a:pt x="6" y="6"/>
                    <a:pt x="9" y="2"/>
                    <a:pt x="9" y="4"/>
                  </a:cubicBezTo>
                  <a:cubicBezTo>
                    <a:pt x="9" y="6"/>
                    <a:pt x="0" y="4"/>
                    <a:pt x="0" y="4"/>
                  </a:cubicBez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" name="Freeform 1582">
              <a:extLst>
                <a:ext uri="{FF2B5EF4-FFF2-40B4-BE49-F238E27FC236}">
                  <a16:creationId xmlns:a16="http://schemas.microsoft.com/office/drawing/2014/main" id="{1FDD5E85-5087-4833-B17C-4FDDF00621EC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2584" y="1444620"/>
              <a:ext cx="59110" cy="39406"/>
            </a:xfrm>
            <a:custGeom>
              <a:avLst/>
              <a:gdLst>
                <a:gd name="T0" fmla="*/ 9 w 9"/>
                <a:gd name="T1" fmla="*/ 4 h 6"/>
                <a:gd name="T2" fmla="*/ 6 w 9"/>
                <a:gd name="T3" fmla="*/ 0 h 6"/>
                <a:gd name="T4" fmla="*/ 0 w 9"/>
                <a:gd name="T5" fmla="*/ 4 h 6"/>
                <a:gd name="T6" fmla="*/ 9 w 9"/>
                <a:gd name="T7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6">
                  <a:moveTo>
                    <a:pt x="9" y="4"/>
                  </a:moveTo>
                  <a:cubicBezTo>
                    <a:pt x="9" y="4"/>
                    <a:pt x="9" y="0"/>
                    <a:pt x="6" y="0"/>
                  </a:cubicBezTo>
                  <a:cubicBezTo>
                    <a:pt x="8" y="6"/>
                    <a:pt x="0" y="2"/>
                    <a:pt x="0" y="4"/>
                  </a:cubicBezTo>
                  <a:cubicBezTo>
                    <a:pt x="0" y="6"/>
                    <a:pt x="9" y="4"/>
                    <a:pt x="9" y="4"/>
                  </a:cubicBez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" name="Freeform 1583">
              <a:extLst>
                <a:ext uri="{FF2B5EF4-FFF2-40B4-BE49-F238E27FC236}">
                  <a16:creationId xmlns:a16="http://schemas.microsoft.com/office/drawing/2014/main" id="{F7AFE092-D4A9-475F-AD5F-7C492C72F02C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9104" y="310288"/>
              <a:ext cx="273029" cy="306804"/>
            </a:xfrm>
            <a:custGeom>
              <a:avLst/>
              <a:gdLst>
                <a:gd name="T0" fmla="*/ 41 w 41"/>
                <a:gd name="T1" fmla="*/ 20 h 46"/>
                <a:gd name="T2" fmla="*/ 20 w 41"/>
                <a:gd name="T3" fmla="*/ 46 h 46"/>
                <a:gd name="T4" fmla="*/ 0 w 41"/>
                <a:gd name="T5" fmla="*/ 20 h 46"/>
                <a:gd name="T6" fmla="*/ 20 w 41"/>
                <a:gd name="T7" fmla="*/ 0 h 46"/>
                <a:gd name="T8" fmla="*/ 41 w 41"/>
                <a:gd name="T9" fmla="*/ 2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46">
                  <a:moveTo>
                    <a:pt x="41" y="20"/>
                  </a:moveTo>
                  <a:cubicBezTo>
                    <a:pt x="41" y="31"/>
                    <a:pt x="34" y="46"/>
                    <a:pt x="20" y="46"/>
                  </a:cubicBezTo>
                  <a:cubicBezTo>
                    <a:pt x="9" y="46"/>
                    <a:pt x="0" y="31"/>
                    <a:pt x="0" y="20"/>
                  </a:cubicBezTo>
                  <a:cubicBezTo>
                    <a:pt x="0" y="8"/>
                    <a:pt x="9" y="0"/>
                    <a:pt x="20" y="0"/>
                  </a:cubicBezTo>
                  <a:cubicBezTo>
                    <a:pt x="31" y="0"/>
                    <a:pt x="41" y="8"/>
                    <a:pt x="41" y="20"/>
                  </a:cubicBezTo>
                  <a:close/>
                </a:path>
              </a:pathLst>
            </a:custGeom>
            <a:solidFill>
              <a:srgbClr val="DFB2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" name="Freeform 1584">
              <a:extLst>
                <a:ext uri="{FF2B5EF4-FFF2-40B4-BE49-F238E27FC236}">
                  <a16:creationId xmlns:a16="http://schemas.microsoft.com/office/drawing/2014/main" id="{E9521AA3-A5CF-4C35-9E2F-90C6AE499A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0660" y="490430"/>
              <a:ext cx="42222" cy="87255"/>
            </a:xfrm>
            <a:custGeom>
              <a:avLst/>
              <a:gdLst>
                <a:gd name="T0" fmla="*/ 4 w 6"/>
                <a:gd name="T1" fmla="*/ 5 h 13"/>
                <a:gd name="T2" fmla="*/ 2 w 6"/>
                <a:gd name="T3" fmla="*/ 8 h 13"/>
                <a:gd name="T4" fmla="*/ 6 w 6"/>
                <a:gd name="T5" fmla="*/ 1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" h="13">
                  <a:moveTo>
                    <a:pt x="4" y="5"/>
                  </a:moveTo>
                  <a:cubicBezTo>
                    <a:pt x="4" y="5"/>
                    <a:pt x="0" y="0"/>
                    <a:pt x="2" y="8"/>
                  </a:cubicBezTo>
                  <a:cubicBezTo>
                    <a:pt x="4" y="13"/>
                    <a:pt x="6" y="12"/>
                    <a:pt x="6" y="10"/>
                  </a:cubicBezTo>
                </a:path>
              </a:pathLst>
            </a:custGeom>
            <a:solidFill>
              <a:srgbClr val="DFB2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" name="Freeform 1585">
              <a:extLst>
                <a:ext uri="{FF2B5EF4-FFF2-40B4-BE49-F238E27FC236}">
                  <a16:creationId xmlns:a16="http://schemas.microsoft.com/office/drawing/2014/main" id="{E5CE90FB-2426-41E3-A9A5-8447FBD63E6E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8356" y="490430"/>
              <a:ext cx="33777" cy="87255"/>
            </a:xfrm>
            <a:custGeom>
              <a:avLst/>
              <a:gdLst>
                <a:gd name="T0" fmla="*/ 2 w 5"/>
                <a:gd name="T1" fmla="*/ 5 h 13"/>
                <a:gd name="T2" fmla="*/ 3 w 5"/>
                <a:gd name="T3" fmla="*/ 8 h 13"/>
                <a:gd name="T4" fmla="*/ 0 w 5"/>
                <a:gd name="T5" fmla="*/ 1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" h="13">
                  <a:moveTo>
                    <a:pt x="2" y="5"/>
                  </a:moveTo>
                  <a:cubicBezTo>
                    <a:pt x="2" y="5"/>
                    <a:pt x="5" y="0"/>
                    <a:pt x="3" y="8"/>
                  </a:cubicBezTo>
                  <a:cubicBezTo>
                    <a:pt x="2" y="13"/>
                    <a:pt x="0" y="12"/>
                    <a:pt x="0" y="10"/>
                  </a:cubicBezTo>
                </a:path>
              </a:pathLst>
            </a:custGeom>
            <a:solidFill>
              <a:srgbClr val="DFB2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" name="Freeform 1586">
              <a:extLst>
                <a:ext uri="{FF2B5EF4-FFF2-40B4-BE49-F238E27FC236}">
                  <a16:creationId xmlns:a16="http://schemas.microsoft.com/office/drawing/2014/main" id="{A59D93BD-8BA3-46E2-AD57-946D899A25E3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0660" y="645239"/>
              <a:ext cx="101330" cy="298361"/>
            </a:xfrm>
            <a:custGeom>
              <a:avLst/>
              <a:gdLst>
                <a:gd name="T0" fmla="*/ 14 w 15"/>
                <a:gd name="T1" fmla="*/ 0 h 45"/>
                <a:gd name="T2" fmla="*/ 3 w 15"/>
                <a:gd name="T3" fmla="*/ 3 h 45"/>
                <a:gd name="T4" fmla="*/ 1 w 15"/>
                <a:gd name="T5" fmla="*/ 32 h 45"/>
                <a:gd name="T6" fmla="*/ 2 w 15"/>
                <a:gd name="T7" fmla="*/ 45 h 45"/>
                <a:gd name="T8" fmla="*/ 12 w 15"/>
                <a:gd name="T9" fmla="*/ 45 h 45"/>
                <a:gd name="T10" fmla="*/ 12 w 15"/>
                <a:gd name="T11" fmla="*/ 45 h 45"/>
                <a:gd name="T12" fmla="*/ 10 w 15"/>
                <a:gd name="T13" fmla="*/ 45 h 45"/>
                <a:gd name="T14" fmla="*/ 10 w 15"/>
                <a:gd name="T15" fmla="*/ 4 h 45"/>
                <a:gd name="T16" fmla="*/ 14 w 15"/>
                <a:gd name="T17" fmla="*/ 1 h 45"/>
                <a:gd name="T18" fmla="*/ 15 w 15"/>
                <a:gd name="T19" fmla="*/ 0 h 45"/>
                <a:gd name="T20" fmla="*/ 14 w 15"/>
                <a:gd name="T21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" h="45">
                  <a:moveTo>
                    <a:pt x="14" y="0"/>
                  </a:moveTo>
                  <a:cubicBezTo>
                    <a:pt x="8" y="0"/>
                    <a:pt x="3" y="3"/>
                    <a:pt x="3" y="3"/>
                  </a:cubicBezTo>
                  <a:cubicBezTo>
                    <a:pt x="3" y="3"/>
                    <a:pt x="0" y="22"/>
                    <a:pt x="1" y="32"/>
                  </a:cubicBezTo>
                  <a:cubicBezTo>
                    <a:pt x="1" y="37"/>
                    <a:pt x="1" y="42"/>
                    <a:pt x="2" y="45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0" y="45"/>
                    <a:pt x="10" y="45"/>
                    <a:pt x="10" y="45"/>
                  </a:cubicBezTo>
                  <a:cubicBezTo>
                    <a:pt x="10" y="45"/>
                    <a:pt x="8" y="8"/>
                    <a:pt x="10" y="4"/>
                  </a:cubicBezTo>
                  <a:cubicBezTo>
                    <a:pt x="11" y="3"/>
                    <a:pt x="13" y="1"/>
                    <a:pt x="14" y="1"/>
                  </a:cubicBezTo>
                  <a:cubicBezTo>
                    <a:pt x="15" y="1"/>
                    <a:pt x="15" y="0"/>
                    <a:pt x="15" y="0"/>
                  </a:cubicBezTo>
                  <a:cubicBezTo>
                    <a:pt x="14" y="0"/>
                    <a:pt x="14" y="0"/>
                    <a:pt x="14" y="0"/>
                  </a:cubicBezTo>
                </a:path>
              </a:pathLst>
            </a:custGeom>
            <a:solidFill>
              <a:srgbClr val="6970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" name="Freeform 1587">
              <a:extLst>
                <a:ext uri="{FF2B5EF4-FFF2-40B4-BE49-F238E27FC236}">
                  <a16:creationId xmlns:a16="http://schemas.microsoft.com/office/drawing/2014/main" id="{68FA9F48-A8BB-4456-A542-DDCF7045AFB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4139" y="650868"/>
              <a:ext cx="39406" cy="292731"/>
            </a:xfrm>
            <a:custGeom>
              <a:avLst/>
              <a:gdLst>
                <a:gd name="T0" fmla="*/ 6 w 6"/>
                <a:gd name="T1" fmla="*/ 0 h 44"/>
                <a:gd name="T2" fmla="*/ 2 w 6"/>
                <a:gd name="T3" fmla="*/ 3 h 44"/>
                <a:gd name="T4" fmla="*/ 2 w 6"/>
                <a:gd name="T5" fmla="*/ 44 h 44"/>
                <a:gd name="T6" fmla="*/ 4 w 6"/>
                <a:gd name="T7" fmla="*/ 44 h 44"/>
                <a:gd name="T8" fmla="*/ 4 w 6"/>
                <a:gd name="T9" fmla="*/ 43 h 44"/>
                <a:gd name="T10" fmla="*/ 6 w 6"/>
                <a:gd name="T11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44">
                  <a:moveTo>
                    <a:pt x="6" y="0"/>
                  </a:moveTo>
                  <a:cubicBezTo>
                    <a:pt x="5" y="0"/>
                    <a:pt x="3" y="2"/>
                    <a:pt x="2" y="3"/>
                  </a:cubicBezTo>
                  <a:cubicBezTo>
                    <a:pt x="0" y="7"/>
                    <a:pt x="2" y="44"/>
                    <a:pt x="2" y="44"/>
                  </a:cubicBezTo>
                  <a:cubicBezTo>
                    <a:pt x="4" y="44"/>
                    <a:pt x="4" y="44"/>
                    <a:pt x="4" y="44"/>
                  </a:cubicBezTo>
                  <a:cubicBezTo>
                    <a:pt x="4" y="44"/>
                    <a:pt x="4" y="43"/>
                    <a:pt x="4" y="43"/>
                  </a:cubicBezTo>
                  <a:cubicBezTo>
                    <a:pt x="3" y="36"/>
                    <a:pt x="6" y="3"/>
                    <a:pt x="6" y="0"/>
                  </a:cubicBezTo>
                </a:path>
              </a:pathLst>
            </a:custGeom>
            <a:solidFill>
              <a:srgbClr val="646C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" name="Freeform 1588">
              <a:extLst>
                <a:ext uri="{FF2B5EF4-FFF2-40B4-BE49-F238E27FC236}">
                  <a16:creationId xmlns:a16="http://schemas.microsoft.com/office/drawing/2014/main" id="{78258304-929C-4A28-B06A-7F845AE53D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4733" y="1011152"/>
              <a:ext cx="0" cy="5629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8082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3" name="Freeform 1589">
              <a:extLst>
                <a:ext uri="{FF2B5EF4-FFF2-40B4-BE49-F238E27FC236}">
                  <a16:creationId xmlns:a16="http://schemas.microsoft.com/office/drawing/2014/main" id="{46D427CB-C40D-43BC-99A6-2C4544C09B18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4733" y="963303"/>
              <a:ext cx="73183" cy="53479"/>
            </a:xfrm>
            <a:custGeom>
              <a:avLst/>
              <a:gdLst>
                <a:gd name="T0" fmla="*/ 2 w 11"/>
                <a:gd name="T1" fmla="*/ 0 h 8"/>
                <a:gd name="T2" fmla="*/ 0 w 11"/>
                <a:gd name="T3" fmla="*/ 0 h 8"/>
                <a:gd name="T4" fmla="*/ 0 w 11"/>
                <a:gd name="T5" fmla="*/ 7 h 8"/>
                <a:gd name="T6" fmla="*/ 0 w 11"/>
                <a:gd name="T7" fmla="*/ 8 h 8"/>
                <a:gd name="T8" fmla="*/ 11 w 11"/>
                <a:gd name="T9" fmla="*/ 8 h 8"/>
                <a:gd name="T10" fmla="*/ 10 w 11"/>
                <a:gd name="T11" fmla="*/ 0 h 8"/>
                <a:gd name="T12" fmla="*/ 2 w 11"/>
                <a:gd name="T13" fmla="*/ 0 h 8"/>
                <a:gd name="T14" fmla="*/ 2 w 11"/>
                <a:gd name="T1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" h="8">
                  <a:moveTo>
                    <a:pt x="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6"/>
                    <a:pt x="0" y="7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1" y="5"/>
                    <a:pt x="1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</a:path>
              </a:pathLst>
            </a:custGeom>
            <a:solidFill>
              <a:srgbClr val="0A0A0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5" name="Freeform 1590">
              <a:extLst>
                <a:ext uri="{FF2B5EF4-FFF2-40B4-BE49-F238E27FC236}">
                  <a16:creationId xmlns:a16="http://schemas.microsoft.com/office/drawing/2014/main" id="{2F992E73-501A-424E-864E-0813A556EF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4733" y="943599"/>
              <a:ext cx="14074" cy="19702"/>
            </a:xfrm>
            <a:custGeom>
              <a:avLst/>
              <a:gdLst>
                <a:gd name="T0" fmla="*/ 0 w 2"/>
                <a:gd name="T1" fmla="*/ 0 h 3"/>
                <a:gd name="T2" fmla="*/ 0 w 2"/>
                <a:gd name="T3" fmla="*/ 3 h 3"/>
                <a:gd name="T4" fmla="*/ 2 w 2"/>
                <a:gd name="T5" fmla="*/ 3 h 3"/>
                <a:gd name="T6" fmla="*/ 0 w 2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cubicBezTo>
                    <a:pt x="0" y="1"/>
                    <a:pt x="0" y="2"/>
                    <a:pt x="0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6970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7" name="Freeform 1591">
              <a:extLst>
                <a:ext uri="{FF2B5EF4-FFF2-40B4-BE49-F238E27FC236}">
                  <a16:creationId xmlns:a16="http://schemas.microsoft.com/office/drawing/2014/main" id="{8070AD5C-162A-4064-A491-22DDD7654C21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4733" y="943599"/>
              <a:ext cx="67553" cy="19702"/>
            </a:xfrm>
            <a:custGeom>
              <a:avLst/>
              <a:gdLst>
                <a:gd name="T0" fmla="*/ 10 w 10"/>
                <a:gd name="T1" fmla="*/ 0 h 3"/>
                <a:gd name="T2" fmla="*/ 0 w 10"/>
                <a:gd name="T3" fmla="*/ 0 h 3"/>
                <a:gd name="T4" fmla="*/ 0 w 10"/>
                <a:gd name="T5" fmla="*/ 0 h 3"/>
                <a:gd name="T6" fmla="*/ 2 w 10"/>
                <a:gd name="T7" fmla="*/ 3 h 3"/>
                <a:gd name="T8" fmla="*/ 2 w 10"/>
                <a:gd name="T9" fmla="*/ 3 h 3"/>
                <a:gd name="T10" fmla="*/ 10 w 10"/>
                <a:gd name="T11" fmla="*/ 3 h 3"/>
                <a:gd name="T12" fmla="*/ 10 w 10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3">
                  <a:moveTo>
                    <a:pt x="1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0" y="2"/>
                    <a:pt x="10" y="1"/>
                    <a:pt x="10" y="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9" name="Freeform 1592">
              <a:extLst>
                <a:ext uri="{FF2B5EF4-FFF2-40B4-BE49-F238E27FC236}">
                  <a16:creationId xmlns:a16="http://schemas.microsoft.com/office/drawing/2014/main" id="{A6FC5B0A-1A4A-4BFD-A4E7-E1A99A7E5DE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44875" y="645239"/>
              <a:ext cx="73183" cy="19702"/>
            </a:xfrm>
            <a:custGeom>
              <a:avLst/>
              <a:gdLst>
                <a:gd name="T0" fmla="*/ 11 w 11"/>
                <a:gd name="T1" fmla="*/ 3 h 3"/>
                <a:gd name="T2" fmla="*/ 11 w 11"/>
                <a:gd name="T3" fmla="*/ 3 h 3"/>
                <a:gd name="T4" fmla="*/ 11 w 11"/>
                <a:gd name="T5" fmla="*/ 3 h 3"/>
                <a:gd name="T6" fmla="*/ 11 w 11"/>
                <a:gd name="T7" fmla="*/ 3 h 3"/>
                <a:gd name="T8" fmla="*/ 0 w 11"/>
                <a:gd name="T9" fmla="*/ 0 h 3"/>
                <a:gd name="T10" fmla="*/ 5 w 11"/>
                <a:gd name="T11" fmla="*/ 1 h 3"/>
                <a:gd name="T12" fmla="*/ 0 w 11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3">
                  <a:moveTo>
                    <a:pt x="11" y="3"/>
                  </a:moveTo>
                  <a:cubicBezTo>
                    <a:pt x="11" y="3"/>
                    <a:pt x="11" y="3"/>
                    <a:pt x="11" y="3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1" y="3"/>
                    <a:pt x="11" y="3"/>
                    <a:pt x="11" y="3"/>
                  </a:cubicBezTo>
                  <a:moveTo>
                    <a:pt x="0" y="0"/>
                  </a:moveTo>
                  <a:cubicBezTo>
                    <a:pt x="2" y="1"/>
                    <a:pt x="4" y="1"/>
                    <a:pt x="5" y="1"/>
                  </a:cubicBezTo>
                  <a:cubicBezTo>
                    <a:pt x="4" y="1"/>
                    <a:pt x="2" y="0"/>
                    <a:pt x="0" y="0"/>
                  </a:cubicBezTo>
                </a:path>
              </a:pathLst>
            </a:custGeom>
            <a:solidFill>
              <a:srgbClr val="8082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1" name="Freeform 1593">
              <a:extLst>
                <a:ext uri="{FF2B5EF4-FFF2-40B4-BE49-F238E27FC236}">
                  <a16:creationId xmlns:a16="http://schemas.microsoft.com/office/drawing/2014/main" id="{29F79568-F769-4B7A-AEE0-F5E649101C08}"/>
                </a:ext>
              </a:extLst>
            </p:cNvPr>
            <p:cNvSpPr>
              <a:spLocks/>
            </p:cNvSpPr>
            <p:nvPr/>
          </p:nvSpPr>
          <p:spPr bwMode="auto">
            <a:xfrm>
              <a:off x="6039246" y="963303"/>
              <a:ext cx="78812" cy="53479"/>
            </a:xfrm>
            <a:custGeom>
              <a:avLst/>
              <a:gdLst>
                <a:gd name="T0" fmla="*/ 12 w 12"/>
                <a:gd name="T1" fmla="*/ 0 h 8"/>
                <a:gd name="T2" fmla="*/ 11 w 12"/>
                <a:gd name="T3" fmla="*/ 0 h 8"/>
                <a:gd name="T4" fmla="*/ 11 w 12"/>
                <a:gd name="T5" fmla="*/ 0 h 8"/>
                <a:gd name="T6" fmla="*/ 1 w 12"/>
                <a:gd name="T7" fmla="*/ 0 h 8"/>
                <a:gd name="T8" fmla="*/ 0 w 12"/>
                <a:gd name="T9" fmla="*/ 8 h 8"/>
                <a:gd name="T10" fmla="*/ 11 w 12"/>
                <a:gd name="T11" fmla="*/ 8 h 8"/>
                <a:gd name="T12" fmla="*/ 12 w 12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8">
                  <a:moveTo>
                    <a:pt x="12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5"/>
                    <a:pt x="0" y="8"/>
                    <a:pt x="0" y="8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1" y="6"/>
                    <a:pt x="12" y="0"/>
                  </a:cubicBezTo>
                </a:path>
              </a:pathLst>
            </a:custGeom>
            <a:solidFill>
              <a:srgbClr val="0A0A0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3" name="Freeform 1594">
              <a:extLst>
                <a:ext uri="{FF2B5EF4-FFF2-40B4-BE49-F238E27FC236}">
                  <a16:creationId xmlns:a16="http://schemas.microsoft.com/office/drawing/2014/main" id="{B2038F28-D03E-4D9A-AE35-B6CFF2E8C2A7}"/>
                </a:ext>
              </a:extLst>
            </p:cNvPr>
            <p:cNvSpPr>
              <a:spLocks/>
            </p:cNvSpPr>
            <p:nvPr/>
          </p:nvSpPr>
          <p:spPr bwMode="auto">
            <a:xfrm>
              <a:off x="6039246" y="645239"/>
              <a:ext cx="92887" cy="318063"/>
            </a:xfrm>
            <a:custGeom>
              <a:avLst/>
              <a:gdLst>
                <a:gd name="T0" fmla="*/ 0 w 14"/>
                <a:gd name="T1" fmla="*/ 0 h 48"/>
                <a:gd name="T2" fmla="*/ 0 w 14"/>
                <a:gd name="T3" fmla="*/ 1 h 48"/>
                <a:gd name="T4" fmla="*/ 1 w 14"/>
                <a:gd name="T5" fmla="*/ 2 h 48"/>
                <a:gd name="T6" fmla="*/ 3 w 14"/>
                <a:gd name="T7" fmla="*/ 5 h 48"/>
                <a:gd name="T8" fmla="*/ 3 w 14"/>
                <a:gd name="T9" fmla="*/ 45 h 48"/>
                <a:gd name="T10" fmla="*/ 1 w 14"/>
                <a:gd name="T11" fmla="*/ 45 h 48"/>
                <a:gd name="T12" fmla="*/ 1 w 14"/>
                <a:gd name="T13" fmla="*/ 45 h 48"/>
                <a:gd name="T14" fmla="*/ 12 w 14"/>
                <a:gd name="T15" fmla="*/ 45 h 48"/>
                <a:gd name="T16" fmla="*/ 11 w 14"/>
                <a:gd name="T17" fmla="*/ 48 h 48"/>
                <a:gd name="T18" fmla="*/ 12 w 14"/>
                <a:gd name="T19" fmla="*/ 48 h 48"/>
                <a:gd name="T20" fmla="*/ 13 w 14"/>
                <a:gd name="T21" fmla="*/ 32 h 48"/>
                <a:gd name="T22" fmla="*/ 12 w 14"/>
                <a:gd name="T23" fmla="*/ 3 h 48"/>
                <a:gd name="T24" fmla="*/ 12 w 14"/>
                <a:gd name="T25" fmla="*/ 3 h 48"/>
                <a:gd name="T26" fmla="*/ 6 w 14"/>
                <a:gd name="T27" fmla="*/ 1 h 48"/>
                <a:gd name="T28" fmla="*/ 1 w 14"/>
                <a:gd name="T29" fmla="*/ 0 h 48"/>
                <a:gd name="T30" fmla="*/ 0 w 14"/>
                <a:gd name="T31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4" h="48">
                  <a:moveTo>
                    <a:pt x="0" y="0"/>
                  </a:moveTo>
                  <a:cubicBezTo>
                    <a:pt x="0" y="0"/>
                    <a:pt x="0" y="1"/>
                    <a:pt x="0" y="1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3"/>
                    <a:pt x="3" y="3"/>
                    <a:pt x="3" y="5"/>
                  </a:cubicBezTo>
                  <a:cubicBezTo>
                    <a:pt x="5" y="8"/>
                    <a:pt x="3" y="45"/>
                    <a:pt x="3" y="45"/>
                  </a:cubicBezTo>
                  <a:cubicBezTo>
                    <a:pt x="1" y="45"/>
                    <a:pt x="1" y="45"/>
                    <a:pt x="1" y="45"/>
                  </a:cubicBezTo>
                  <a:cubicBezTo>
                    <a:pt x="1" y="45"/>
                    <a:pt x="1" y="45"/>
                    <a:pt x="1" y="45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1" y="48"/>
                    <a:pt x="11" y="48"/>
                    <a:pt x="11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45"/>
                    <a:pt x="12" y="40"/>
                    <a:pt x="13" y="32"/>
                  </a:cubicBezTo>
                  <a:cubicBezTo>
                    <a:pt x="14" y="22"/>
                    <a:pt x="12" y="4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1" y="3"/>
                    <a:pt x="9" y="2"/>
                    <a:pt x="6" y="1"/>
                  </a:cubicBezTo>
                  <a:cubicBezTo>
                    <a:pt x="5" y="1"/>
                    <a:pt x="3" y="1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</a:path>
              </a:pathLst>
            </a:custGeom>
            <a:solidFill>
              <a:srgbClr val="6970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5" name="Freeform 1595">
              <a:extLst>
                <a:ext uri="{FF2B5EF4-FFF2-40B4-BE49-F238E27FC236}">
                  <a16:creationId xmlns:a16="http://schemas.microsoft.com/office/drawing/2014/main" id="{D28A8BCC-E535-474E-94D1-0C694D69679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39246" y="650868"/>
              <a:ext cx="33777" cy="292731"/>
            </a:xfrm>
            <a:custGeom>
              <a:avLst/>
              <a:gdLst>
                <a:gd name="T0" fmla="*/ 0 w 5"/>
                <a:gd name="T1" fmla="*/ 0 h 44"/>
                <a:gd name="T2" fmla="*/ 1 w 5"/>
                <a:gd name="T3" fmla="*/ 43 h 44"/>
                <a:gd name="T4" fmla="*/ 1 w 5"/>
                <a:gd name="T5" fmla="*/ 44 h 44"/>
                <a:gd name="T6" fmla="*/ 3 w 5"/>
                <a:gd name="T7" fmla="*/ 44 h 44"/>
                <a:gd name="T8" fmla="*/ 3 w 5"/>
                <a:gd name="T9" fmla="*/ 4 h 44"/>
                <a:gd name="T10" fmla="*/ 1 w 5"/>
                <a:gd name="T11" fmla="*/ 1 h 44"/>
                <a:gd name="T12" fmla="*/ 0 w 5"/>
                <a:gd name="T1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44">
                  <a:moveTo>
                    <a:pt x="0" y="0"/>
                  </a:moveTo>
                  <a:cubicBezTo>
                    <a:pt x="1" y="6"/>
                    <a:pt x="3" y="36"/>
                    <a:pt x="1" y="43"/>
                  </a:cubicBezTo>
                  <a:cubicBezTo>
                    <a:pt x="1" y="43"/>
                    <a:pt x="1" y="44"/>
                    <a:pt x="1" y="4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3" y="44"/>
                    <a:pt x="5" y="7"/>
                    <a:pt x="3" y="4"/>
                  </a:cubicBezTo>
                  <a:cubicBezTo>
                    <a:pt x="3" y="2"/>
                    <a:pt x="2" y="2"/>
                    <a:pt x="1" y="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646C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" name="Freeform 1596">
              <a:extLst>
                <a:ext uri="{FF2B5EF4-FFF2-40B4-BE49-F238E27FC236}">
                  <a16:creationId xmlns:a16="http://schemas.microsoft.com/office/drawing/2014/main" id="{22E346A2-F9A5-443D-A63E-B0701E69201F}"/>
                </a:ext>
              </a:extLst>
            </p:cNvPr>
            <p:cNvSpPr>
              <a:spLocks/>
            </p:cNvSpPr>
            <p:nvPr/>
          </p:nvSpPr>
          <p:spPr bwMode="auto">
            <a:xfrm>
              <a:off x="6044875" y="943599"/>
              <a:ext cx="73183" cy="19702"/>
            </a:xfrm>
            <a:custGeom>
              <a:avLst/>
              <a:gdLst>
                <a:gd name="T0" fmla="*/ 11 w 11"/>
                <a:gd name="T1" fmla="*/ 0 h 3"/>
                <a:gd name="T2" fmla="*/ 0 w 11"/>
                <a:gd name="T3" fmla="*/ 0 h 3"/>
                <a:gd name="T4" fmla="*/ 0 w 11"/>
                <a:gd name="T5" fmla="*/ 3 h 3"/>
                <a:gd name="T6" fmla="*/ 10 w 11"/>
                <a:gd name="T7" fmla="*/ 3 h 3"/>
                <a:gd name="T8" fmla="*/ 10 w 11"/>
                <a:gd name="T9" fmla="*/ 3 h 3"/>
                <a:gd name="T10" fmla="*/ 11 w 11"/>
                <a:gd name="T11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3">
                  <a:moveTo>
                    <a:pt x="1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2"/>
                    <a:pt x="0" y="3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1" y="0"/>
                    <a:pt x="11" y="0"/>
                    <a:pt x="11" y="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9" name="Freeform 1597">
              <a:extLst>
                <a:ext uri="{FF2B5EF4-FFF2-40B4-BE49-F238E27FC236}">
                  <a16:creationId xmlns:a16="http://schemas.microsoft.com/office/drawing/2014/main" id="{194D246C-9A06-4887-A054-3F984B52FB64}"/>
                </a:ext>
              </a:extLst>
            </p:cNvPr>
            <p:cNvSpPr>
              <a:spLocks/>
            </p:cNvSpPr>
            <p:nvPr/>
          </p:nvSpPr>
          <p:spPr bwMode="auto">
            <a:xfrm>
              <a:off x="5845031" y="645239"/>
              <a:ext cx="92887" cy="371543"/>
            </a:xfrm>
            <a:custGeom>
              <a:avLst/>
              <a:gdLst>
                <a:gd name="T0" fmla="*/ 14 w 14"/>
                <a:gd name="T1" fmla="*/ 0 h 56"/>
                <a:gd name="T2" fmla="*/ 12 w 14"/>
                <a:gd name="T3" fmla="*/ 43 h 56"/>
                <a:gd name="T4" fmla="*/ 13 w 14"/>
                <a:gd name="T5" fmla="*/ 56 h 56"/>
                <a:gd name="T6" fmla="*/ 2 w 14"/>
                <a:gd name="T7" fmla="*/ 55 h 56"/>
                <a:gd name="T8" fmla="*/ 1 w 14"/>
                <a:gd name="T9" fmla="*/ 31 h 56"/>
                <a:gd name="T10" fmla="*/ 3 w 14"/>
                <a:gd name="T11" fmla="*/ 3 h 56"/>
                <a:gd name="T12" fmla="*/ 14 w 14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56">
                  <a:moveTo>
                    <a:pt x="14" y="0"/>
                  </a:moveTo>
                  <a:cubicBezTo>
                    <a:pt x="14" y="0"/>
                    <a:pt x="11" y="35"/>
                    <a:pt x="12" y="43"/>
                  </a:cubicBezTo>
                  <a:cubicBezTo>
                    <a:pt x="13" y="50"/>
                    <a:pt x="13" y="56"/>
                    <a:pt x="13" y="56"/>
                  </a:cubicBezTo>
                  <a:cubicBezTo>
                    <a:pt x="2" y="55"/>
                    <a:pt x="2" y="55"/>
                    <a:pt x="2" y="55"/>
                  </a:cubicBezTo>
                  <a:cubicBezTo>
                    <a:pt x="2" y="55"/>
                    <a:pt x="2" y="51"/>
                    <a:pt x="1" y="31"/>
                  </a:cubicBezTo>
                  <a:cubicBezTo>
                    <a:pt x="0" y="21"/>
                    <a:pt x="3" y="3"/>
                    <a:pt x="3" y="3"/>
                  </a:cubicBezTo>
                  <a:cubicBezTo>
                    <a:pt x="3" y="3"/>
                    <a:pt x="8" y="0"/>
                    <a:pt x="14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1" name="Freeform 1598">
              <a:extLst>
                <a:ext uri="{FF2B5EF4-FFF2-40B4-BE49-F238E27FC236}">
                  <a16:creationId xmlns:a16="http://schemas.microsoft.com/office/drawing/2014/main" id="{93D5F1E7-DE33-4784-A347-F99BB98C8183}"/>
                </a:ext>
              </a:extLst>
            </p:cNvPr>
            <p:cNvSpPr>
              <a:spLocks/>
            </p:cNvSpPr>
            <p:nvPr/>
          </p:nvSpPr>
          <p:spPr bwMode="auto">
            <a:xfrm>
              <a:off x="5898510" y="636795"/>
              <a:ext cx="53481" cy="174513"/>
            </a:xfrm>
            <a:custGeom>
              <a:avLst/>
              <a:gdLst>
                <a:gd name="T0" fmla="*/ 6 w 8"/>
                <a:gd name="T1" fmla="*/ 0 h 26"/>
                <a:gd name="T2" fmla="*/ 8 w 8"/>
                <a:gd name="T3" fmla="*/ 1 h 26"/>
                <a:gd name="T4" fmla="*/ 4 w 8"/>
                <a:gd name="T5" fmla="*/ 26 h 26"/>
                <a:gd name="T6" fmla="*/ 0 w 8"/>
                <a:gd name="T7" fmla="*/ 18 h 26"/>
                <a:gd name="T8" fmla="*/ 1 w 8"/>
                <a:gd name="T9" fmla="*/ 14 h 26"/>
                <a:gd name="T10" fmla="*/ 3 w 8"/>
                <a:gd name="T11" fmla="*/ 13 h 26"/>
                <a:gd name="T12" fmla="*/ 1 w 8"/>
                <a:gd name="T13" fmla="*/ 9 h 26"/>
                <a:gd name="T14" fmla="*/ 2 w 8"/>
                <a:gd name="T15" fmla="*/ 1 h 26"/>
                <a:gd name="T16" fmla="*/ 6 w 8"/>
                <a:gd name="T17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" h="26">
                  <a:moveTo>
                    <a:pt x="6" y="0"/>
                  </a:moveTo>
                  <a:cubicBezTo>
                    <a:pt x="8" y="1"/>
                    <a:pt x="8" y="1"/>
                    <a:pt x="8" y="1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4" y="0"/>
                    <a:pt x="6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3" name="Freeform 1599">
              <a:extLst>
                <a:ext uri="{FF2B5EF4-FFF2-40B4-BE49-F238E27FC236}">
                  <a16:creationId xmlns:a16="http://schemas.microsoft.com/office/drawing/2014/main" id="{E407A7B4-7618-45C9-9CF9-F072C51BD623}"/>
                </a:ext>
              </a:extLst>
            </p:cNvPr>
            <p:cNvSpPr>
              <a:spLocks/>
            </p:cNvSpPr>
            <p:nvPr/>
          </p:nvSpPr>
          <p:spPr bwMode="auto">
            <a:xfrm>
              <a:off x="6039246" y="636795"/>
              <a:ext cx="92887" cy="379987"/>
            </a:xfrm>
            <a:custGeom>
              <a:avLst/>
              <a:gdLst>
                <a:gd name="T0" fmla="*/ 0 w 14"/>
                <a:gd name="T1" fmla="*/ 0 h 57"/>
                <a:gd name="T2" fmla="*/ 2 w 14"/>
                <a:gd name="T3" fmla="*/ 44 h 57"/>
                <a:gd name="T4" fmla="*/ 1 w 14"/>
                <a:gd name="T5" fmla="*/ 57 h 57"/>
                <a:gd name="T6" fmla="*/ 12 w 14"/>
                <a:gd name="T7" fmla="*/ 56 h 57"/>
                <a:gd name="T8" fmla="*/ 13 w 14"/>
                <a:gd name="T9" fmla="*/ 32 h 57"/>
                <a:gd name="T10" fmla="*/ 11 w 14"/>
                <a:gd name="T11" fmla="*/ 3 h 57"/>
                <a:gd name="T12" fmla="*/ 0 w 14"/>
                <a:gd name="T13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57">
                  <a:moveTo>
                    <a:pt x="0" y="0"/>
                  </a:moveTo>
                  <a:cubicBezTo>
                    <a:pt x="0" y="0"/>
                    <a:pt x="3" y="36"/>
                    <a:pt x="2" y="44"/>
                  </a:cubicBezTo>
                  <a:cubicBezTo>
                    <a:pt x="1" y="51"/>
                    <a:pt x="1" y="57"/>
                    <a:pt x="1" y="57"/>
                  </a:cubicBezTo>
                  <a:cubicBezTo>
                    <a:pt x="12" y="56"/>
                    <a:pt x="12" y="56"/>
                    <a:pt x="12" y="56"/>
                  </a:cubicBezTo>
                  <a:cubicBezTo>
                    <a:pt x="12" y="56"/>
                    <a:pt x="12" y="52"/>
                    <a:pt x="13" y="32"/>
                  </a:cubicBezTo>
                  <a:cubicBezTo>
                    <a:pt x="14" y="22"/>
                    <a:pt x="11" y="3"/>
                    <a:pt x="11" y="3"/>
                  </a:cubicBezTo>
                  <a:cubicBezTo>
                    <a:pt x="11" y="3"/>
                    <a:pt x="6" y="0"/>
                    <a:pt x="0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5" name="Freeform 1600">
              <a:extLst>
                <a:ext uri="{FF2B5EF4-FFF2-40B4-BE49-F238E27FC236}">
                  <a16:creationId xmlns:a16="http://schemas.microsoft.com/office/drawing/2014/main" id="{0B57340A-E0D3-4A1C-8627-D7AEAF878E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039246" y="636795"/>
              <a:ext cx="39406" cy="174513"/>
            </a:xfrm>
            <a:custGeom>
              <a:avLst/>
              <a:gdLst>
                <a:gd name="T0" fmla="*/ 1 w 6"/>
                <a:gd name="T1" fmla="*/ 0 h 26"/>
                <a:gd name="T2" fmla="*/ 0 w 6"/>
                <a:gd name="T3" fmla="*/ 0 h 26"/>
                <a:gd name="T4" fmla="*/ 2 w 6"/>
                <a:gd name="T5" fmla="*/ 26 h 26"/>
                <a:gd name="T6" fmla="*/ 6 w 6"/>
                <a:gd name="T7" fmla="*/ 17 h 26"/>
                <a:gd name="T8" fmla="*/ 5 w 6"/>
                <a:gd name="T9" fmla="*/ 14 h 26"/>
                <a:gd name="T10" fmla="*/ 3 w 6"/>
                <a:gd name="T11" fmla="*/ 13 h 26"/>
                <a:gd name="T12" fmla="*/ 5 w 6"/>
                <a:gd name="T13" fmla="*/ 9 h 26"/>
                <a:gd name="T14" fmla="*/ 4 w 6"/>
                <a:gd name="T15" fmla="*/ 1 h 26"/>
                <a:gd name="T16" fmla="*/ 1 w 6"/>
                <a:gd name="T17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26"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0"/>
                    <a:pt x="1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7" name="Freeform 1601">
              <a:extLst>
                <a:ext uri="{FF2B5EF4-FFF2-40B4-BE49-F238E27FC236}">
                  <a16:creationId xmlns:a16="http://schemas.microsoft.com/office/drawing/2014/main" id="{230B1AD0-8C22-4FE0-9F00-9FABBC76CC47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8652" y="645239"/>
              <a:ext cx="98516" cy="258954"/>
            </a:xfrm>
            <a:custGeom>
              <a:avLst/>
              <a:gdLst>
                <a:gd name="T0" fmla="*/ 5 w 15"/>
                <a:gd name="T1" fmla="*/ 2 h 39"/>
                <a:gd name="T2" fmla="*/ 3 w 15"/>
                <a:gd name="T3" fmla="*/ 21 h 39"/>
                <a:gd name="T4" fmla="*/ 0 w 15"/>
                <a:gd name="T5" fmla="*/ 29 h 39"/>
                <a:gd name="T6" fmla="*/ 9 w 15"/>
                <a:gd name="T7" fmla="*/ 39 h 39"/>
                <a:gd name="T8" fmla="*/ 5 w 15"/>
                <a:gd name="T9" fmla="*/ 2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39">
                  <a:moveTo>
                    <a:pt x="5" y="2"/>
                  </a:moveTo>
                  <a:cubicBezTo>
                    <a:pt x="5" y="2"/>
                    <a:pt x="6" y="13"/>
                    <a:pt x="3" y="21"/>
                  </a:cubicBezTo>
                  <a:cubicBezTo>
                    <a:pt x="1" y="25"/>
                    <a:pt x="0" y="29"/>
                    <a:pt x="0" y="29"/>
                  </a:cubicBezTo>
                  <a:cubicBezTo>
                    <a:pt x="0" y="29"/>
                    <a:pt x="5" y="39"/>
                    <a:pt x="9" y="39"/>
                  </a:cubicBezTo>
                  <a:cubicBezTo>
                    <a:pt x="13" y="38"/>
                    <a:pt x="15" y="0"/>
                    <a:pt x="5" y="2"/>
                  </a:cubicBezTo>
                  <a:close/>
                </a:path>
              </a:pathLst>
            </a:custGeom>
            <a:solidFill>
              <a:srgbClr val="2424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9" name="Freeform 1602">
              <a:extLst>
                <a:ext uri="{FF2B5EF4-FFF2-40B4-BE49-F238E27FC236}">
                  <a16:creationId xmlns:a16="http://schemas.microsoft.com/office/drawing/2014/main" id="{6D4B28F7-9AB6-498B-82B2-9D28DC8139FC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1990" y="831010"/>
              <a:ext cx="205476" cy="87255"/>
            </a:xfrm>
            <a:custGeom>
              <a:avLst/>
              <a:gdLst>
                <a:gd name="T0" fmla="*/ 28 w 31"/>
                <a:gd name="T1" fmla="*/ 11 h 13"/>
                <a:gd name="T2" fmla="*/ 0 w 31"/>
                <a:gd name="T3" fmla="*/ 6 h 13"/>
                <a:gd name="T4" fmla="*/ 3 w 31"/>
                <a:gd name="T5" fmla="*/ 0 h 13"/>
                <a:gd name="T6" fmla="*/ 14 w 31"/>
                <a:gd name="T7" fmla="*/ 1 h 13"/>
                <a:gd name="T8" fmla="*/ 28 w 31"/>
                <a:gd name="T9" fmla="*/ 1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3">
                  <a:moveTo>
                    <a:pt x="28" y="11"/>
                  </a:moveTo>
                  <a:cubicBezTo>
                    <a:pt x="28" y="11"/>
                    <a:pt x="17" y="13"/>
                    <a:pt x="0" y="6"/>
                  </a:cubicBezTo>
                  <a:cubicBezTo>
                    <a:pt x="0" y="6"/>
                    <a:pt x="2" y="0"/>
                    <a:pt x="3" y="0"/>
                  </a:cubicBezTo>
                  <a:cubicBezTo>
                    <a:pt x="3" y="0"/>
                    <a:pt x="8" y="1"/>
                    <a:pt x="14" y="1"/>
                  </a:cubicBezTo>
                  <a:cubicBezTo>
                    <a:pt x="18" y="1"/>
                    <a:pt x="31" y="3"/>
                    <a:pt x="28" y="11"/>
                  </a:cubicBezTo>
                  <a:close/>
                </a:path>
              </a:pathLst>
            </a:custGeom>
            <a:solidFill>
              <a:srgbClr val="2424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1" name="Freeform 1603">
              <a:extLst>
                <a:ext uri="{FF2B5EF4-FFF2-40B4-BE49-F238E27FC236}">
                  <a16:creationId xmlns:a16="http://schemas.microsoft.com/office/drawing/2014/main" id="{0D0D54E6-9822-4AFD-9FB4-D9B2F33B666C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8652" y="656498"/>
              <a:ext cx="53481" cy="208289"/>
            </a:xfrm>
            <a:custGeom>
              <a:avLst/>
              <a:gdLst>
                <a:gd name="T0" fmla="*/ 3 w 8"/>
                <a:gd name="T1" fmla="*/ 31 h 31"/>
                <a:gd name="T2" fmla="*/ 4 w 8"/>
                <a:gd name="T3" fmla="*/ 30 h 31"/>
                <a:gd name="T4" fmla="*/ 4 w 8"/>
                <a:gd name="T5" fmla="*/ 30 h 31"/>
                <a:gd name="T6" fmla="*/ 5 w 8"/>
                <a:gd name="T7" fmla="*/ 19 h 31"/>
                <a:gd name="T8" fmla="*/ 6 w 8"/>
                <a:gd name="T9" fmla="*/ 1 h 31"/>
                <a:gd name="T10" fmla="*/ 6 w 8"/>
                <a:gd name="T11" fmla="*/ 0 h 31"/>
                <a:gd name="T12" fmla="*/ 5 w 8"/>
                <a:gd name="T13" fmla="*/ 0 h 31"/>
                <a:gd name="T14" fmla="*/ 3 w 8"/>
                <a:gd name="T15" fmla="*/ 19 h 31"/>
                <a:gd name="T16" fmla="*/ 0 w 8"/>
                <a:gd name="T17" fmla="*/ 27 h 31"/>
                <a:gd name="T18" fmla="*/ 2 w 8"/>
                <a:gd name="T19" fmla="*/ 31 h 31"/>
                <a:gd name="T20" fmla="*/ 3 w 8"/>
                <a:gd name="T21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" h="31">
                  <a:moveTo>
                    <a:pt x="3" y="31"/>
                  </a:moveTo>
                  <a:cubicBezTo>
                    <a:pt x="3" y="31"/>
                    <a:pt x="4" y="31"/>
                    <a:pt x="4" y="30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2" y="26"/>
                    <a:pt x="3" y="22"/>
                    <a:pt x="5" y="19"/>
                  </a:cubicBezTo>
                  <a:cubicBezTo>
                    <a:pt x="8" y="13"/>
                    <a:pt x="6" y="7"/>
                    <a:pt x="6" y="1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5" y="0"/>
                    <a:pt x="5" y="0"/>
                  </a:cubicBezTo>
                  <a:cubicBezTo>
                    <a:pt x="5" y="0"/>
                    <a:pt x="6" y="11"/>
                    <a:pt x="3" y="19"/>
                  </a:cubicBezTo>
                  <a:cubicBezTo>
                    <a:pt x="1" y="23"/>
                    <a:pt x="0" y="27"/>
                    <a:pt x="0" y="27"/>
                  </a:cubicBezTo>
                  <a:cubicBezTo>
                    <a:pt x="0" y="27"/>
                    <a:pt x="1" y="29"/>
                    <a:pt x="2" y="31"/>
                  </a:cubicBezTo>
                  <a:lnTo>
                    <a:pt x="3" y="3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3" name="Freeform 1604">
              <a:extLst>
                <a:ext uri="{FF2B5EF4-FFF2-40B4-BE49-F238E27FC236}">
                  <a16:creationId xmlns:a16="http://schemas.microsoft.com/office/drawing/2014/main" id="{76F14179-F486-4F3F-9059-0395027CB5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1990" y="831010"/>
              <a:ext cx="151995" cy="59108"/>
            </a:xfrm>
            <a:custGeom>
              <a:avLst/>
              <a:gdLst>
                <a:gd name="T0" fmla="*/ 10 w 23"/>
                <a:gd name="T1" fmla="*/ 8 h 9"/>
                <a:gd name="T2" fmla="*/ 10 w 23"/>
                <a:gd name="T3" fmla="*/ 5 h 9"/>
                <a:gd name="T4" fmla="*/ 18 w 23"/>
                <a:gd name="T5" fmla="*/ 4 h 9"/>
                <a:gd name="T6" fmla="*/ 18 w 23"/>
                <a:gd name="T7" fmla="*/ 4 h 9"/>
                <a:gd name="T8" fmla="*/ 20 w 23"/>
                <a:gd name="T9" fmla="*/ 5 h 9"/>
                <a:gd name="T10" fmla="*/ 21 w 23"/>
                <a:gd name="T11" fmla="*/ 5 h 9"/>
                <a:gd name="T12" fmla="*/ 22 w 23"/>
                <a:gd name="T13" fmla="*/ 5 h 9"/>
                <a:gd name="T14" fmla="*/ 23 w 23"/>
                <a:gd name="T15" fmla="*/ 4 h 9"/>
                <a:gd name="T16" fmla="*/ 23 w 23"/>
                <a:gd name="T17" fmla="*/ 4 h 9"/>
                <a:gd name="T18" fmla="*/ 22 w 23"/>
                <a:gd name="T19" fmla="*/ 2 h 9"/>
                <a:gd name="T20" fmla="*/ 14 w 23"/>
                <a:gd name="T21" fmla="*/ 1 h 9"/>
                <a:gd name="T22" fmla="*/ 3 w 23"/>
                <a:gd name="T23" fmla="*/ 0 h 9"/>
                <a:gd name="T24" fmla="*/ 0 w 23"/>
                <a:gd name="T25" fmla="*/ 6 h 9"/>
                <a:gd name="T26" fmla="*/ 9 w 23"/>
                <a:gd name="T27" fmla="*/ 9 h 9"/>
                <a:gd name="T28" fmla="*/ 10 w 23"/>
                <a:gd name="T29" fmla="*/ 8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" h="9">
                  <a:moveTo>
                    <a:pt x="10" y="8"/>
                  </a:moveTo>
                  <a:cubicBezTo>
                    <a:pt x="9" y="7"/>
                    <a:pt x="10" y="6"/>
                    <a:pt x="10" y="5"/>
                  </a:cubicBezTo>
                  <a:cubicBezTo>
                    <a:pt x="12" y="3"/>
                    <a:pt x="15" y="2"/>
                    <a:pt x="18" y="4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9" y="4"/>
                    <a:pt x="20" y="5"/>
                    <a:pt x="20" y="5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1" y="5"/>
                    <a:pt x="22" y="5"/>
                    <a:pt x="22" y="5"/>
                  </a:cubicBezTo>
                  <a:cubicBezTo>
                    <a:pt x="22" y="5"/>
                    <a:pt x="23" y="5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3"/>
                    <a:pt x="22" y="3"/>
                    <a:pt x="22" y="2"/>
                  </a:cubicBezTo>
                  <a:cubicBezTo>
                    <a:pt x="19" y="1"/>
                    <a:pt x="16" y="1"/>
                    <a:pt x="14" y="1"/>
                  </a:cubicBezTo>
                  <a:cubicBezTo>
                    <a:pt x="8" y="1"/>
                    <a:pt x="3" y="0"/>
                    <a:pt x="3" y="0"/>
                  </a:cubicBezTo>
                  <a:cubicBezTo>
                    <a:pt x="2" y="0"/>
                    <a:pt x="0" y="6"/>
                    <a:pt x="0" y="6"/>
                  </a:cubicBezTo>
                  <a:cubicBezTo>
                    <a:pt x="3" y="7"/>
                    <a:pt x="6" y="8"/>
                    <a:pt x="9" y="9"/>
                  </a:cubicBezTo>
                  <a:lnTo>
                    <a:pt x="10" y="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5" name="Freeform 1605">
              <a:extLst>
                <a:ext uri="{FF2B5EF4-FFF2-40B4-BE49-F238E27FC236}">
                  <a16:creationId xmlns:a16="http://schemas.microsoft.com/office/drawing/2014/main" id="{A7073E32-8B96-4EB8-97F9-325FDCC7DB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0362" y="805679"/>
              <a:ext cx="81628" cy="25332"/>
            </a:xfrm>
            <a:custGeom>
              <a:avLst/>
              <a:gdLst>
                <a:gd name="T0" fmla="*/ 12 w 12"/>
                <a:gd name="T1" fmla="*/ 2 h 4"/>
                <a:gd name="T2" fmla="*/ 3 w 12"/>
                <a:gd name="T3" fmla="*/ 1 h 4"/>
                <a:gd name="T4" fmla="*/ 3 w 12"/>
                <a:gd name="T5" fmla="*/ 3 h 4"/>
                <a:gd name="T6" fmla="*/ 12 w 12"/>
                <a:gd name="T7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4">
                  <a:moveTo>
                    <a:pt x="12" y="2"/>
                  </a:moveTo>
                  <a:cubicBezTo>
                    <a:pt x="12" y="2"/>
                    <a:pt x="5" y="0"/>
                    <a:pt x="3" y="1"/>
                  </a:cubicBezTo>
                  <a:cubicBezTo>
                    <a:pt x="1" y="2"/>
                    <a:pt x="0" y="4"/>
                    <a:pt x="3" y="3"/>
                  </a:cubicBezTo>
                  <a:cubicBezTo>
                    <a:pt x="5" y="3"/>
                    <a:pt x="12" y="2"/>
                    <a:pt x="12" y="2"/>
                  </a:cubicBezTo>
                </a:path>
              </a:pathLst>
            </a:custGeom>
            <a:solidFill>
              <a:srgbClr val="DFB2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7" name="Freeform 1606">
              <a:extLst>
                <a:ext uri="{FF2B5EF4-FFF2-40B4-BE49-F238E27FC236}">
                  <a16:creationId xmlns:a16="http://schemas.microsoft.com/office/drawing/2014/main" id="{FD6A5F9E-30B9-4B64-8C16-B2EFDBBF7237}"/>
                </a:ext>
              </a:extLst>
            </p:cNvPr>
            <p:cNvSpPr>
              <a:spLocks/>
            </p:cNvSpPr>
            <p:nvPr/>
          </p:nvSpPr>
          <p:spPr bwMode="auto">
            <a:xfrm>
              <a:off x="5797180" y="645239"/>
              <a:ext cx="95701" cy="264584"/>
            </a:xfrm>
            <a:custGeom>
              <a:avLst/>
              <a:gdLst>
                <a:gd name="T0" fmla="*/ 11 w 14"/>
                <a:gd name="T1" fmla="*/ 2 h 40"/>
                <a:gd name="T2" fmla="*/ 11 w 14"/>
                <a:gd name="T3" fmla="*/ 16 h 40"/>
                <a:gd name="T4" fmla="*/ 14 w 14"/>
                <a:gd name="T5" fmla="*/ 31 h 40"/>
                <a:gd name="T6" fmla="*/ 5 w 14"/>
                <a:gd name="T7" fmla="*/ 38 h 40"/>
                <a:gd name="T8" fmla="*/ 11 w 14"/>
                <a:gd name="T9" fmla="*/ 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40">
                  <a:moveTo>
                    <a:pt x="11" y="2"/>
                  </a:moveTo>
                  <a:cubicBezTo>
                    <a:pt x="11" y="2"/>
                    <a:pt x="9" y="9"/>
                    <a:pt x="11" y="16"/>
                  </a:cubicBezTo>
                  <a:cubicBezTo>
                    <a:pt x="13" y="22"/>
                    <a:pt x="14" y="31"/>
                    <a:pt x="14" y="31"/>
                  </a:cubicBezTo>
                  <a:cubicBezTo>
                    <a:pt x="14" y="31"/>
                    <a:pt x="8" y="40"/>
                    <a:pt x="5" y="38"/>
                  </a:cubicBezTo>
                  <a:cubicBezTo>
                    <a:pt x="1" y="37"/>
                    <a:pt x="0" y="0"/>
                    <a:pt x="11" y="2"/>
                  </a:cubicBezTo>
                  <a:close/>
                </a:path>
              </a:pathLst>
            </a:custGeom>
            <a:solidFill>
              <a:srgbClr val="2424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" name="Freeform 1607">
              <a:extLst>
                <a:ext uri="{FF2B5EF4-FFF2-40B4-BE49-F238E27FC236}">
                  <a16:creationId xmlns:a16="http://schemas.microsoft.com/office/drawing/2014/main" id="{6FBE8126-85AB-46C5-815A-F88E010EF6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791550" y="811308"/>
              <a:ext cx="247696" cy="112589"/>
            </a:xfrm>
            <a:custGeom>
              <a:avLst/>
              <a:gdLst>
                <a:gd name="T0" fmla="*/ 6 w 37"/>
                <a:gd name="T1" fmla="*/ 13 h 17"/>
                <a:gd name="T2" fmla="*/ 37 w 37"/>
                <a:gd name="T3" fmla="*/ 5 h 17"/>
                <a:gd name="T4" fmla="*/ 34 w 37"/>
                <a:gd name="T5" fmla="*/ 0 h 17"/>
                <a:gd name="T6" fmla="*/ 15 w 37"/>
                <a:gd name="T7" fmla="*/ 2 h 17"/>
                <a:gd name="T8" fmla="*/ 6 w 37"/>
                <a:gd name="T9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7">
                  <a:moveTo>
                    <a:pt x="6" y="13"/>
                  </a:moveTo>
                  <a:cubicBezTo>
                    <a:pt x="6" y="13"/>
                    <a:pt x="15" y="17"/>
                    <a:pt x="37" y="5"/>
                  </a:cubicBezTo>
                  <a:cubicBezTo>
                    <a:pt x="37" y="5"/>
                    <a:pt x="35" y="0"/>
                    <a:pt x="34" y="0"/>
                  </a:cubicBezTo>
                  <a:cubicBezTo>
                    <a:pt x="33" y="0"/>
                    <a:pt x="24" y="0"/>
                    <a:pt x="15" y="2"/>
                  </a:cubicBezTo>
                  <a:cubicBezTo>
                    <a:pt x="12" y="3"/>
                    <a:pt x="0" y="6"/>
                    <a:pt x="6" y="13"/>
                  </a:cubicBezTo>
                  <a:close/>
                </a:path>
              </a:pathLst>
            </a:custGeom>
            <a:solidFill>
              <a:srgbClr val="2424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1" name="Freeform 1608">
              <a:extLst>
                <a:ext uri="{FF2B5EF4-FFF2-40B4-BE49-F238E27FC236}">
                  <a16:creationId xmlns:a16="http://schemas.microsoft.com/office/drawing/2014/main" id="{796FCEED-C9E3-4AFA-982B-381B6F3FF076}"/>
                </a:ext>
              </a:extLst>
            </p:cNvPr>
            <p:cNvSpPr>
              <a:spLocks/>
            </p:cNvSpPr>
            <p:nvPr/>
          </p:nvSpPr>
          <p:spPr bwMode="auto">
            <a:xfrm>
              <a:off x="5830956" y="656498"/>
              <a:ext cx="61924" cy="188585"/>
            </a:xfrm>
            <a:custGeom>
              <a:avLst/>
              <a:gdLst>
                <a:gd name="T0" fmla="*/ 3 w 9"/>
                <a:gd name="T1" fmla="*/ 1 h 28"/>
                <a:gd name="T2" fmla="*/ 3 w 9"/>
                <a:gd name="T3" fmla="*/ 16 h 28"/>
                <a:gd name="T4" fmla="*/ 6 w 9"/>
                <a:gd name="T5" fmla="*/ 23 h 28"/>
                <a:gd name="T6" fmla="*/ 6 w 9"/>
                <a:gd name="T7" fmla="*/ 28 h 28"/>
                <a:gd name="T8" fmla="*/ 9 w 9"/>
                <a:gd name="T9" fmla="*/ 27 h 28"/>
                <a:gd name="T10" fmla="*/ 6 w 9"/>
                <a:gd name="T11" fmla="*/ 14 h 28"/>
                <a:gd name="T12" fmla="*/ 6 w 9"/>
                <a:gd name="T13" fmla="*/ 0 h 28"/>
                <a:gd name="T14" fmla="*/ 3 w 9"/>
                <a:gd name="T15" fmla="*/ 0 h 28"/>
                <a:gd name="T16" fmla="*/ 3 w 9"/>
                <a:gd name="T17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28">
                  <a:moveTo>
                    <a:pt x="3" y="1"/>
                  </a:moveTo>
                  <a:cubicBezTo>
                    <a:pt x="2" y="5"/>
                    <a:pt x="0" y="11"/>
                    <a:pt x="3" y="16"/>
                  </a:cubicBezTo>
                  <a:cubicBezTo>
                    <a:pt x="4" y="18"/>
                    <a:pt x="6" y="20"/>
                    <a:pt x="6" y="23"/>
                  </a:cubicBezTo>
                  <a:cubicBezTo>
                    <a:pt x="6" y="25"/>
                    <a:pt x="6" y="26"/>
                    <a:pt x="6" y="28"/>
                  </a:cubicBezTo>
                  <a:cubicBezTo>
                    <a:pt x="7" y="28"/>
                    <a:pt x="8" y="27"/>
                    <a:pt x="9" y="27"/>
                  </a:cubicBezTo>
                  <a:cubicBezTo>
                    <a:pt x="8" y="24"/>
                    <a:pt x="8" y="19"/>
                    <a:pt x="6" y="14"/>
                  </a:cubicBezTo>
                  <a:cubicBezTo>
                    <a:pt x="4" y="7"/>
                    <a:pt x="6" y="0"/>
                    <a:pt x="6" y="0"/>
                  </a:cubicBezTo>
                  <a:cubicBezTo>
                    <a:pt x="5" y="0"/>
                    <a:pt x="4" y="0"/>
                    <a:pt x="3" y="0"/>
                  </a:cubicBezTo>
                  <a:lnTo>
                    <a:pt x="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3" name="Freeform 1609">
              <a:extLst>
                <a:ext uri="{FF2B5EF4-FFF2-40B4-BE49-F238E27FC236}">
                  <a16:creationId xmlns:a16="http://schemas.microsoft.com/office/drawing/2014/main" id="{D17DEB5C-1962-4F0B-B719-327F91E1CE46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0362" y="811308"/>
              <a:ext cx="168883" cy="39406"/>
            </a:xfrm>
            <a:custGeom>
              <a:avLst/>
              <a:gdLst>
                <a:gd name="T0" fmla="*/ 0 w 25"/>
                <a:gd name="T1" fmla="*/ 5 h 6"/>
                <a:gd name="T2" fmla="*/ 20 w 25"/>
                <a:gd name="T3" fmla="*/ 1 h 6"/>
                <a:gd name="T4" fmla="*/ 23 w 25"/>
                <a:gd name="T5" fmla="*/ 6 h 6"/>
                <a:gd name="T6" fmla="*/ 25 w 25"/>
                <a:gd name="T7" fmla="*/ 5 h 6"/>
                <a:gd name="T8" fmla="*/ 22 w 25"/>
                <a:gd name="T9" fmla="*/ 0 h 6"/>
                <a:gd name="T10" fmla="*/ 3 w 25"/>
                <a:gd name="T11" fmla="*/ 2 h 6"/>
                <a:gd name="T12" fmla="*/ 0 w 25"/>
                <a:gd name="T13" fmla="*/ 3 h 6"/>
                <a:gd name="T14" fmla="*/ 0 w 25"/>
                <a:gd name="T15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" h="6">
                  <a:moveTo>
                    <a:pt x="0" y="5"/>
                  </a:moveTo>
                  <a:cubicBezTo>
                    <a:pt x="6" y="2"/>
                    <a:pt x="15" y="2"/>
                    <a:pt x="20" y="1"/>
                  </a:cubicBezTo>
                  <a:cubicBezTo>
                    <a:pt x="22" y="1"/>
                    <a:pt x="23" y="4"/>
                    <a:pt x="23" y="6"/>
                  </a:cubicBezTo>
                  <a:cubicBezTo>
                    <a:pt x="24" y="6"/>
                    <a:pt x="24" y="5"/>
                    <a:pt x="25" y="5"/>
                  </a:cubicBezTo>
                  <a:cubicBezTo>
                    <a:pt x="25" y="5"/>
                    <a:pt x="23" y="0"/>
                    <a:pt x="22" y="0"/>
                  </a:cubicBezTo>
                  <a:cubicBezTo>
                    <a:pt x="21" y="0"/>
                    <a:pt x="12" y="0"/>
                    <a:pt x="3" y="2"/>
                  </a:cubicBezTo>
                  <a:cubicBezTo>
                    <a:pt x="3" y="2"/>
                    <a:pt x="1" y="2"/>
                    <a:pt x="0" y="3"/>
                  </a:cubicBezTo>
                  <a:cubicBezTo>
                    <a:pt x="0" y="4"/>
                    <a:pt x="0" y="4"/>
                    <a:pt x="0" y="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" name="Freeform 1610">
              <a:extLst>
                <a:ext uri="{FF2B5EF4-FFF2-40B4-BE49-F238E27FC236}">
                  <a16:creationId xmlns:a16="http://schemas.microsoft.com/office/drawing/2014/main" id="{570D8DAF-8F44-4DC1-9EE5-4DB52BD5DE18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9544" y="805679"/>
              <a:ext cx="64739" cy="45036"/>
            </a:xfrm>
            <a:custGeom>
              <a:avLst/>
              <a:gdLst>
                <a:gd name="T0" fmla="*/ 0 w 10"/>
                <a:gd name="T1" fmla="*/ 1 h 7"/>
                <a:gd name="T2" fmla="*/ 10 w 10"/>
                <a:gd name="T3" fmla="*/ 2 h 7"/>
                <a:gd name="T4" fmla="*/ 9 w 10"/>
                <a:gd name="T5" fmla="*/ 5 h 7"/>
                <a:gd name="T6" fmla="*/ 3 w 10"/>
                <a:gd name="T7" fmla="*/ 6 h 7"/>
                <a:gd name="T8" fmla="*/ 0 w 10"/>
                <a:gd name="T9" fmla="*/ 1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7">
                  <a:moveTo>
                    <a:pt x="0" y="1"/>
                  </a:moveTo>
                  <a:cubicBezTo>
                    <a:pt x="0" y="1"/>
                    <a:pt x="7" y="0"/>
                    <a:pt x="10" y="2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5" y="7"/>
                    <a:pt x="3" y="6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DFB2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7" name="Rectangle 1611">
              <a:extLst>
                <a:ext uri="{FF2B5EF4-FFF2-40B4-BE49-F238E27FC236}">
                  <a16:creationId xmlns:a16="http://schemas.microsoft.com/office/drawing/2014/main" id="{AD06F6A4-A45D-4FBC-B95F-F5D67122E0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1990" y="631166"/>
              <a:ext cx="78812" cy="19702"/>
            </a:xfrm>
            <a:prstGeom prst="rect">
              <a:avLst/>
            </a:prstGeom>
            <a:solidFill>
              <a:srgbClr val="C5CE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9" name="Freeform 1613">
              <a:extLst>
                <a:ext uri="{FF2B5EF4-FFF2-40B4-BE49-F238E27FC236}">
                  <a16:creationId xmlns:a16="http://schemas.microsoft.com/office/drawing/2014/main" id="{D711B959-8CED-48E1-BD27-B62A95A117E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91395" y="631166"/>
              <a:ext cx="47851" cy="19702"/>
            </a:xfrm>
            <a:custGeom>
              <a:avLst/>
              <a:gdLst>
                <a:gd name="T0" fmla="*/ 0 w 7"/>
                <a:gd name="T1" fmla="*/ 0 h 3"/>
                <a:gd name="T2" fmla="*/ 2 w 7"/>
                <a:gd name="T3" fmla="*/ 3 h 3"/>
                <a:gd name="T4" fmla="*/ 7 w 7"/>
                <a:gd name="T5" fmla="*/ 3 h 3"/>
                <a:gd name="T6" fmla="*/ 7 w 7"/>
                <a:gd name="T7" fmla="*/ 0 h 3"/>
                <a:gd name="T8" fmla="*/ 0 w 7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3">
                  <a:moveTo>
                    <a:pt x="0" y="0"/>
                  </a:moveTo>
                  <a:cubicBezTo>
                    <a:pt x="0" y="0"/>
                    <a:pt x="3" y="2"/>
                    <a:pt x="2" y="3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6" y="0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E5EA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1" name="Freeform 1614">
              <a:extLst>
                <a:ext uri="{FF2B5EF4-FFF2-40B4-BE49-F238E27FC236}">
                  <a16:creationId xmlns:a16="http://schemas.microsoft.com/office/drawing/2014/main" id="{9CB661DD-AB71-4600-9D0B-68EDE3180A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5765" y="650870"/>
              <a:ext cx="19704" cy="14073"/>
            </a:xfrm>
            <a:custGeom>
              <a:avLst/>
              <a:gdLst>
                <a:gd name="T0" fmla="*/ 0 w 7"/>
                <a:gd name="T1" fmla="*/ 0 h 5"/>
                <a:gd name="T2" fmla="*/ 7 w 7"/>
                <a:gd name="T3" fmla="*/ 0 h 5"/>
                <a:gd name="T4" fmla="*/ 4 w 7"/>
                <a:gd name="T5" fmla="*/ 5 h 5"/>
                <a:gd name="T6" fmla="*/ 0 w 7"/>
                <a:gd name="T7" fmla="*/ 5 h 5"/>
                <a:gd name="T8" fmla="*/ 0 w 7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5">
                  <a:moveTo>
                    <a:pt x="0" y="0"/>
                  </a:moveTo>
                  <a:lnTo>
                    <a:pt x="7" y="0"/>
                  </a:lnTo>
                  <a:lnTo>
                    <a:pt x="4" y="5"/>
                  </a:lnTo>
                  <a:lnTo>
                    <a:pt x="0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3" name="Freeform 1615">
              <a:extLst>
                <a:ext uri="{FF2B5EF4-FFF2-40B4-BE49-F238E27FC236}">
                  <a16:creationId xmlns:a16="http://schemas.microsoft.com/office/drawing/2014/main" id="{D77BAA93-F12A-4114-AE8C-38D8A47ABE68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7322" y="636795"/>
              <a:ext cx="28147" cy="14073"/>
            </a:xfrm>
            <a:custGeom>
              <a:avLst/>
              <a:gdLst>
                <a:gd name="T0" fmla="*/ 4 w 4"/>
                <a:gd name="T1" fmla="*/ 2 h 2"/>
                <a:gd name="T2" fmla="*/ 4 w 4"/>
                <a:gd name="T3" fmla="*/ 0 h 2"/>
                <a:gd name="T4" fmla="*/ 1 w 4"/>
                <a:gd name="T5" fmla="*/ 0 h 2"/>
                <a:gd name="T6" fmla="*/ 1 w 4"/>
                <a:gd name="T7" fmla="*/ 2 h 2"/>
                <a:gd name="T8" fmla="*/ 4 w 4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2">
                  <a:moveTo>
                    <a:pt x="4" y="2"/>
                  </a:moveTo>
                  <a:cubicBezTo>
                    <a:pt x="4" y="2"/>
                    <a:pt x="4" y="1"/>
                    <a:pt x="4" y="0"/>
                  </a:cubicBezTo>
                  <a:cubicBezTo>
                    <a:pt x="3" y="0"/>
                    <a:pt x="1" y="0"/>
                    <a:pt x="1" y="0"/>
                  </a:cubicBezTo>
                  <a:cubicBezTo>
                    <a:pt x="1" y="1"/>
                    <a:pt x="0" y="2"/>
                    <a:pt x="1" y="2"/>
                  </a:cubicBezTo>
                  <a:cubicBezTo>
                    <a:pt x="1" y="2"/>
                    <a:pt x="4" y="2"/>
                    <a:pt x="4" y="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5" name="Freeform 1616">
              <a:extLst>
                <a:ext uri="{FF2B5EF4-FFF2-40B4-BE49-F238E27FC236}">
                  <a16:creationId xmlns:a16="http://schemas.microsoft.com/office/drawing/2014/main" id="{1611050C-5B00-471D-BD65-26777C7535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64943"/>
              <a:ext cx="39406" cy="132291"/>
            </a:xfrm>
            <a:custGeom>
              <a:avLst/>
              <a:gdLst>
                <a:gd name="T0" fmla="*/ 14 w 14"/>
                <a:gd name="T1" fmla="*/ 47 h 47"/>
                <a:gd name="T2" fmla="*/ 0 w 14"/>
                <a:gd name="T3" fmla="*/ 47 h 47"/>
                <a:gd name="T4" fmla="*/ 5 w 14"/>
                <a:gd name="T5" fmla="*/ 0 h 47"/>
                <a:gd name="T6" fmla="*/ 9 w 14"/>
                <a:gd name="T7" fmla="*/ 0 h 47"/>
                <a:gd name="T8" fmla="*/ 14 w 14"/>
                <a:gd name="T9" fmla="*/ 4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47">
                  <a:moveTo>
                    <a:pt x="14" y="47"/>
                  </a:moveTo>
                  <a:lnTo>
                    <a:pt x="0" y="47"/>
                  </a:lnTo>
                  <a:lnTo>
                    <a:pt x="5" y="0"/>
                  </a:lnTo>
                  <a:lnTo>
                    <a:pt x="9" y="0"/>
                  </a:lnTo>
                  <a:lnTo>
                    <a:pt x="14" y="4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7" name="Freeform 1617">
              <a:extLst>
                <a:ext uri="{FF2B5EF4-FFF2-40B4-BE49-F238E27FC236}">
                  <a16:creationId xmlns:a16="http://schemas.microsoft.com/office/drawing/2014/main" id="{12D65836-9EC3-4E76-AA45-FE9D1291E3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97235"/>
              <a:ext cx="39406" cy="14073"/>
            </a:xfrm>
            <a:custGeom>
              <a:avLst/>
              <a:gdLst>
                <a:gd name="T0" fmla="*/ 2 w 14"/>
                <a:gd name="T1" fmla="*/ 5 h 5"/>
                <a:gd name="T2" fmla="*/ 0 w 14"/>
                <a:gd name="T3" fmla="*/ 0 h 5"/>
                <a:gd name="T4" fmla="*/ 14 w 14"/>
                <a:gd name="T5" fmla="*/ 0 h 5"/>
                <a:gd name="T6" fmla="*/ 12 w 14"/>
                <a:gd name="T7" fmla="*/ 5 h 5"/>
                <a:gd name="T8" fmla="*/ 2 w 14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5">
                  <a:moveTo>
                    <a:pt x="2" y="5"/>
                  </a:moveTo>
                  <a:lnTo>
                    <a:pt x="0" y="0"/>
                  </a:lnTo>
                  <a:lnTo>
                    <a:pt x="14" y="0"/>
                  </a:lnTo>
                  <a:lnTo>
                    <a:pt x="12" y="5"/>
                  </a:lnTo>
                  <a:lnTo>
                    <a:pt x="2" y="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9" name="Freeform 1618">
              <a:extLst>
                <a:ext uri="{FF2B5EF4-FFF2-40B4-BE49-F238E27FC236}">
                  <a16:creationId xmlns:a16="http://schemas.microsoft.com/office/drawing/2014/main" id="{8410B92F-6A34-4A80-95C1-7BC387CE211E}"/>
                </a:ext>
              </a:extLst>
            </p:cNvPr>
            <p:cNvSpPr>
              <a:spLocks/>
            </p:cNvSpPr>
            <p:nvPr/>
          </p:nvSpPr>
          <p:spPr bwMode="auto">
            <a:xfrm>
              <a:off x="6005469" y="636795"/>
              <a:ext cx="5629" cy="14073"/>
            </a:xfrm>
            <a:custGeom>
              <a:avLst/>
              <a:gdLst>
                <a:gd name="T0" fmla="*/ 0 w 1"/>
                <a:gd name="T1" fmla="*/ 2 h 2"/>
                <a:gd name="T2" fmla="*/ 1 w 1"/>
                <a:gd name="T3" fmla="*/ 2 h 2"/>
                <a:gd name="T4" fmla="*/ 0 w 1"/>
                <a:gd name="T5" fmla="*/ 0 h 2"/>
                <a:gd name="T6" fmla="*/ 0 w 1"/>
                <a:gd name="T7" fmla="*/ 0 h 2"/>
                <a:gd name="T8" fmla="*/ 0 w 1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1" name="Freeform 1619">
              <a:extLst>
                <a:ext uri="{FF2B5EF4-FFF2-40B4-BE49-F238E27FC236}">
                  <a16:creationId xmlns:a16="http://schemas.microsoft.com/office/drawing/2014/main" id="{4DC5F6E7-C0CB-4686-9018-475442C2E0F0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7322" y="636795"/>
              <a:ext cx="8445" cy="14073"/>
            </a:xfrm>
            <a:custGeom>
              <a:avLst/>
              <a:gdLst>
                <a:gd name="T0" fmla="*/ 0 w 1"/>
                <a:gd name="T1" fmla="*/ 2 h 2"/>
                <a:gd name="T2" fmla="*/ 0 w 1"/>
                <a:gd name="T3" fmla="*/ 2 h 2"/>
                <a:gd name="T4" fmla="*/ 1 w 1"/>
                <a:gd name="T5" fmla="*/ 0 h 2"/>
                <a:gd name="T6" fmla="*/ 1 w 1"/>
                <a:gd name="T7" fmla="*/ 0 h 2"/>
                <a:gd name="T8" fmla="*/ 0 w 1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3" name="Freeform 1620">
              <a:extLst>
                <a:ext uri="{FF2B5EF4-FFF2-40B4-BE49-F238E27FC236}">
                  <a16:creationId xmlns:a16="http://schemas.microsoft.com/office/drawing/2014/main" id="{78F7B544-628E-45DC-85C9-1B7503E6C5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3545" y="631166"/>
              <a:ext cx="47851" cy="19702"/>
            </a:xfrm>
            <a:custGeom>
              <a:avLst/>
              <a:gdLst>
                <a:gd name="T0" fmla="*/ 7 w 7"/>
                <a:gd name="T1" fmla="*/ 0 h 3"/>
                <a:gd name="T2" fmla="*/ 5 w 7"/>
                <a:gd name="T3" fmla="*/ 3 h 3"/>
                <a:gd name="T4" fmla="*/ 1 w 7"/>
                <a:gd name="T5" fmla="*/ 3 h 3"/>
                <a:gd name="T6" fmla="*/ 1 w 7"/>
                <a:gd name="T7" fmla="*/ 0 h 3"/>
                <a:gd name="T8" fmla="*/ 7 w 7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3">
                  <a:moveTo>
                    <a:pt x="7" y="0"/>
                  </a:moveTo>
                  <a:cubicBezTo>
                    <a:pt x="7" y="0"/>
                    <a:pt x="5" y="1"/>
                    <a:pt x="5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0" y="1"/>
                    <a:pt x="1" y="0"/>
                  </a:cubicBezTo>
                  <a:cubicBezTo>
                    <a:pt x="1" y="0"/>
                    <a:pt x="6" y="0"/>
                    <a:pt x="7" y="0"/>
                  </a:cubicBezTo>
                  <a:close/>
                </a:path>
              </a:pathLst>
            </a:custGeom>
            <a:solidFill>
              <a:srgbClr val="E5EA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5" name="Freeform 1621">
              <a:extLst>
                <a:ext uri="{FF2B5EF4-FFF2-40B4-BE49-F238E27FC236}">
                  <a16:creationId xmlns:a16="http://schemas.microsoft.com/office/drawing/2014/main" id="{9283FDDF-EC13-4823-9486-9E92997A8ED8}"/>
                </a:ext>
              </a:extLst>
            </p:cNvPr>
            <p:cNvSpPr>
              <a:spLocks/>
            </p:cNvSpPr>
            <p:nvPr/>
          </p:nvSpPr>
          <p:spPr bwMode="auto">
            <a:xfrm>
              <a:off x="6118058" y="783161"/>
              <a:ext cx="39406" cy="126662"/>
            </a:xfrm>
            <a:custGeom>
              <a:avLst/>
              <a:gdLst>
                <a:gd name="T0" fmla="*/ 6 w 6"/>
                <a:gd name="T1" fmla="*/ 0 h 19"/>
                <a:gd name="T2" fmla="*/ 4 w 6"/>
                <a:gd name="T3" fmla="*/ 17 h 19"/>
                <a:gd name="T4" fmla="*/ 1 w 6"/>
                <a:gd name="T5" fmla="*/ 11 h 19"/>
                <a:gd name="T6" fmla="*/ 3 w 6"/>
                <a:gd name="T7" fmla="*/ 15 h 19"/>
                <a:gd name="T8" fmla="*/ 4 w 6"/>
                <a:gd name="T9" fmla="*/ 5 h 19"/>
                <a:gd name="T10" fmla="*/ 6 w 6"/>
                <a:gd name="T11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19">
                  <a:moveTo>
                    <a:pt x="6" y="0"/>
                  </a:moveTo>
                  <a:cubicBezTo>
                    <a:pt x="6" y="0"/>
                    <a:pt x="5" y="16"/>
                    <a:pt x="4" y="17"/>
                  </a:cubicBezTo>
                  <a:cubicBezTo>
                    <a:pt x="2" y="18"/>
                    <a:pt x="3" y="13"/>
                    <a:pt x="1" y="11"/>
                  </a:cubicBezTo>
                  <a:cubicBezTo>
                    <a:pt x="0" y="8"/>
                    <a:pt x="2" y="11"/>
                    <a:pt x="3" y="15"/>
                  </a:cubicBezTo>
                  <a:cubicBezTo>
                    <a:pt x="3" y="19"/>
                    <a:pt x="4" y="11"/>
                    <a:pt x="4" y="5"/>
                  </a:cubicBezTo>
                  <a:cubicBezTo>
                    <a:pt x="3" y="0"/>
                    <a:pt x="5" y="12"/>
                    <a:pt x="6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7" name="Freeform 1622">
              <a:extLst>
                <a:ext uri="{FF2B5EF4-FFF2-40B4-BE49-F238E27FC236}">
                  <a16:creationId xmlns:a16="http://schemas.microsoft.com/office/drawing/2014/main" id="{D1C17168-E678-40E1-9103-5B0765B7180F}"/>
                </a:ext>
              </a:extLst>
            </p:cNvPr>
            <p:cNvSpPr>
              <a:spLocks/>
            </p:cNvSpPr>
            <p:nvPr/>
          </p:nvSpPr>
          <p:spPr bwMode="auto">
            <a:xfrm>
              <a:off x="5811252" y="791606"/>
              <a:ext cx="39406" cy="118218"/>
            </a:xfrm>
            <a:custGeom>
              <a:avLst/>
              <a:gdLst>
                <a:gd name="T0" fmla="*/ 0 w 6"/>
                <a:gd name="T1" fmla="*/ 0 h 18"/>
                <a:gd name="T2" fmla="*/ 2 w 6"/>
                <a:gd name="T3" fmla="*/ 16 h 18"/>
                <a:gd name="T4" fmla="*/ 5 w 6"/>
                <a:gd name="T5" fmla="*/ 10 h 18"/>
                <a:gd name="T6" fmla="*/ 3 w 6"/>
                <a:gd name="T7" fmla="*/ 14 h 18"/>
                <a:gd name="T8" fmla="*/ 2 w 6"/>
                <a:gd name="T9" fmla="*/ 5 h 18"/>
                <a:gd name="T10" fmla="*/ 0 w 6"/>
                <a:gd name="T11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18">
                  <a:moveTo>
                    <a:pt x="0" y="0"/>
                  </a:moveTo>
                  <a:cubicBezTo>
                    <a:pt x="0" y="0"/>
                    <a:pt x="1" y="15"/>
                    <a:pt x="2" y="16"/>
                  </a:cubicBezTo>
                  <a:cubicBezTo>
                    <a:pt x="4" y="17"/>
                    <a:pt x="3" y="13"/>
                    <a:pt x="5" y="10"/>
                  </a:cubicBezTo>
                  <a:cubicBezTo>
                    <a:pt x="6" y="8"/>
                    <a:pt x="4" y="10"/>
                    <a:pt x="3" y="14"/>
                  </a:cubicBezTo>
                  <a:cubicBezTo>
                    <a:pt x="3" y="18"/>
                    <a:pt x="2" y="10"/>
                    <a:pt x="2" y="5"/>
                  </a:cubicBezTo>
                  <a:cubicBezTo>
                    <a:pt x="3" y="0"/>
                    <a:pt x="1" y="11"/>
                    <a:pt x="0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9" name="Freeform 1623">
              <a:extLst>
                <a:ext uri="{FF2B5EF4-FFF2-40B4-BE49-F238E27FC236}">
                  <a16:creationId xmlns:a16="http://schemas.microsoft.com/office/drawing/2014/main" id="{10E59D2D-4FDA-49FD-9A9E-1B092B79398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57829"/>
              <a:ext cx="39406" cy="14073"/>
            </a:xfrm>
            <a:custGeom>
              <a:avLst/>
              <a:gdLst>
                <a:gd name="T0" fmla="*/ 0 w 14"/>
                <a:gd name="T1" fmla="*/ 5 h 5"/>
                <a:gd name="T2" fmla="*/ 14 w 14"/>
                <a:gd name="T3" fmla="*/ 0 h 5"/>
                <a:gd name="T4" fmla="*/ 14 w 14"/>
                <a:gd name="T5" fmla="*/ 0 h 5"/>
                <a:gd name="T6" fmla="*/ 0 w 14"/>
                <a:gd name="T7" fmla="*/ 5 h 5"/>
                <a:gd name="T8" fmla="*/ 0 w 14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5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1" name="Freeform 1624">
              <a:extLst>
                <a:ext uri="{FF2B5EF4-FFF2-40B4-BE49-F238E27FC236}">
                  <a16:creationId xmlns:a16="http://schemas.microsoft.com/office/drawing/2014/main" id="{C6FC17E9-35E2-4C0F-9048-DD8359E330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57829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2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3" name="Freeform 1625">
              <a:extLst>
                <a:ext uri="{FF2B5EF4-FFF2-40B4-BE49-F238E27FC236}">
                  <a16:creationId xmlns:a16="http://schemas.microsoft.com/office/drawing/2014/main" id="{0BB37B49-7B30-4A5F-B032-28AA27807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63459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5" name="Freeform 1626">
              <a:extLst>
                <a:ext uri="{FF2B5EF4-FFF2-40B4-BE49-F238E27FC236}">
                  <a16:creationId xmlns:a16="http://schemas.microsoft.com/office/drawing/2014/main" id="{893932E8-0CDF-43D4-8FD5-B85E9966C79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71902"/>
              <a:ext cx="39406" cy="19702"/>
            </a:xfrm>
            <a:custGeom>
              <a:avLst/>
              <a:gdLst>
                <a:gd name="T0" fmla="*/ 0 w 14"/>
                <a:gd name="T1" fmla="*/ 4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4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7" name="Freeform 1627">
              <a:extLst>
                <a:ext uri="{FF2B5EF4-FFF2-40B4-BE49-F238E27FC236}">
                  <a16:creationId xmlns:a16="http://schemas.microsoft.com/office/drawing/2014/main" id="{951F426E-0B83-4C35-983B-4DEDB8F6222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77531"/>
              <a:ext cx="39406" cy="14073"/>
            </a:xfrm>
            <a:custGeom>
              <a:avLst/>
              <a:gdLst>
                <a:gd name="T0" fmla="*/ 0 w 14"/>
                <a:gd name="T1" fmla="*/ 5 h 5"/>
                <a:gd name="T2" fmla="*/ 14 w 14"/>
                <a:gd name="T3" fmla="*/ 0 h 5"/>
                <a:gd name="T4" fmla="*/ 14 w 14"/>
                <a:gd name="T5" fmla="*/ 0 h 5"/>
                <a:gd name="T6" fmla="*/ 0 w 14"/>
                <a:gd name="T7" fmla="*/ 5 h 5"/>
                <a:gd name="T8" fmla="*/ 0 w 14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5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9" name="Freeform 1628">
              <a:extLst>
                <a:ext uri="{FF2B5EF4-FFF2-40B4-BE49-F238E27FC236}">
                  <a16:creationId xmlns:a16="http://schemas.microsoft.com/office/drawing/2014/main" id="{24FCA1B6-58CB-49B8-A89F-ED30532306E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77531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2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1" name="Freeform 1629">
              <a:extLst>
                <a:ext uri="{FF2B5EF4-FFF2-40B4-BE49-F238E27FC236}">
                  <a16:creationId xmlns:a16="http://schemas.microsoft.com/office/drawing/2014/main" id="{B01C94DA-00ED-4DA8-801B-65CB877E17C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83161"/>
              <a:ext cx="39406" cy="22518"/>
            </a:xfrm>
            <a:custGeom>
              <a:avLst/>
              <a:gdLst>
                <a:gd name="T0" fmla="*/ 0 w 14"/>
                <a:gd name="T1" fmla="*/ 5 h 8"/>
                <a:gd name="T2" fmla="*/ 14 w 14"/>
                <a:gd name="T3" fmla="*/ 0 h 8"/>
                <a:gd name="T4" fmla="*/ 14 w 14"/>
                <a:gd name="T5" fmla="*/ 0 h 8"/>
                <a:gd name="T6" fmla="*/ 0 w 14"/>
                <a:gd name="T7" fmla="*/ 8 h 8"/>
                <a:gd name="T8" fmla="*/ 0 w 14"/>
                <a:gd name="T9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8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8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3" name="Freeform 1630">
              <a:extLst>
                <a:ext uri="{FF2B5EF4-FFF2-40B4-BE49-F238E27FC236}">
                  <a16:creationId xmlns:a16="http://schemas.microsoft.com/office/drawing/2014/main" id="{5C292C82-CA06-4EE4-B328-15471C453A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91606"/>
              <a:ext cx="39406" cy="19702"/>
            </a:xfrm>
            <a:custGeom>
              <a:avLst/>
              <a:gdLst>
                <a:gd name="T0" fmla="*/ 0 w 14"/>
                <a:gd name="T1" fmla="*/ 5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5" name="Freeform 1631">
              <a:extLst>
                <a:ext uri="{FF2B5EF4-FFF2-40B4-BE49-F238E27FC236}">
                  <a16:creationId xmlns:a16="http://schemas.microsoft.com/office/drawing/2014/main" id="{1163D7F2-DAF5-4281-85DD-E43B2D3F0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91606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2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7" name="Freeform 1632">
              <a:extLst>
                <a:ext uri="{FF2B5EF4-FFF2-40B4-BE49-F238E27FC236}">
                  <a16:creationId xmlns:a16="http://schemas.microsoft.com/office/drawing/2014/main" id="{C771C5C1-A699-4F30-BAD5-759FDED192E1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97235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9" name="Freeform 1633">
              <a:extLst>
                <a:ext uri="{FF2B5EF4-FFF2-40B4-BE49-F238E27FC236}">
                  <a16:creationId xmlns:a16="http://schemas.microsoft.com/office/drawing/2014/main" id="{12BEF2BB-8F4D-4213-84D1-99462C75111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805679"/>
              <a:ext cx="39406" cy="19702"/>
            </a:xfrm>
            <a:custGeom>
              <a:avLst/>
              <a:gdLst>
                <a:gd name="T0" fmla="*/ 0 w 14"/>
                <a:gd name="T1" fmla="*/ 4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4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1" name="Freeform 1634">
              <a:extLst>
                <a:ext uri="{FF2B5EF4-FFF2-40B4-BE49-F238E27FC236}">
                  <a16:creationId xmlns:a16="http://schemas.microsoft.com/office/drawing/2014/main" id="{C68C8829-29C2-4B75-A17A-A985004133E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805679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2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3" name="Freeform 1635">
              <a:extLst>
                <a:ext uri="{FF2B5EF4-FFF2-40B4-BE49-F238E27FC236}">
                  <a16:creationId xmlns:a16="http://schemas.microsoft.com/office/drawing/2014/main" id="{FE763EA6-1348-4CD0-9E82-9472CCC2D370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811308"/>
              <a:ext cx="39406" cy="19702"/>
            </a:xfrm>
            <a:custGeom>
              <a:avLst/>
              <a:gdLst>
                <a:gd name="T0" fmla="*/ 0 w 14"/>
                <a:gd name="T1" fmla="*/ 5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5" name="Freeform 1636">
              <a:extLst>
                <a:ext uri="{FF2B5EF4-FFF2-40B4-BE49-F238E27FC236}">
                  <a16:creationId xmlns:a16="http://schemas.microsoft.com/office/drawing/2014/main" id="{D83010C5-D180-497E-BF1F-B75AF3417C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09978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7" name="Freeform 1637">
              <a:extLst>
                <a:ext uri="{FF2B5EF4-FFF2-40B4-BE49-F238E27FC236}">
                  <a16:creationId xmlns:a16="http://schemas.microsoft.com/office/drawing/2014/main" id="{FE106D15-93C4-4509-9089-0A2A46993C9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18423"/>
              <a:ext cx="39406" cy="19702"/>
            </a:xfrm>
            <a:custGeom>
              <a:avLst/>
              <a:gdLst>
                <a:gd name="T0" fmla="*/ 0 w 14"/>
                <a:gd name="T1" fmla="*/ 4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4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" name="Freeform 1638">
              <a:extLst>
                <a:ext uri="{FF2B5EF4-FFF2-40B4-BE49-F238E27FC236}">
                  <a16:creationId xmlns:a16="http://schemas.microsoft.com/office/drawing/2014/main" id="{5ADEFE92-C4E9-46A6-B7BE-B99A41D6DB4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24053"/>
              <a:ext cx="39406" cy="14073"/>
            </a:xfrm>
            <a:custGeom>
              <a:avLst/>
              <a:gdLst>
                <a:gd name="T0" fmla="*/ 0 w 14"/>
                <a:gd name="T1" fmla="*/ 5 h 5"/>
                <a:gd name="T2" fmla="*/ 14 w 14"/>
                <a:gd name="T3" fmla="*/ 0 h 5"/>
                <a:gd name="T4" fmla="*/ 14 w 14"/>
                <a:gd name="T5" fmla="*/ 0 h 5"/>
                <a:gd name="T6" fmla="*/ 0 w 14"/>
                <a:gd name="T7" fmla="*/ 5 h 5"/>
                <a:gd name="T8" fmla="*/ 0 w 14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5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1" name="Freeform 1639">
              <a:extLst>
                <a:ext uri="{FF2B5EF4-FFF2-40B4-BE49-F238E27FC236}">
                  <a16:creationId xmlns:a16="http://schemas.microsoft.com/office/drawing/2014/main" id="{54594B0F-CD3F-4802-85A6-1722498ADC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24053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2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3" name="Freeform 1640">
              <a:extLst>
                <a:ext uri="{FF2B5EF4-FFF2-40B4-BE49-F238E27FC236}">
                  <a16:creationId xmlns:a16="http://schemas.microsoft.com/office/drawing/2014/main" id="{5FC6F957-0FD2-4CC8-94AB-3B5D65353C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29682"/>
              <a:ext cx="39406" cy="22518"/>
            </a:xfrm>
            <a:custGeom>
              <a:avLst/>
              <a:gdLst>
                <a:gd name="T0" fmla="*/ 0 w 14"/>
                <a:gd name="T1" fmla="*/ 5 h 8"/>
                <a:gd name="T2" fmla="*/ 14 w 14"/>
                <a:gd name="T3" fmla="*/ 0 h 8"/>
                <a:gd name="T4" fmla="*/ 14 w 14"/>
                <a:gd name="T5" fmla="*/ 0 h 8"/>
                <a:gd name="T6" fmla="*/ 0 w 14"/>
                <a:gd name="T7" fmla="*/ 8 h 8"/>
                <a:gd name="T8" fmla="*/ 0 w 14"/>
                <a:gd name="T9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8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8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5" name="Freeform 1641">
              <a:extLst>
                <a:ext uri="{FF2B5EF4-FFF2-40B4-BE49-F238E27FC236}">
                  <a16:creationId xmlns:a16="http://schemas.microsoft.com/office/drawing/2014/main" id="{4828CB8B-9517-4DD2-ACF4-543ADA3F65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38125"/>
              <a:ext cx="39406" cy="19702"/>
            </a:xfrm>
            <a:custGeom>
              <a:avLst/>
              <a:gdLst>
                <a:gd name="T0" fmla="*/ 0 w 14"/>
                <a:gd name="T1" fmla="*/ 5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7" name="Freeform 1642">
              <a:extLst>
                <a:ext uri="{FF2B5EF4-FFF2-40B4-BE49-F238E27FC236}">
                  <a16:creationId xmlns:a16="http://schemas.microsoft.com/office/drawing/2014/main" id="{CD3CDF09-86C6-4B12-B85A-3CDEB8EA686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38125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2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9" name="Freeform 1643">
              <a:extLst>
                <a:ext uri="{FF2B5EF4-FFF2-40B4-BE49-F238E27FC236}">
                  <a16:creationId xmlns:a16="http://schemas.microsoft.com/office/drawing/2014/main" id="{F191CBE6-D48F-4EEE-9EBE-86E289F34C9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43755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1" name="Freeform 1644">
              <a:extLst>
                <a:ext uri="{FF2B5EF4-FFF2-40B4-BE49-F238E27FC236}">
                  <a16:creationId xmlns:a16="http://schemas.microsoft.com/office/drawing/2014/main" id="{8DCC7DF3-05D4-46E4-82A4-7C3C4B3C4A2A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52200"/>
              <a:ext cx="39406" cy="19702"/>
            </a:xfrm>
            <a:custGeom>
              <a:avLst/>
              <a:gdLst>
                <a:gd name="T0" fmla="*/ 0 w 14"/>
                <a:gd name="T1" fmla="*/ 4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4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3" name="Freeform 1645">
              <a:extLst>
                <a:ext uri="{FF2B5EF4-FFF2-40B4-BE49-F238E27FC236}">
                  <a16:creationId xmlns:a16="http://schemas.microsoft.com/office/drawing/2014/main" id="{22772597-F832-4E3E-8E62-681FB92E78A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70572"/>
              <a:ext cx="39406" cy="14073"/>
            </a:xfrm>
            <a:custGeom>
              <a:avLst/>
              <a:gdLst>
                <a:gd name="T0" fmla="*/ 0 w 14"/>
                <a:gd name="T1" fmla="*/ 5 h 5"/>
                <a:gd name="T2" fmla="*/ 14 w 14"/>
                <a:gd name="T3" fmla="*/ 0 h 5"/>
                <a:gd name="T4" fmla="*/ 14 w 14"/>
                <a:gd name="T5" fmla="*/ 0 h 5"/>
                <a:gd name="T6" fmla="*/ 0 w 14"/>
                <a:gd name="T7" fmla="*/ 5 h 5"/>
                <a:gd name="T8" fmla="*/ 0 w 14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5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5" name="Freeform 1646">
              <a:extLst>
                <a:ext uri="{FF2B5EF4-FFF2-40B4-BE49-F238E27FC236}">
                  <a16:creationId xmlns:a16="http://schemas.microsoft.com/office/drawing/2014/main" id="{A0E4F2AF-BE0D-423B-A3E6-9A232B0F4B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70572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2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7" name="Freeform 1647">
              <a:extLst>
                <a:ext uri="{FF2B5EF4-FFF2-40B4-BE49-F238E27FC236}">
                  <a16:creationId xmlns:a16="http://schemas.microsoft.com/office/drawing/2014/main" id="{628ED8D3-2B19-416C-8F2E-5A01851B5E9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76201"/>
              <a:ext cx="39406" cy="22518"/>
            </a:xfrm>
            <a:custGeom>
              <a:avLst/>
              <a:gdLst>
                <a:gd name="T0" fmla="*/ 0 w 14"/>
                <a:gd name="T1" fmla="*/ 5 h 8"/>
                <a:gd name="T2" fmla="*/ 14 w 14"/>
                <a:gd name="T3" fmla="*/ 0 h 8"/>
                <a:gd name="T4" fmla="*/ 14 w 14"/>
                <a:gd name="T5" fmla="*/ 0 h 8"/>
                <a:gd name="T6" fmla="*/ 0 w 14"/>
                <a:gd name="T7" fmla="*/ 8 h 8"/>
                <a:gd name="T8" fmla="*/ 0 w 14"/>
                <a:gd name="T9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8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8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9" name="Freeform 1648">
              <a:extLst>
                <a:ext uri="{FF2B5EF4-FFF2-40B4-BE49-F238E27FC236}">
                  <a16:creationId xmlns:a16="http://schemas.microsoft.com/office/drawing/2014/main" id="{78FB4473-525B-4035-A9E7-E0AAE4185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84647"/>
              <a:ext cx="39406" cy="19702"/>
            </a:xfrm>
            <a:custGeom>
              <a:avLst/>
              <a:gdLst>
                <a:gd name="T0" fmla="*/ 0 w 14"/>
                <a:gd name="T1" fmla="*/ 5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1" name="Freeform 1649">
              <a:extLst>
                <a:ext uri="{FF2B5EF4-FFF2-40B4-BE49-F238E27FC236}">
                  <a16:creationId xmlns:a16="http://schemas.microsoft.com/office/drawing/2014/main" id="{1690AD27-AC13-48ED-A7FF-036C325C99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84647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2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3" name="Freeform 1650">
              <a:extLst>
                <a:ext uri="{FF2B5EF4-FFF2-40B4-BE49-F238E27FC236}">
                  <a16:creationId xmlns:a16="http://schemas.microsoft.com/office/drawing/2014/main" id="{604E0EBA-3FFD-4956-8044-F9AE44ABE1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90276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5" name="Freeform 1651">
              <a:extLst>
                <a:ext uri="{FF2B5EF4-FFF2-40B4-BE49-F238E27FC236}">
                  <a16:creationId xmlns:a16="http://schemas.microsoft.com/office/drawing/2014/main" id="{88CA8CA2-AA41-44E7-BBB0-D45D4148BEF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98719"/>
              <a:ext cx="39406" cy="19702"/>
            </a:xfrm>
            <a:custGeom>
              <a:avLst/>
              <a:gdLst>
                <a:gd name="T0" fmla="*/ 0 w 14"/>
                <a:gd name="T1" fmla="*/ 4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4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7" name="Freeform 1652">
              <a:extLst>
                <a:ext uri="{FF2B5EF4-FFF2-40B4-BE49-F238E27FC236}">
                  <a16:creationId xmlns:a16="http://schemas.microsoft.com/office/drawing/2014/main" id="{4C7717D4-D363-4896-8AAC-E38BAF048C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04349"/>
              <a:ext cx="39406" cy="14073"/>
            </a:xfrm>
            <a:custGeom>
              <a:avLst/>
              <a:gdLst>
                <a:gd name="T0" fmla="*/ 0 w 14"/>
                <a:gd name="T1" fmla="*/ 5 h 5"/>
                <a:gd name="T2" fmla="*/ 14 w 14"/>
                <a:gd name="T3" fmla="*/ 0 h 5"/>
                <a:gd name="T4" fmla="*/ 14 w 14"/>
                <a:gd name="T5" fmla="*/ 0 h 5"/>
                <a:gd name="T6" fmla="*/ 0 w 14"/>
                <a:gd name="T7" fmla="*/ 5 h 5"/>
                <a:gd name="T8" fmla="*/ 0 w 14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5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9" name="Freeform 1653">
              <a:extLst>
                <a:ext uri="{FF2B5EF4-FFF2-40B4-BE49-F238E27FC236}">
                  <a16:creationId xmlns:a16="http://schemas.microsoft.com/office/drawing/2014/main" id="{B589FC56-3A45-426C-9F2C-8A34D980AD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04349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2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1" name="Freeform 1654">
              <a:extLst>
                <a:ext uri="{FF2B5EF4-FFF2-40B4-BE49-F238E27FC236}">
                  <a16:creationId xmlns:a16="http://schemas.microsoft.com/office/drawing/2014/main" id="{087B52AB-EC27-4DB3-826C-FB241CFCEF9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25536"/>
              <a:ext cx="39406" cy="19702"/>
            </a:xfrm>
            <a:custGeom>
              <a:avLst/>
              <a:gdLst>
                <a:gd name="T0" fmla="*/ 0 w 14"/>
                <a:gd name="T1" fmla="*/ 4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4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3" name="Freeform 1655">
              <a:extLst>
                <a:ext uri="{FF2B5EF4-FFF2-40B4-BE49-F238E27FC236}">
                  <a16:creationId xmlns:a16="http://schemas.microsoft.com/office/drawing/2014/main" id="{D0C15A53-20A3-498C-A4E0-00B4E6486E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31166"/>
              <a:ext cx="39406" cy="19702"/>
            </a:xfrm>
            <a:custGeom>
              <a:avLst/>
              <a:gdLst>
                <a:gd name="T0" fmla="*/ 0 w 14"/>
                <a:gd name="T1" fmla="*/ 5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5" name="Freeform 1656">
              <a:extLst>
                <a:ext uri="{FF2B5EF4-FFF2-40B4-BE49-F238E27FC236}">
                  <a16:creationId xmlns:a16="http://schemas.microsoft.com/office/drawing/2014/main" id="{F1778A12-19B7-4C05-A4A2-FEDB6791E0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31166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2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7" name="Freeform 1657">
              <a:extLst>
                <a:ext uri="{FF2B5EF4-FFF2-40B4-BE49-F238E27FC236}">
                  <a16:creationId xmlns:a16="http://schemas.microsoft.com/office/drawing/2014/main" id="{BF8DF9C9-A281-4574-BDE8-4A494C4204C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36795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9" name="Freeform 1658">
              <a:extLst>
                <a:ext uri="{FF2B5EF4-FFF2-40B4-BE49-F238E27FC236}">
                  <a16:creationId xmlns:a16="http://schemas.microsoft.com/office/drawing/2014/main" id="{1BD0945C-7658-48CF-B91E-F677C9DC087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45240"/>
              <a:ext cx="39406" cy="19702"/>
            </a:xfrm>
            <a:custGeom>
              <a:avLst/>
              <a:gdLst>
                <a:gd name="T0" fmla="*/ 0 w 14"/>
                <a:gd name="T1" fmla="*/ 4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4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1" name="Freeform 1659">
              <a:extLst>
                <a:ext uri="{FF2B5EF4-FFF2-40B4-BE49-F238E27FC236}">
                  <a16:creationId xmlns:a16="http://schemas.microsoft.com/office/drawing/2014/main" id="{7ECF8421-FE35-4F81-B098-081865EE68F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50870"/>
              <a:ext cx="39406" cy="14073"/>
            </a:xfrm>
            <a:custGeom>
              <a:avLst/>
              <a:gdLst>
                <a:gd name="T0" fmla="*/ 0 w 14"/>
                <a:gd name="T1" fmla="*/ 5 h 5"/>
                <a:gd name="T2" fmla="*/ 14 w 14"/>
                <a:gd name="T3" fmla="*/ 0 h 5"/>
                <a:gd name="T4" fmla="*/ 14 w 14"/>
                <a:gd name="T5" fmla="*/ 0 h 5"/>
                <a:gd name="T6" fmla="*/ 0 w 14"/>
                <a:gd name="T7" fmla="*/ 5 h 5"/>
                <a:gd name="T8" fmla="*/ 0 w 14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5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3" name="Freeform 1660">
              <a:extLst>
                <a:ext uri="{FF2B5EF4-FFF2-40B4-BE49-F238E27FC236}">
                  <a16:creationId xmlns:a16="http://schemas.microsoft.com/office/drawing/2014/main" id="{82DB3B86-C02B-40FC-BA2C-DAC1491C5A1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50870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2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5" name="Freeform 1661">
              <a:extLst>
                <a:ext uri="{FF2B5EF4-FFF2-40B4-BE49-F238E27FC236}">
                  <a16:creationId xmlns:a16="http://schemas.microsoft.com/office/drawing/2014/main" id="{CC220CDD-89F1-463C-AA5C-2AC67DD0335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56499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7" name="Freeform 1662">
              <a:extLst>
                <a:ext uri="{FF2B5EF4-FFF2-40B4-BE49-F238E27FC236}">
                  <a16:creationId xmlns:a16="http://schemas.microsoft.com/office/drawing/2014/main" id="{E4220331-C559-4F4B-A813-898A034590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64943"/>
              <a:ext cx="39406" cy="19702"/>
            </a:xfrm>
            <a:custGeom>
              <a:avLst/>
              <a:gdLst>
                <a:gd name="T0" fmla="*/ 0 w 14"/>
                <a:gd name="T1" fmla="*/ 4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4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9" name="Freeform 1663">
              <a:extLst>
                <a:ext uri="{FF2B5EF4-FFF2-40B4-BE49-F238E27FC236}">
                  <a16:creationId xmlns:a16="http://schemas.microsoft.com/office/drawing/2014/main" id="{C7832132-0272-42EC-9511-1C91D4C9139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0658" y="296215"/>
              <a:ext cx="295547" cy="261768"/>
            </a:xfrm>
            <a:custGeom>
              <a:avLst/>
              <a:gdLst>
                <a:gd name="T0" fmla="*/ 10 w 44"/>
                <a:gd name="T1" fmla="*/ 22 h 39"/>
                <a:gd name="T2" fmla="*/ 12 w 44"/>
                <a:gd name="T3" fmla="*/ 22 h 39"/>
                <a:gd name="T4" fmla="*/ 12 w 44"/>
                <a:gd name="T5" fmla="*/ 22 h 39"/>
                <a:gd name="T6" fmla="*/ 13 w 44"/>
                <a:gd name="T7" fmla="*/ 23 h 39"/>
                <a:gd name="T8" fmla="*/ 13 w 44"/>
                <a:gd name="T9" fmla="*/ 22 h 39"/>
                <a:gd name="T10" fmla="*/ 15 w 44"/>
                <a:gd name="T11" fmla="*/ 23 h 39"/>
                <a:gd name="T12" fmla="*/ 16 w 44"/>
                <a:gd name="T13" fmla="*/ 22 h 39"/>
                <a:gd name="T14" fmla="*/ 18 w 44"/>
                <a:gd name="T15" fmla="*/ 24 h 39"/>
                <a:gd name="T16" fmla="*/ 19 w 44"/>
                <a:gd name="T17" fmla="*/ 22 h 39"/>
                <a:gd name="T18" fmla="*/ 21 w 44"/>
                <a:gd name="T19" fmla="*/ 23 h 39"/>
                <a:gd name="T20" fmla="*/ 22 w 44"/>
                <a:gd name="T21" fmla="*/ 22 h 39"/>
                <a:gd name="T22" fmla="*/ 23 w 44"/>
                <a:gd name="T23" fmla="*/ 24 h 39"/>
                <a:gd name="T24" fmla="*/ 24 w 44"/>
                <a:gd name="T25" fmla="*/ 22 h 39"/>
                <a:gd name="T26" fmla="*/ 25 w 44"/>
                <a:gd name="T27" fmla="*/ 24 h 39"/>
                <a:gd name="T28" fmla="*/ 27 w 44"/>
                <a:gd name="T29" fmla="*/ 23 h 39"/>
                <a:gd name="T30" fmla="*/ 28 w 44"/>
                <a:gd name="T31" fmla="*/ 23 h 39"/>
                <a:gd name="T32" fmla="*/ 29 w 44"/>
                <a:gd name="T33" fmla="*/ 22 h 39"/>
                <a:gd name="T34" fmla="*/ 30 w 44"/>
                <a:gd name="T35" fmla="*/ 23 h 39"/>
                <a:gd name="T36" fmla="*/ 32 w 44"/>
                <a:gd name="T37" fmla="*/ 22 h 39"/>
                <a:gd name="T38" fmla="*/ 34 w 44"/>
                <a:gd name="T39" fmla="*/ 22 h 39"/>
                <a:gd name="T40" fmla="*/ 38 w 44"/>
                <a:gd name="T41" fmla="*/ 34 h 39"/>
                <a:gd name="T42" fmla="*/ 41 w 44"/>
                <a:gd name="T43" fmla="*/ 29 h 39"/>
                <a:gd name="T44" fmla="*/ 29 w 44"/>
                <a:gd name="T45" fmla="*/ 2 h 39"/>
                <a:gd name="T46" fmla="*/ 19 w 44"/>
                <a:gd name="T47" fmla="*/ 0 h 39"/>
                <a:gd name="T48" fmla="*/ 20 w 44"/>
                <a:gd name="T49" fmla="*/ 1 h 39"/>
                <a:gd name="T50" fmla="*/ 14 w 44"/>
                <a:gd name="T51" fmla="*/ 1 h 39"/>
                <a:gd name="T52" fmla="*/ 15 w 44"/>
                <a:gd name="T53" fmla="*/ 1 h 39"/>
                <a:gd name="T54" fmla="*/ 12 w 44"/>
                <a:gd name="T55" fmla="*/ 2 h 39"/>
                <a:gd name="T56" fmla="*/ 10 w 44"/>
                <a:gd name="T57" fmla="*/ 2 h 39"/>
                <a:gd name="T58" fmla="*/ 7 w 44"/>
                <a:gd name="T59" fmla="*/ 6 h 39"/>
                <a:gd name="T60" fmla="*/ 6 w 44"/>
                <a:gd name="T61" fmla="*/ 6 h 39"/>
                <a:gd name="T62" fmla="*/ 6 w 44"/>
                <a:gd name="T63" fmla="*/ 7 h 39"/>
                <a:gd name="T64" fmla="*/ 0 w 44"/>
                <a:gd name="T65" fmla="*/ 19 h 39"/>
                <a:gd name="T66" fmla="*/ 4 w 44"/>
                <a:gd name="T67" fmla="*/ 35 h 39"/>
                <a:gd name="T68" fmla="*/ 6 w 44"/>
                <a:gd name="T69" fmla="*/ 33 h 39"/>
                <a:gd name="T70" fmla="*/ 10 w 44"/>
                <a:gd name="T71" fmla="*/ 22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44" h="39">
                  <a:moveTo>
                    <a:pt x="10" y="22"/>
                  </a:moveTo>
                  <a:cubicBezTo>
                    <a:pt x="12" y="22"/>
                    <a:pt x="12" y="22"/>
                    <a:pt x="1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22"/>
                    <a:pt x="13" y="24"/>
                    <a:pt x="13" y="23"/>
                  </a:cubicBezTo>
                  <a:cubicBezTo>
                    <a:pt x="13" y="23"/>
                    <a:pt x="13" y="22"/>
                    <a:pt x="13" y="22"/>
                  </a:cubicBezTo>
                  <a:cubicBezTo>
                    <a:pt x="14" y="22"/>
                    <a:pt x="15" y="24"/>
                    <a:pt x="15" y="23"/>
                  </a:cubicBezTo>
                  <a:cubicBezTo>
                    <a:pt x="15" y="23"/>
                    <a:pt x="16" y="22"/>
                    <a:pt x="16" y="22"/>
                  </a:cubicBezTo>
                  <a:cubicBezTo>
                    <a:pt x="16" y="23"/>
                    <a:pt x="18" y="24"/>
                    <a:pt x="18" y="24"/>
                  </a:cubicBezTo>
                  <a:cubicBezTo>
                    <a:pt x="18" y="23"/>
                    <a:pt x="18" y="22"/>
                    <a:pt x="19" y="22"/>
                  </a:cubicBezTo>
                  <a:cubicBezTo>
                    <a:pt x="19" y="23"/>
                    <a:pt x="21" y="24"/>
                    <a:pt x="21" y="23"/>
                  </a:cubicBezTo>
                  <a:cubicBezTo>
                    <a:pt x="21" y="23"/>
                    <a:pt x="21" y="22"/>
                    <a:pt x="22" y="22"/>
                  </a:cubicBezTo>
                  <a:cubicBezTo>
                    <a:pt x="23" y="23"/>
                    <a:pt x="23" y="24"/>
                    <a:pt x="23" y="24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5" y="24"/>
                    <a:pt x="25" y="24"/>
                    <a:pt x="25" y="24"/>
                  </a:cubicBezTo>
                  <a:cubicBezTo>
                    <a:pt x="25" y="24"/>
                    <a:pt x="26" y="23"/>
                    <a:pt x="27" y="23"/>
                  </a:cubicBezTo>
                  <a:cubicBezTo>
                    <a:pt x="27" y="22"/>
                    <a:pt x="28" y="22"/>
                    <a:pt x="28" y="23"/>
                  </a:cubicBezTo>
                  <a:cubicBezTo>
                    <a:pt x="28" y="25"/>
                    <a:pt x="29" y="23"/>
                    <a:pt x="29" y="22"/>
                  </a:cubicBezTo>
                  <a:cubicBezTo>
                    <a:pt x="30" y="21"/>
                    <a:pt x="30" y="23"/>
                    <a:pt x="30" y="23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4" y="22"/>
                    <a:pt x="39" y="31"/>
                    <a:pt x="38" y="34"/>
                  </a:cubicBezTo>
                  <a:cubicBezTo>
                    <a:pt x="37" y="37"/>
                    <a:pt x="39" y="36"/>
                    <a:pt x="41" y="29"/>
                  </a:cubicBezTo>
                  <a:cubicBezTo>
                    <a:pt x="42" y="21"/>
                    <a:pt x="44" y="6"/>
                    <a:pt x="29" y="2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6" y="7"/>
                    <a:pt x="0" y="14"/>
                    <a:pt x="0" y="19"/>
                  </a:cubicBezTo>
                  <a:cubicBezTo>
                    <a:pt x="0" y="24"/>
                    <a:pt x="2" y="31"/>
                    <a:pt x="4" y="35"/>
                  </a:cubicBezTo>
                  <a:cubicBezTo>
                    <a:pt x="7" y="39"/>
                    <a:pt x="6" y="35"/>
                    <a:pt x="6" y="33"/>
                  </a:cubicBezTo>
                  <a:cubicBezTo>
                    <a:pt x="7" y="28"/>
                    <a:pt x="9" y="22"/>
                    <a:pt x="10" y="22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1" name="Freeform 1664">
              <a:extLst>
                <a:ext uri="{FF2B5EF4-FFF2-40B4-BE49-F238E27FC236}">
                  <a16:creationId xmlns:a16="http://schemas.microsoft.com/office/drawing/2014/main" id="{848F4570-F999-47A5-822F-BAF74A216CCE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8806" y="369398"/>
              <a:ext cx="239252" cy="188585"/>
            </a:xfrm>
            <a:custGeom>
              <a:avLst/>
              <a:gdLst>
                <a:gd name="T0" fmla="*/ 34 w 36"/>
                <a:gd name="T1" fmla="*/ 15 h 28"/>
                <a:gd name="T2" fmla="*/ 33 w 36"/>
                <a:gd name="T3" fmla="*/ 13 h 28"/>
                <a:gd name="T4" fmla="*/ 33 w 36"/>
                <a:gd name="T5" fmla="*/ 12 h 28"/>
                <a:gd name="T6" fmla="*/ 32 w 36"/>
                <a:gd name="T7" fmla="*/ 8 h 28"/>
                <a:gd name="T8" fmla="*/ 32 w 36"/>
                <a:gd name="T9" fmla="*/ 2 h 28"/>
                <a:gd name="T10" fmla="*/ 32 w 36"/>
                <a:gd name="T11" fmla="*/ 0 h 28"/>
                <a:gd name="T12" fmla="*/ 24 w 36"/>
                <a:gd name="T13" fmla="*/ 9 h 28"/>
                <a:gd name="T14" fmla="*/ 18 w 36"/>
                <a:gd name="T15" fmla="*/ 4 h 28"/>
                <a:gd name="T16" fmla="*/ 13 w 36"/>
                <a:gd name="T17" fmla="*/ 10 h 28"/>
                <a:gd name="T18" fmla="*/ 7 w 36"/>
                <a:gd name="T19" fmla="*/ 5 h 28"/>
                <a:gd name="T20" fmla="*/ 2 w 36"/>
                <a:gd name="T21" fmla="*/ 10 h 28"/>
                <a:gd name="T22" fmla="*/ 1 w 36"/>
                <a:gd name="T23" fmla="*/ 9 h 28"/>
                <a:gd name="T24" fmla="*/ 1 w 36"/>
                <a:gd name="T25" fmla="*/ 24 h 28"/>
                <a:gd name="T26" fmla="*/ 1 w 36"/>
                <a:gd name="T27" fmla="*/ 25 h 28"/>
                <a:gd name="T28" fmla="*/ 2 w 36"/>
                <a:gd name="T29" fmla="*/ 22 h 28"/>
                <a:gd name="T30" fmla="*/ 6 w 36"/>
                <a:gd name="T31" fmla="*/ 11 h 28"/>
                <a:gd name="T32" fmla="*/ 8 w 36"/>
                <a:gd name="T33" fmla="*/ 11 h 28"/>
                <a:gd name="T34" fmla="*/ 8 w 36"/>
                <a:gd name="T35" fmla="*/ 11 h 28"/>
                <a:gd name="T36" fmla="*/ 9 w 36"/>
                <a:gd name="T37" fmla="*/ 12 h 28"/>
                <a:gd name="T38" fmla="*/ 9 w 36"/>
                <a:gd name="T39" fmla="*/ 11 h 28"/>
                <a:gd name="T40" fmla="*/ 11 w 36"/>
                <a:gd name="T41" fmla="*/ 12 h 28"/>
                <a:gd name="T42" fmla="*/ 12 w 36"/>
                <a:gd name="T43" fmla="*/ 11 h 28"/>
                <a:gd name="T44" fmla="*/ 14 w 36"/>
                <a:gd name="T45" fmla="*/ 13 h 28"/>
                <a:gd name="T46" fmla="*/ 15 w 36"/>
                <a:gd name="T47" fmla="*/ 11 h 28"/>
                <a:gd name="T48" fmla="*/ 17 w 36"/>
                <a:gd name="T49" fmla="*/ 12 h 28"/>
                <a:gd name="T50" fmla="*/ 18 w 36"/>
                <a:gd name="T51" fmla="*/ 11 h 28"/>
                <a:gd name="T52" fmla="*/ 19 w 36"/>
                <a:gd name="T53" fmla="*/ 13 h 28"/>
                <a:gd name="T54" fmla="*/ 20 w 36"/>
                <a:gd name="T55" fmla="*/ 11 h 28"/>
                <a:gd name="T56" fmla="*/ 21 w 36"/>
                <a:gd name="T57" fmla="*/ 13 h 28"/>
                <a:gd name="T58" fmla="*/ 23 w 36"/>
                <a:gd name="T59" fmla="*/ 12 h 28"/>
                <a:gd name="T60" fmla="*/ 24 w 36"/>
                <a:gd name="T61" fmla="*/ 12 h 28"/>
                <a:gd name="T62" fmla="*/ 25 w 36"/>
                <a:gd name="T63" fmla="*/ 11 h 28"/>
                <a:gd name="T64" fmla="*/ 26 w 36"/>
                <a:gd name="T65" fmla="*/ 12 h 28"/>
                <a:gd name="T66" fmla="*/ 28 w 36"/>
                <a:gd name="T67" fmla="*/ 11 h 28"/>
                <a:gd name="T68" fmla="*/ 30 w 36"/>
                <a:gd name="T69" fmla="*/ 11 h 28"/>
                <a:gd name="T70" fmla="*/ 34 w 36"/>
                <a:gd name="T71" fmla="*/ 23 h 28"/>
                <a:gd name="T72" fmla="*/ 36 w 36"/>
                <a:gd name="T73" fmla="*/ 19 h 28"/>
                <a:gd name="T74" fmla="*/ 34 w 36"/>
                <a:gd name="T75" fmla="*/ 15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6" h="28">
                  <a:moveTo>
                    <a:pt x="34" y="15"/>
                  </a:moveTo>
                  <a:cubicBezTo>
                    <a:pt x="34" y="14"/>
                    <a:pt x="34" y="13"/>
                    <a:pt x="33" y="13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3" y="11"/>
                    <a:pt x="32" y="9"/>
                    <a:pt x="32" y="8"/>
                  </a:cubicBezTo>
                  <a:cubicBezTo>
                    <a:pt x="32" y="6"/>
                    <a:pt x="32" y="4"/>
                    <a:pt x="32" y="2"/>
                  </a:cubicBezTo>
                  <a:cubicBezTo>
                    <a:pt x="32" y="1"/>
                    <a:pt x="32" y="1"/>
                    <a:pt x="32" y="0"/>
                  </a:cubicBezTo>
                  <a:cubicBezTo>
                    <a:pt x="31" y="5"/>
                    <a:pt x="28" y="8"/>
                    <a:pt x="24" y="9"/>
                  </a:cubicBezTo>
                  <a:cubicBezTo>
                    <a:pt x="20" y="10"/>
                    <a:pt x="19" y="7"/>
                    <a:pt x="18" y="4"/>
                  </a:cubicBezTo>
                  <a:cubicBezTo>
                    <a:pt x="17" y="7"/>
                    <a:pt x="15" y="10"/>
                    <a:pt x="13" y="10"/>
                  </a:cubicBezTo>
                  <a:cubicBezTo>
                    <a:pt x="10" y="10"/>
                    <a:pt x="9" y="8"/>
                    <a:pt x="7" y="5"/>
                  </a:cubicBezTo>
                  <a:cubicBezTo>
                    <a:pt x="6" y="8"/>
                    <a:pt x="5" y="10"/>
                    <a:pt x="2" y="10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0" y="13"/>
                    <a:pt x="1" y="18"/>
                    <a:pt x="1" y="24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3" y="28"/>
                    <a:pt x="2" y="24"/>
                    <a:pt x="2" y="22"/>
                  </a:cubicBezTo>
                  <a:cubicBezTo>
                    <a:pt x="3" y="17"/>
                    <a:pt x="5" y="11"/>
                    <a:pt x="6" y="11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1"/>
                    <a:pt x="9" y="13"/>
                    <a:pt x="9" y="12"/>
                  </a:cubicBezTo>
                  <a:cubicBezTo>
                    <a:pt x="9" y="12"/>
                    <a:pt x="9" y="11"/>
                    <a:pt x="9" y="11"/>
                  </a:cubicBezTo>
                  <a:cubicBezTo>
                    <a:pt x="10" y="11"/>
                    <a:pt x="11" y="13"/>
                    <a:pt x="11" y="12"/>
                  </a:cubicBezTo>
                  <a:cubicBezTo>
                    <a:pt x="11" y="12"/>
                    <a:pt x="12" y="11"/>
                    <a:pt x="12" y="11"/>
                  </a:cubicBezTo>
                  <a:cubicBezTo>
                    <a:pt x="12" y="12"/>
                    <a:pt x="14" y="13"/>
                    <a:pt x="14" y="13"/>
                  </a:cubicBezTo>
                  <a:cubicBezTo>
                    <a:pt x="14" y="12"/>
                    <a:pt x="14" y="11"/>
                    <a:pt x="15" y="11"/>
                  </a:cubicBezTo>
                  <a:cubicBezTo>
                    <a:pt x="15" y="12"/>
                    <a:pt x="17" y="13"/>
                    <a:pt x="17" y="12"/>
                  </a:cubicBezTo>
                  <a:cubicBezTo>
                    <a:pt x="17" y="12"/>
                    <a:pt x="17" y="11"/>
                    <a:pt x="18" y="11"/>
                  </a:cubicBezTo>
                  <a:cubicBezTo>
                    <a:pt x="19" y="12"/>
                    <a:pt x="19" y="13"/>
                    <a:pt x="19" y="13"/>
                  </a:cubicBezTo>
                  <a:cubicBezTo>
                    <a:pt x="20" y="11"/>
                    <a:pt x="20" y="11"/>
                    <a:pt x="20" y="11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1" y="13"/>
                    <a:pt x="22" y="12"/>
                    <a:pt x="23" y="12"/>
                  </a:cubicBezTo>
                  <a:cubicBezTo>
                    <a:pt x="23" y="11"/>
                    <a:pt x="24" y="11"/>
                    <a:pt x="24" y="12"/>
                  </a:cubicBezTo>
                  <a:cubicBezTo>
                    <a:pt x="24" y="14"/>
                    <a:pt x="25" y="12"/>
                    <a:pt x="25" y="11"/>
                  </a:cubicBezTo>
                  <a:cubicBezTo>
                    <a:pt x="26" y="10"/>
                    <a:pt x="26" y="12"/>
                    <a:pt x="26" y="12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0" y="11"/>
                    <a:pt x="35" y="20"/>
                    <a:pt x="34" y="23"/>
                  </a:cubicBezTo>
                  <a:cubicBezTo>
                    <a:pt x="33" y="26"/>
                    <a:pt x="35" y="25"/>
                    <a:pt x="36" y="19"/>
                  </a:cubicBezTo>
                  <a:cubicBezTo>
                    <a:pt x="35" y="18"/>
                    <a:pt x="35" y="16"/>
                    <a:pt x="34" y="15"/>
                  </a:cubicBezTo>
                  <a:close/>
                </a:path>
              </a:pathLst>
            </a:custGeom>
            <a:solidFill>
              <a:srgbClr val="1614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3" name="Rectangle 1665">
              <a:extLst>
                <a:ext uri="{FF2B5EF4-FFF2-40B4-BE49-F238E27FC236}">
                  <a16:creationId xmlns:a16="http://schemas.microsoft.com/office/drawing/2014/main" id="{A8740861-34E7-482E-89E2-5576DB737E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66063" y="937971"/>
              <a:ext cx="5629" cy="33777"/>
            </a:xfrm>
            <a:prstGeom prst="rect">
              <a:avLst/>
            </a:prstGeom>
            <a:solidFill>
              <a:srgbClr val="1414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5" name="Rectangle 1666">
              <a:extLst>
                <a:ext uri="{FF2B5EF4-FFF2-40B4-BE49-F238E27FC236}">
                  <a16:creationId xmlns:a16="http://schemas.microsoft.com/office/drawing/2014/main" id="{D3495459-8FB5-46C7-A258-1B592D4CF5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37916" y="937971"/>
              <a:ext cx="5629" cy="33777"/>
            </a:xfrm>
            <a:prstGeom prst="rect">
              <a:avLst/>
            </a:prstGeom>
            <a:solidFill>
              <a:srgbClr val="1414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7" name="Rectangle 1667">
              <a:extLst>
                <a:ext uri="{FF2B5EF4-FFF2-40B4-BE49-F238E27FC236}">
                  <a16:creationId xmlns:a16="http://schemas.microsoft.com/office/drawing/2014/main" id="{99DE6C89-1459-46D3-B33A-5B2F28A6CE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0801" y="937971"/>
              <a:ext cx="8445" cy="33777"/>
            </a:xfrm>
            <a:prstGeom prst="rect">
              <a:avLst/>
            </a:prstGeom>
            <a:solidFill>
              <a:srgbClr val="1414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9" name="Rectangle 1668">
              <a:extLst>
                <a:ext uri="{FF2B5EF4-FFF2-40B4-BE49-F238E27FC236}">
                  <a16:creationId xmlns:a16="http://schemas.microsoft.com/office/drawing/2014/main" id="{B8DEF164-217F-4D05-A2B8-6C6DDF6198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5469" y="937971"/>
              <a:ext cx="5629" cy="33777"/>
            </a:xfrm>
            <a:prstGeom prst="rect">
              <a:avLst/>
            </a:prstGeom>
            <a:solidFill>
              <a:srgbClr val="1414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1FDA2538-8E03-4E84-8429-1E03C4386C4C}"/>
              </a:ext>
            </a:extLst>
          </p:cNvPr>
          <p:cNvSpPr txBox="1"/>
          <p:nvPr/>
        </p:nvSpPr>
        <p:spPr>
          <a:xfrm>
            <a:off x="1051332" y="1375072"/>
            <a:ext cx="10089336" cy="4107856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72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陶瓷电容的</a:t>
            </a:r>
            <a:endParaRPr lang="en-US" altLang="zh-CN" sz="72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15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直流偏压特性</a:t>
            </a:r>
            <a:endParaRPr lang="zh-CN" altLang="en-US" sz="23900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54951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7698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664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3FBE915B-4272-4403-B04C-04ED988FA4B9}"/>
              </a:ext>
            </a:extLst>
          </p:cNvPr>
          <p:cNvSpPr/>
          <p:nvPr/>
        </p:nvSpPr>
        <p:spPr>
          <a:xfrm>
            <a:off x="1846310" y="447499"/>
            <a:ext cx="7466365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什么是陶瓷电容的直流偏压特性？</a:t>
            </a:r>
            <a:endParaRPr lang="en-US" altLang="zh-CN" sz="36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66040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3FBE915B-4272-4403-B04C-04ED988FA4B9}"/>
              </a:ext>
            </a:extLst>
          </p:cNvPr>
          <p:cNvSpPr/>
          <p:nvPr/>
        </p:nvSpPr>
        <p:spPr>
          <a:xfrm>
            <a:off x="1846310" y="447499"/>
            <a:ext cx="7466365" cy="111678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什么是陶瓷电容的直流偏压特性？</a:t>
            </a:r>
            <a:endParaRPr lang="en-US" altLang="zh-CN" sz="36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在电容上加上直流电压，电容实际容量下降。</a:t>
            </a:r>
            <a:endParaRPr lang="en-US" altLang="zh-CN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13060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3FBE915B-4272-4403-B04C-04ED988FA4B9}"/>
              </a:ext>
            </a:extLst>
          </p:cNvPr>
          <p:cNvSpPr/>
          <p:nvPr/>
        </p:nvSpPr>
        <p:spPr>
          <a:xfrm>
            <a:off x="1846310" y="447499"/>
            <a:ext cx="7466365" cy="1670778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什么是陶瓷电容的直流偏压特性？</a:t>
            </a:r>
            <a:endParaRPr lang="en-US" altLang="zh-CN" sz="36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在电容上加上直流电压，电容实际容量下降。</a:t>
            </a:r>
            <a:endParaRPr lang="en-US" altLang="zh-CN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电容的容量标称值是在</a:t>
            </a:r>
            <a:r>
              <a:rPr lang="en-US" altLang="zh-CN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20℃</a:t>
            </a:r>
            <a:r>
              <a:rPr lang="zh-CN" altLang="en-US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1V</a:t>
            </a:r>
            <a:r>
              <a:rPr lang="zh-CN" altLang="en-US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或者</a:t>
            </a:r>
            <a:r>
              <a:rPr lang="en-US" altLang="zh-CN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0.5V</a:t>
            </a:r>
            <a:r>
              <a:rPr lang="zh-CN" altLang="en-US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电压下测试的</a:t>
            </a:r>
            <a:endParaRPr lang="en-US" altLang="zh-CN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90658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3FBE915B-4272-4403-B04C-04ED988FA4B9}"/>
              </a:ext>
            </a:extLst>
          </p:cNvPr>
          <p:cNvSpPr/>
          <p:nvPr/>
        </p:nvSpPr>
        <p:spPr>
          <a:xfrm>
            <a:off x="1846310" y="447499"/>
            <a:ext cx="7466365" cy="1670778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什么是陶瓷电容的直流偏压特性？</a:t>
            </a:r>
            <a:endParaRPr lang="en-US" altLang="zh-CN" sz="36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在电容上加上直流电压，电容实际容量下降。</a:t>
            </a:r>
            <a:endParaRPr lang="en-US" altLang="zh-CN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电容的容量标称值是在</a:t>
            </a:r>
            <a:r>
              <a:rPr lang="en-US" altLang="zh-CN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20℃</a:t>
            </a:r>
            <a:r>
              <a:rPr lang="zh-CN" altLang="en-US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1V</a:t>
            </a:r>
            <a:r>
              <a:rPr lang="zh-CN" altLang="en-US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或者</a:t>
            </a:r>
            <a:r>
              <a:rPr lang="en-US" altLang="zh-CN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0.5V</a:t>
            </a:r>
            <a:r>
              <a:rPr lang="zh-CN" altLang="en-US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电压下测试的</a:t>
            </a:r>
            <a:endParaRPr lang="en-US" altLang="zh-CN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A2C6039-06F0-4AC3-8F46-6F27336F2F71}"/>
              </a:ext>
            </a:extLst>
          </p:cNvPr>
          <p:cNvSpPr txBox="1"/>
          <p:nvPr/>
        </p:nvSpPr>
        <p:spPr>
          <a:xfrm>
            <a:off x="1846309" y="2608305"/>
            <a:ext cx="7057993" cy="910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0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温度影响：上小节讲过</a:t>
            </a:r>
            <a:endParaRPr lang="en-US" altLang="zh-CN" sz="40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40198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3FBE915B-4272-4403-B04C-04ED988FA4B9}"/>
              </a:ext>
            </a:extLst>
          </p:cNvPr>
          <p:cNvSpPr/>
          <p:nvPr/>
        </p:nvSpPr>
        <p:spPr>
          <a:xfrm>
            <a:off x="1846310" y="447499"/>
            <a:ext cx="7466365" cy="1670778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什么是陶瓷电容的直流偏压特性？</a:t>
            </a:r>
            <a:endParaRPr lang="en-US" altLang="zh-CN" sz="36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在电容上加上直流电压，电容实际容量下降。</a:t>
            </a:r>
            <a:endParaRPr lang="en-US" altLang="zh-CN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电容的容量标称值是在</a:t>
            </a:r>
            <a:r>
              <a:rPr lang="en-US" altLang="zh-CN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20℃</a:t>
            </a:r>
            <a:r>
              <a:rPr lang="zh-CN" altLang="en-US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1V</a:t>
            </a:r>
            <a:r>
              <a:rPr lang="zh-CN" altLang="en-US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或者</a:t>
            </a:r>
            <a:r>
              <a:rPr lang="en-US" altLang="zh-CN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0.5V</a:t>
            </a:r>
            <a:r>
              <a:rPr lang="zh-CN" altLang="en-US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电压下测试的</a:t>
            </a:r>
            <a:endParaRPr lang="en-US" altLang="zh-CN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A2C6039-06F0-4AC3-8F46-6F27336F2F71}"/>
              </a:ext>
            </a:extLst>
          </p:cNvPr>
          <p:cNvSpPr txBox="1"/>
          <p:nvPr/>
        </p:nvSpPr>
        <p:spPr>
          <a:xfrm>
            <a:off x="1846309" y="2608305"/>
            <a:ext cx="7057993" cy="1834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0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温度影响：上小节讲过</a:t>
            </a:r>
            <a:endParaRPr lang="en-US" altLang="zh-CN" sz="40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40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电压影响：这节讲</a:t>
            </a:r>
            <a:endParaRPr lang="en-US" altLang="zh-CN" sz="24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7218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471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6591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3FBE915B-4272-4403-B04C-04ED988FA4B9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什么时候需要计算电容容量</a:t>
            </a:r>
            <a:r>
              <a:rPr lang="en-US" altLang="zh-CN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-DCDC</a:t>
            </a:r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纹波</a:t>
            </a:r>
            <a:endParaRPr lang="en-US" altLang="zh-CN" sz="36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377175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3FBE915B-4272-4403-B04C-04ED988FA4B9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什么时候需要计算电容容量</a:t>
            </a:r>
            <a:r>
              <a:rPr lang="en-US" altLang="zh-CN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-DCDC</a:t>
            </a:r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纹波</a:t>
            </a:r>
            <a:endParaRPr lang="en-US" altLang="zh-CN" sz="36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BAAD12E-2CCE-46D5-AA2E-3575B2CB0539}"/>
              </a:ext>
            </a:extLst>
          </p:cNvPr>
          <p:cNvSpPr txBox="1"/>
          <p:nvPr/>
        </p:nvSpPr>
        <p:spPr>
          <a:xfrm>
            <a:off x="1017714" y="1399000"/>
            <a:ext cx="24335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输出纹波公式：</a:t>
            </a:r>
            <a:endParaRPr lang="en-US" altLang="zh-CN" sz="16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549773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3FBE915B-4272-4403-B04C-04ED988FA4B9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什么时候需要计算电容容量</a:t>
            </a:r>
            <a:r>
              <a:rPr lang="en-US" altLang="zh-CN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-DCDC</a:t>
            </a:r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纹波</a:t>
            </a:r>
            <a:endParaRPr lang="en-US" altLang="zh-CN" sz="36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29EE4EAA-244B-4EEB-81E8-D7F1D1685216}"/>
                  </a:ext>
                </a:extLst>
              </p:cNvPr>
              <p:cNvSpPr txBox="1"/>
              <p:nvPr/>
            </p:nvSpPr>
            <p:spPr>
              <a:xfrm>
                <a:off x="635000" y="2011120"/>
                <a:ext cx="10922000" cy="12679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4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zh-CN" altLang="en-US" sz="3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zh-CN" altLang="en-US" sz="3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𝑂𝑈𝑇</m:t>
                          </m:r>
                        </m:sub>
                      </m:sSub>
                      <m:r>
                        <a:rPr lang="zh-CN" altLang="en-US" sz="34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3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3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3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zh-CN" altLang="en-US" sz="3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𝑂𝑈𝑇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en-US" sz="3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3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zh-CN" altLang="en-US" sz="3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den>
                      </m:f>
                      <m:r>
                        <a:rPr lang="zh-CN" altLang="en-US" sz="34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zh-CN" altLang="en-US" sz="3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34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zh-CN" altLang="en-US" sz="3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CN" altLang="en-US" sz="3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3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zh-CN" altLang="en-US" sz="3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𝑂𝑈𝑇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zh-CN" altLang="en-US" sz="3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3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zh-CN" altLang="en-US" sz="3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𝐼𝑁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zh-CN" altLang="en-US" sz="34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zh-CN" altLang="en-US" sz="3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3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3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zh-CN" altLang="en-US" sz="3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𝐸𝑆𝑅</m:t>
                              </m:r>
                            </m:sub>
                          </m:sSub>
                          <m:r>
                            <a:rPr lang="zh-CN" altLang="en-US" sz="34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sz="3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34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34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8×</m:t>
                              </m:r>
                              <m:sSub>
                                <m:sSubPr>
                                  <m:ctrlPr>
                                    <a:rPr lang="zh-CN" altLang="en-US" sz="3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3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zh-CN" altLang="en-US" sz="3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</m:sSub>
                              <m:r>
                                <a:rPr lang="zh-CN" altLang="en-US" sz="34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zh-CN" altLang="en-US" sz="3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3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zh-CN" altLang="en-US" sz="3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𝑂𝑈𝑇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34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29EE4EAA-244B-4EEB-81E8-D7F1D16852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00" y="2011120"/>
                <a:ext cx="10922000" cy="12679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本框 16">
            <a:extLst>
              <a:ext uri="{FF2B5EF4-FFF2-40B4-BE49-F238E27FC236}">
                <a16:creationId xmlns:a16="http://schemas.microsoft.com/office/drawing/2014/main" id="{FBAAD12E-2CCE-46D5-AA2E-3575B2CB0539}"/>
              </a:ext>
            </a:extLst>
          </p:cNvPr>
          <p:cNvSpPr txBox="1"/>
          <p:nvPr/>
        </p:nvSpPr>
        <p:spPr>
          <a:xfrm>
            <a:off x="1017714" y="1399000"/>
            <a:ext cx="24335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输出纹波公式：</a:t>
            </a:r>
            <a:endParaRPr lang="en-US" altLang="zh-CN" sz="16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068751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3FBE915B-4272-4403-B04C-04ED988FA4B9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什么时候需要计算电容容量</a:t>
            </a:r>
            <a:r>
              <a:rPr lang="en-US" altLang="zh-CN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-DCDC</a:t>
            </a:r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纹波</a:t>
            </a:r>
            <a:endParaRPr lang="en-US" altLang="zh-CN" sz="36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29EE4EAA-244B-4EEB-81E8-D7F1D1685216}"/>
                  </a:ext>
                </a:extLst>
              </p:cNvPr>
              <p:cNvSpPr txBox="1"/>
              <p:nvPr/>
            </p:nvSpPr>
            <p:spPr>
              <a:xfrm>
                <a:off x="635000" y="2011120"/>
                <a:ext cx="10922000" cy="12679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4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zh-CN" altLang="en-US" sz="3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zh-CN" altLang="en-US" sz="3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𝑂𝑈𝑇</m:t>
                          </m:r>
                        </m:sub>
                      </m:sSub>
                      <m:r>
                        <a:rPr lang="zh-CN" altLang="en-US" sz="34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3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3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3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zh-CN" altLang="en-US" sz="3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𝑂𝑈𝑇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en-US" sz="3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3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zh-CN" altLang="en-US" sz="3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den>
                      </m:f>
                      <m:r>
                        <a:rPr lang="zh-CN" altLang="en-US" sz="34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zh-CN" altLang="en-US" sz="3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34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zh-CN" altLang="en-US" sz="3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CN" altLang="en-US" sz="3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3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zh-CN" altLang="en-US" sz="3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𝑂𝑈𝑇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zh-CN" altLang="en-US" sz="3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3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zh-CN" altLang="en-US" sz="3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𝐼𝑁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zh-CN" altLang="en-US" sz="34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zh-CN" altLang="en-US" sz="3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3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3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zh-CN" altLang="en-US" sz="3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𝐸𝑆𝑅</m:t>
                              </m:r>
                            </m:sub>
                          </m:sSub>
                          <m:r>
                            <a:rPr lang="zh-CN" altLang="en-US" sz="34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sz="3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34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34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8×</m:t>
                              </m:r>
                              <m:sSub>
                                <m:sSubPr>
                                  <m:ctrlPr>
                                    <a:rPr lang="zh-CN" altLang="en-US" sz="3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3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zh-CN" altLang="en-US" sz="3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</m:sSub>
                              <m:r>
                                <a:rPr lang="zh-CN" altLang="en-US" sz="34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zh-CN" altLang="en-US" sz="3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3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zh-CN" altLang="en-US" sz="3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𝑂𝑈𝑇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34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29EE4EAA-244B-4EEB-81E8-D7F1D16852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00" y="2011120"/>
                <a:ext cx="10922000" cy="12679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本框 16">
            <a:extLst>
              <a:ext uri="{FF2B5EF4-FFF2-40B4-BE49-F238E27FC236}">
                <a16:creationId xmlns:a16="http://schemas.microsoft.com/office/drawing/2014/main" id="{FBAAD12E-2CCE-46D5-AA2E-3575B2CB0539}"/>
              </a:ext>
            </a:extLst>
          </p:cNvPr>
          <p:cNvSpPr txBox="1"/>
          <p:nvPr/>
        </p:nvSpPr>
        <p:spPr>
          <a:xfrm>
            <a:off x="1017714" y="1399000"/>
            <a:ext cx="24335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输出纹波公式：</a:t>
            </a:r>
            <a:endParaRPr lang="en-US" altLang="zh-CN" sz="16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95AF2DB1-CB7F-47C7-81C9-D9119BDF4ED5}"/>
                  </a:ext>
                </a:extLst>
              </p:cNvPr>
              <p:cNvSpPr txBox="1"/>
              <p:nvPr/>
            </p:nvSpPr>
            <p:spPr>
              <a:xfrm>
                <a:off x="1017714" y="3429000"/>
                <a:ext cx="3363786" cy="21267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zh-CN" altLang="en-US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𝑂𝑈𝑇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chemeClr val="bg1"/>
                    </a:solidFill>
                  </a:rPr>
                  <a:t> ：输出滤波电容</a:t>
                </a:r>
                <a:endParaRPr lang="en-US" altLang="zh-CN" dirty="0">
                  <a:solidFill>
                    <a:schemeClr val="bg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zh-CN" altLang="en-US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𝐸𝑆𝑅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chemeClr val="bg1"/>
                    </a:solidFill>
                  </a:rPr>
                  <a:t> ：电容等效串联电阻</a:t>
                </a:r>
                <a:endParaRPr lang="en-US" altLang="zh-CN" dirty="0">
                  <a:solidFill>
                    <a:schemeClr val="bg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zh-CN" altLang="en-US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chemeClr val="bg1"/>
                    </a:solidFill>
                  </a:rPr>
                  <a:t>：      开关频率</a:t>
                </a:r>
                <a:endParaRPr lang="en-US" altLang="zh-CN" dirty="0">
                  <a:solidFill>
                    <a:schemeClr val="bg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zh-CN" altLang="en-US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𝑂𝑈𝑇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chemeClr val="bg1"/>
                    </a:solidFill>
                  </a:rPr>
                  <a:t>： 输出电压</a:t>
                </a:r>
                <a:endParaRPr lang="en-US" altLang="zh-CN" dirty="0">
                  <a:solidFill>
                    <a:schemeClr val="bg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IN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chemeClr val="bg1"/>
                    </a:solidFill>
                  </a:rPr>
                  <a:t>：    输入电压</a:t>
                </a:r>
                <a:endParaRPr lang="en-US" altLang="zh-CN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95AF2DB1-CB7F-47C7-81C9-D9119BDF4E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714" y="3429000"/>
                <a:ext cx="3363786" cy="2126736"/>
              </a:xfrm>
              <a:prstGeom prst="rect">
                <a:avLst/>
              </a:prstGeom>
              <a:blipFill>
                <a:blip r:embed="rId4"/>
                <a:stretch>
                  <a:fillRect l="-543" b="-37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85255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3FBE915B-4272-4403-B04C-04ED988FA4B9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什么时候需要计算电容容量</a:t>
            </a:r>
            <a:r>
              <a:rPr lang="en-US" altLang="zh-CN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-DCDC</a:t>
            </a:r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纹波</a:t>
            </a:r>
            <a:endParaRPr lang="en-US" altLang="zh-CN" sz="36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29EE4EAA-244B-4EEB-81E8-D7F1D1685216}"/>
                  </a:ext>
                </a:extLst>
              </p:cNvPr>
              <p:cNvSpPr txBox="1"/>
              <p:nvPr/>
            </p:nvSpPr>
            <p:spPr>
              <a:xfrm>
                <a:off x="635000" y="2011120"/>
                <a:ext cx="10922000" cy="12679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4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zh-CN" altLang="en-US" sz="3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zh-CN" altLang="en-US" sz="3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𝑂𝑈𝑇</m:t>
                          </m:r>
                        </m:sub>
                      </m:sSub>
                      <m:r>
                        <a:rPr lang="zh-CN" altLang="en-US" sz="34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3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3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3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zh-CN" altLang="en-US" sz="3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𝑂𝑈𝑇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en-US" sz="3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3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zh-CN" altLang="en-US" sz="3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den>
                      </m:f>
                      <m:r>
                        <a:rPr lang="zh-CN" altLang="en-US" sz="34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zh-CN" altLang="en-US" sz="3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34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zh-CN" altLang="en-US" sz="3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CN" altLang="en-US" sz="3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3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zh-CN" altLang="en-US" sz="3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𝑂𝑈𝑇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zh-CN" altLang="en-US" sz="3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3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zh-CN" altLang="en-US" sz="3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𝐼𝑁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zh-CN" altLang="en-US" sz="34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zh-CN" altLang="en-US" sz="3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3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3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zh-CN" altLang="en-US" sz="3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𝐸𝑆𝑅</m:t>
                              </m:r>
                            </m:sub>
                          </m:sSub>
                          <m:r>
                            <a:rPr lang="zh-CN" altLang="en-US" sz="34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sz="3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34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34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8×</m:t>
                              </m:r>
                              <m:sSub>
                                <m:sSubPr>
                                  <m:ctrlPr>
                                    <a:rPr lang="zh-CN" altLang="en-US" sz="3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3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zh-CN" altLang="en-US" sz="3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</m:sSub>
                              <m:r>
                                <a:rPr lang="zh-CN" altLang="en-US" sz="34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zh-CN" altLang="en-US" sz="3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3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zh-CN" altLang="en-US" sz="3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𝑂𝑈𝑇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34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29EE4EAA-244B-4EEB-81E8-D7F1D16852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00" y="2011120"/>
                <a:ext cx="10922000" cy="12679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本框 16">
            <a:extLst>
              <a:ext uri="{FF2B5EF4-FFF2-40B4-BE49-F238E27FC236}">
                <a16:creationId xmlns:a16="http://schemas.microsoft.com/office/drawing/2014/main" id="{FBAAD12E-2CCE-46D5-AA2E-3575B2CB0539}"/>
              </a:ext>
            </a:extLst>
          </p:cNvPr>
          <p:cNvSpPr txBox="1"/>
          <p:nvPr/>
        </p:nvSpPr>
        <p:spPr>
          <a:xfrm>
            <a:off x="1017714" y="1399000"/>
            <a:ext cx="24335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输出纹波公式：</a:t>
            </a:r>
            <a:endParaRPr lang="en-US" altLang="zh-CN" sz="16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95AF2DB1-CB7F-47C7-81C9-D9119BDF4ED5}"/>
                  </a:ext>
                </a:extLst>
              </p:cNvPr>
              <p:cNvSpPr txBox="1"/>
              <p:nvPr/>
            </p:nvSpPr>
            <p:spPr>
              <a:xfrm>
                <a:off x="1017714" y="3429000"/>
                <a:ext cx="3363786" cy="21267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zh-CN" altLang="en-US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𝑂𝑈𝑇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chemeClr val="bg1"/>
                    </a:solidFill>
                  </a:rPr>
                  <a:t> ：输出滤波电容</a:t>
                </a:r>
                <a:endParaRPr lang="en-US" altLang="zh-CN" dirty="0">
                  <a:solidFill>
                    <a:schemeClr val="bg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zh-CN" altLang="en-US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𝐸𝑆𝑅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chemeClr val="bg1"/>
                    </a:solidFill>
                  </a:rPr>
                  <a:t> ：电容等效串联电阻</a:t>
                </a:r>
                <a:endParaRPr lang="en-US" altLang="zh-CN" dirty="0">
                  <a:solidFill>
                    <a:schemeClr val="bg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zh-CN" altLang="en-US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chemeClr val="bg1"/>
                    </a:solidFill>
                  </a:rPr>
                  <a:t>：      开关频率</a:t>
                </a:r>
                <a:endParaRPr lang="en-US" altLang="zh-CN" dirty="0">
                  <a:solidFill>
                    <a:schemeClr val="bg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zh-CN" altLang="en-US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𝑂𝑈𝑇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chemeClr val="bg1"/>
                    </a:solidFill>
                  </a:rPr>
                  <a:t>： 输出电压</a:t>
                </a:r>
                <a:endParaRPr lang="en-US" altLang="zh-CN" dirty="0">
                  <a:solidFill>
                    <a:schemeClr val="bg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IN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chemeClr val="bg1"/>
                    </a:solidFill>
                  </a:rPr>
                  <a:t>：    输入电压</a:t>
                </a:r>
                <a:endParaRPr lang="en-US" altLang="zh-CN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95AF2DB1-CB7F-47C7-81C9-D9119BDF4E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714" y="3429000"/>
                <a:ext cx="3363786" cy="2126736"/>
              </a:xfrm>
              <a:prstGeom prst="rect">
                <a:avLst/>
              </a:prstGeom>
              <a:blipFill>
                <a:blip r:embed="rId4"/>
                <a:stretch>
                  <a:fillRect l="-543" b="-37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C627E3BC-5033-45DC-890A-36699BD26BF3}"/>
                  </a:ext>
                </a:extLst>
              </p:cNvPr>
              <p:cNvSpPr txBox="1"/>
              <p:nvPr/>
            </p:nvSpPr>
            <p:spPr>
              <a:xfrm>
                <a:off x="6431749" y="4305303"/>
                <a:ext cx="309880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360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zh-CN" altLang="en-US" sz="3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𝑂𝑈𝑇</m:t>
                        </m:r>
                      </m:sub>
                    </m:sSub>
                  </m:oMath>
                </a14:m>
                <a:r>
                  <a:rPr lang="zh-CN" altLang="en-US" sz="3600" dirty="0">
                    <a:solidFill>
                      <a:srgbClr val="FFFF00"/>
                    </a:solidFill>
                  </a:rPr>
                  <a:t>取值多少</a:t>
                </a:r>
              </a:p>
            </p:txBody>
          </p:sp>
        </mc:Choice>
        <mc:Fallback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C627E3BC-5033-45DC-890A-36699BD26B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1749" y="4305303"/>
                <a:ext cx="3098800" cy="646331"/>
              </a:xfrm>
              <a:prstGeom prst="rect">
                <a:avLst/>
              </a:prstGeom>
              <a:blipFill>
                <a:blip r:embed="rId5"/>
                <a:stretch>
                  <a:fillRect t="-14151" r="-1969" b="-349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74342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23379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0A0DE58-0D16-4B67-81ED-299160303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6764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0A0DE58-0D16-4B67-81ED-299160303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FE58D069-FB48-4178-B3AE-1BA5FCDFB726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实际测试纹波</a:t>
            </a:r>
            <a:r>
              <a:rPr lang="zh-CN" altLang="en-US" sz="36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＞</a:t>
            </a:r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计算纹波，为什么？</a:t>
            </a:r>
            <a:endParaRPr lang="en-US" altLang="zh-CN" sz="36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357954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0A0DE58-0D16-4B67-81ED-299160303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FE58D069-FB48-4178-B3AE-1BA5FCDFB726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实际测试纹波</a:t>
            </a:r>
            <a:r>
              <a:rPr lang="zh-CN" altLang="en-US" sz="36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＞</a:t>
            </a:r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计算纹波，为什么？</a:t>
            </a:r>
            <a:endParaRPr lang="en-US" altLang="zh-CN" sz="36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131EE7B-A31C-449E-8BDC-3CAB8703A75B}"/>
              </a:ext>
            </a:extLst>
          </p:cNvPr>
          <p:cNvSpPr txBox="1"/>
          <p:nvPr/>
        </p:nvSpPr>
        <p:spPr>
          <a:xfrm>
            <a:off x="4879205" y="1164522"/>
            <a:ext cx="24335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ESR</a:t>
            </a:r>
            <a:r>
              <a:rPr lang="zh-CN" altLang="en-US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不背锅</a:t>
            </a:r>
            <a:endParaRPr lang="en-US" altLang="zh-CN" sz="16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020246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0A0DE58-0D16-4B67-81ED-299160303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FE58D069-FB48-4178-B3AE-1BA5FCDFB726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实际测试纹波</a:t>
            </a:r>
            <a:r>
              <a:rPr lang="zh-CN" altLang="en-US" sz="36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＞</a:t>
            </a:r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计算纹波，为什么？</a:t>
            </a:r>
            <a:endParaRPr lang="en-US" altLang="zh-CN" sz="36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131EE7B-A31C-449E-8BDC-3CAB8703A75B}"/>
              </a:ext>
            </a:extLst>
          </p:cNvPr>
          <p:cNvSpPr txBox="1"/>
          <p:nvPr/>
        </p:nvSpPr>
        <p:spPr>
          <a:xfrm>
            <a:off x="4879205" y="1164522"/>
            <a:ext cx="24335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ESR</a:t>
            </a:r>
            <a:r>
              <a:rPr lang="zh-CN" altLang="en-US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不背锅</a:t>
            </a:r>
            <a:endParaRPr lang="en-US" altLang="zh-CN" sz="16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D67D884-E917-46BA-A26F-76AA73A0D7BD}"/>
              </a:ext>
            </a:extLst>
          </p:cNvPr>
          <p:cNvSpPr txBox="1"/>
          <p:nvPr/>
        </p:nvSpPr>
        <p:spPr>
          <a:xfrm>
            <a:off x="2971800" y="1809234"/>
            <a:ext cx="624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直流电压对电容量影响很大</a:t>
            </a:r>
            <a:endParaRPr lang="zh-CN" altLang="en-US" sz="36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22109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0A0DE58-0D16-4B67-81ED-299160303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FE58D069-FB48-4178-B3AE-1BA5FCDFB726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实际测试纹波</a:t>
            </a:r>
            <a:r>
              <a:rPr lang="zh-CN" altLang="en-US" sz="36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＞</a:t>
            </a:r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计算纹波，为什么？</a:t>
            </a:r>
            <a:endParaRPr lang="en-US" altLang="zh-CN" sz="36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131EE7B-A31C-449E-8BDC-3CAB8703A75B}"/>
              </a:ext>
            </a:extLst>
          </p:cNvPr>
          <p:cNvSpPr txBox="1"/>
          <p:nvPr/>
        </p:nvSpPr>
        <p:spPr>
          <a:xfrm>
            <a:off x="4879205" y="1164522"/>
            <a:ext cx="24335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ESR</a:t>
            </a:r>
            <a:r>
              <a:rPr lang="zh-CN" altLang="en-US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不背锅</a:t>
            </a:r>
            <a:endParaRPr lang="en-US" altLang="zh-CN" sz="16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D67D884-E917-46BA-A26F-76AA73A0D7BD}"/>
              </a:ext>
            </a:extLst>
          </p:cNvPr>
          <p:cNvSpPr txBox="1"/>
          <p:nvPr/>
        </p:nvSpPr>
        <p:spPr>
          <a:xfrm>
            <a:off x="2971800" y="1809234"/>
            <a:ext cx="624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直流电压对电容量影响很大</a:t>
            </a:r>
            <a:endParaRPr lang="zh-CN" altLang="en-US" sz="3600" dirty="0">
              <a:solidFill>
                <a:srgbClr val="FFFF00"/>
              </a:solidFill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42C0BA4-4491-4CC6-8247-A0046F082E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8077" y="2640557"/>
            <a:ext cx="3935847" cy="3007638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DAA4BF2B-08F4-40C7-8573-661704346B07}"/>
              </a:ext>
            </a:extLst>
          </p:cNvPr>
          <p:cNvSpPr txBox="1"/>
          <p:nvPr/>
        </p:nvSpPr>
        <p:spPr>
          <a:xfrm>
            <a:off x="5186412" y="2744733"/>
            <a:ext cx="25002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47uF-X5R-6.3V-0805</a:t>
            </a:r>
            <a:endParaRPr lang="en-US" altLang="zh-CN" sz="1100" b="1" dirty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0255789-091E-46BB-AAB7-C51E845A4150}"/>
              </a:ext>
            </a:extLst>
          </p:cNvPr>
          <p:cNvSpPr txBox="1"/>
          <p:nvPr/>
        </p:nvSpPr>
        <p:spPr>
          <a:xfrm>
            <a:off x="4128077" y="2952388"/>
            <a:ext cx="82867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47uF</a:t>
            </a:r>
            <a:endParaRPr lang="zh-CN" altLang="en-US" sz="11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87898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0A0DE58-0D16-4B67-81ED-299160303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FE58D069-FB48-4178-B3AE-1BA5FCDFB726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实际测试纹波</a:t>
            </a:r>
            <a:r>
              <a:rPr lang="zh-CN" altLang="en-US" sz="36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＞</a:t>
            </a:r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计算纹波，为什么？</a:t>
            </a:r>
            <a:endParaRPr lang="en-US" altLang="zh-CN" sz="36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131EE7B-A31C-449E-8BDC-3CAB8703A75B}"/>
              </a:ext>
            </a:extLst>
          </p:cNvPr>
          <p:cNvSpPr txBox="1"/>
          <p:nvPr/>
        </p:nvSpPr>
        <p:spPr>
          <a:xfrm>
            <a:off x="4879205" y="1164522"/>
            <a:ext cx="24335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ESR</a:t>
            </a:r>
            <a:r>
              <a:rPr lang="zh-CN" altLang="en-US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不背锅</a:t>
            </a:r>
            <a:endParaRPr lang="en-US" altLang="zh-CN" sz="16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D67D884-E917-46BA-A26F-76AA73A0D7BD}"/>
              </a:ext>
            </a:extLst>
          </p:cNvPr>
          <p:cNvSpPr txBox="1"/>
          <p:nvPr/>
        </p:nvSpPr>
        <p:spPr>
          <a:xfrm>
            <a:off x="2971800" y="1809234"/>
            <a:ext cx="624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直流电压对电容量影响很大</a:t>
            </a:r>
            <a:endParaRPr lang="zh-CN" altLang="en-US" sz="3600" dirty="0">
              <a:solidFill>
                <a:srgbClr val="FFFF00"/>
              </a:solidFill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42C0BA4-4491-4CC6-8247-A0046F082E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8077" y="2640557"/>
            <a:ext cx="3935847" cy="3007638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DAA4BF2B-08F4-40C7-8573-661704346B07}"/>
              </a:ext>
            </a:extLst>
          </p:cNvPr>
          <p:cNvSpPr txBox="1"/>
          <p:nvPr/>
        </p:nvSpPr>
        <p:spPr>
          <a:xfrm>
            <a:off x="5186412" y="2744733"/>
            <a:ext cx="25002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47uF-X5R-6.3V-0805</a:t>
            </a:r>
            <a:endParaRPr lang="en-US" altLang="zh-CN" sz="1100" b="1" dirty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0255789-091E-46BB-AAB7-C51E845A4150}"/>
              </a:ext>
            </a:extLst>
          </p:cNvPr>
          <p:cNvSpPr txBox="1"/>
          <p:nvPr/>
        </p:nvSpPr>
        <p:spPr>
          <a:xfrm>
            <a:off x="4128077" y="2952388"/>
            <a:ext cx="82867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47uF</a:t>
            </a:r>
            <a:endParaRPr lang="zh-CN" altLang="en-US" sz="1100" dirty="0">
              <a:solidFill>
                <a:srgbClr val="FF0000"/>
              </a:solidFill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968F742C-62C9-4A9B-B9A2-4FC24179DEAD}"/>
              </a:ext>
            </a:extLst>
          </p:cNvPr>
          <p:cNvCxnSpPr>
            <a:cxnSpLocks/>
          </p:cNvCxnSpPr>
          <p:nvPr/>
        </p:nvCxnSpPr>
        <p:spPr>
          <a:xfrm flipV="1">
            <a:off x="7620000" y="4781550"/>
            <a:ext cx="0" cy="352425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90857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0A0DE58-0D16-4B67-81ED-299160303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FE58D069-FB48-4178-B3AE-1BA5FCDFB726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实际测试纹波</a:t>
            </a:r>
            <a:r>
              <a:rPr lang="zh-CN" altLang="en-US" sz="36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＞</a:t>
            </a:r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计算纹波，为什么？</a:t>
            </a:r>
            <a:endParaRPr lang="en-US" altLang="zh-CN" sz="36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131EE7B-A31C-449E-8BDC-3CAB8703A75B}"/>
              </a:ext>
            </a:extLst>
          </p:cNvPr>
          <p:cNvSpPr txBox="1"/>
          <p:nvPr/>
        </p:nvSpPr>
        <p:spPr>
          <a:xfrm>
            <a:off x="4879205" y="1164522"/>
            <a:ext cx="24335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ESR</a:t>
            </a:r>
            <a:r>
              <a:rPr lang="zh-CN" altLang="en-US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不背锅</a:t>
            </a:r>
            <a:endParaRPr lang="en-US" altLang="zh-CN" sz="16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D67D884-E917-46BA-A26F-76AA73A0D7BD}"/>
              </a:ext>
            </a:extLst>
          </p:cNvPr>
          <p:cNvSpPr txBox="1"/>
          <p:nvPr/>
        </p:nvSpPr>
        <p:spPr>
          <a:xfrm>
            <a:off x="2971800" y="1809234"/>
            <a:ext cx="624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直流电压对电容量影响很大</a:t>
            </a:r>
            <a:endParaRPr lang="zh-CN" altLang="en-US" sz="3600" dirty="0">
              <a:solidFill>
                <a:srgbClr val="FFFF00"/>
              </a:solidFill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42C0BA4-4491-4CC6-8247-A0046F082E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8077" y="2640557"/>
            <a:ext cx="3935847" cy="3007638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DAA4BF2B-08F4-40C7-8573-661704346B07}"/>
              </a:ext>
            </a:extLst>
          </p:cNvPr>
          <p:cNvSpPr txBox="1"/>
          <p:nvPr/>
        </p:nvSpPr>
        <p:spPr>
          <a:xfrm>
            <a:off x="5186412" y="2744733"/>
            <a:ext cx="25002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47uF-X5R-6.3V-0805</a:t>
            </a:r>
            <a:endParaRPr lang="en-US" altLang="zh-CN" sz="1100" b="1" dirty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968F742C-62C9-4A9B-B9A2-4FC24179DEAD}"/>
              </a:ext>
            </a:extLst>
          </p:cNvPr>
          <p:cNvCxnSpPr>
            <a:cxnSpLocks/>
          </p:cNvCxnSpPr>
          <p:nvPr/>
        </p:nvCxnSpPr>
        <p:spPr>
          <a:xfrm flipV="1">
            <a:off x="7620000" y="4781550"/>
            <a:ext cx="0" cy="352425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98969C89-EDF1-4960-9972-CC9AC84C21E5}"/>
              </a:ext>
            </a:extLst>
          </p:cNvPr>
          <p:cNvSpPr txBox="1"/>
          <p:nvPr/>
        </p:nvSpPr>
        <p:spPr>
          <a:xfrm>
            <a:off x="7463849" y="5129475"/>
            <a:ext cx="67762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6.3V</a:t>
            </a:r>
            <a:endParaRPr lang="zh-CN" altLang="en-US" sz="11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61932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0A0DE58-0D16-4B67-81ED-299160303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FE58D069-FB48-4178-B3AE-1BA5FCDFB726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实际测试纹波</a:t>
            </a:r>
            <a:r>
              <a:rPr lang="zh-CN" altLang="en-US" sz="36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＞</a:t>
            </a:r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计算纹波，为什么？</a:t>
            </a:r>
            <a:endParaRPr lang="en-US" altLang="zh-CN" sz="36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131EE7B-A31C-449E-8BDC-3CAB8703A75B}"/>
              </a:ext>
            </a:extLst>
          </p:cNvPr>
          <p:cNvSpPr txBox="1"/>
          <p:nvPr/>
        </p:nvSpPr>
        <p:spPr>
          <a:xfrm>
            <a:off x="4879205" y="1164522"/>
            <a:ext cx="24335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ESR</a:t>
            </a:r>
            <a:r>
              <a:rPr lang="zh-CN" altLang="en-US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不背锅</a:t>
            </a:r>
            <a:endParaRPr lang="en-US" altLang="zh-CN" sz="16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D67D884-E917-46BA-A26F-76AA73A0D7BD}"/>
              </a:ext>
            </a:extLst>
          </p:cNvPr>
          <p:cNvSpPr txBox="1"/>
          <p:nvPr/>
        </p:nvSpPr>
        <p:spPr>
          <a:xfrm>
            <a:off x="2971800" y="1809234"/>
            <a:ext cx="624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直流电压对电容量影响很大</a:t>
            </a:r>
            <a:endParaRPr lang="zh-CN" altLang="en-US" sz="3600" dirty="0">
              <a:solidFill>
                <a:srgbClr val="FFFF00"/>
              </a:solidFill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42C0BA4-4491-4CC6-8247-A0046F082E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8077" y="2640557"/>
            <a:ext cx="3935847" cy="3007638"/>
          </a:xfrm>
          <a:prstGeom prst="rect">
            <a:avLst/>
          </a:prstGeom>
        </p:spPr>
      </p:pic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CB992E54-1D34-414C-AE36-B42A25EE2201}"/>
              </a:ext>
            </a:extLst>
          </p:cNvPr>
          <p:cNvCxnSpPr/>
          <p:nvPr/>
        </p:nvCxnSpPr>
        <p:spPr>
          <a:xfrm flipH="1">
            <a:off x="4648200" y="4800600"/>
            <a:ext cx="2971800" cy="0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DAA4BF2B-08F4-40C7-8573-661704346B07}"/>
              </a:ext>
            </a:extLst>
          </p:cNvPr>
          <p:cNvSpPr txBox="1"/>
          <p:nvPr/>
        </p:nvSpPr>
        <p:spPr>
          <a:xfrm>
            <a:off x="5186412" y="2744733"/>
            <a:ext cx="25002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47uF-X5R-6.3V-0805</a:t>
            </a:r>
            <a:endParaRPr lang="en-US" altLang="zh-CN" sz="1100" b="1" dirty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0255789-091E-46BB-AAB7-C51E845A4150}"/>
              </a:ext>
            </a:extLst>
          </p:cNvPr>
          <p:cNvSpPr txBox="1"/>
          <p:nvPr/>
        </p:nvSpPr>
        <p:spPr>
          <a:xfrm>
            <a:off x="4128077" y="2952388"/>
            <a:ext cx="82867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47uF</a:t>
            </a:r>
            <a:endParaRPr lang="zh-CN" altLang="en-US" sz="1100" dirty="0">
              <a:solidFill>
                <a:srgbClr val="FF0000"/>
              </a:solidFill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968F742C-62C9-4A9B-B9A2-4FC24179DEAD}"/>
              </a:ext>
            </a:extLst>
          </p:cNvPr>
          <p:cNvCxnSpPr>
            <a:cxnSpLocks/>
          </p:cNvCxnSpPr>
          <p:nvPr/>
        </p:nvCxnSpPr>
        <p:spPr>
          <a:xfrm flipV="1">
            <a:off x="7620000" y="4781550"/>
            <a:ext cx="0" cy="352425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98969C89-EDF1-4960-9972-CC9AC84C21E5}"/>
              </a:ext>
            </a:extLst>
          </p:cNvPr>
          <p:cNvSpPr txBox="1"/>
          <p:nvPr/>
        </p:nvSpPr>
        <p:spPr>
          <a:xfrm>
            <a:off x="7463849" y="5129475"/>
            <a:ext cx="67762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6.3V</a:t>
            </a:r>
            <a:endParaRPr lang="zh-CN" altLang="en-US" sz="11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93751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0A0DE58-0D16-4B67-81ED-299160303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FE58D069-FB48-4178-B3AE-1BA5FCDFB726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实际测试纹波</a:t>
            </a:r>
            <a:r>
              <a:rPr lang="zh-CN" altLang="en-US" sz="36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＞</a:t>
            </a:r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计算纹波，为什么？</a:t>
            </a:r>
            <a:endParaRPr lang="en-US" altLang="zh-CN" sz="36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131EE7B-A31C-449E-8BDC-3CAB8703A75B}"/>
              </a:ext>
            </a:extLst>
          </p:cNvPr>
          <p:cNvSpPr txBox="1"/>
          <p:nvPr/>
        </p:nvSpPr>
        <p:spPr>
          <a:xfrm>
            <a:off x="4879205" y="1164522"/>
            <a:ext cx="24335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ESR</a:t>
            </a:r>
            <a:r>
              <a:rPr lang="zh-CN" altLang="en-US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不背锅</a:t>
            </a:r>
            <a:endParaRPr lang="en-US" altLang="zh-CN" sz="16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D67D884-E917-46BA-A26F-76AA73A0D7BD}"/>
              </a:ext>
            </a:extLst>
          </p:cNvPr>
          <p:cNvSpPr txBox="1"/>
          <p:nvPr/>
        </p:nvSpPr>
        <p:spPr>
          <a:xfrm>
            <a:off x="2971800" y="1809234"/>
            <a:ext cx="624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直流电压对电容量影响很大</a:t>
            </a:r>
            <a:endParaRPr lang="zh-CN" altLang="en-US" sz="3600" dirty="0">
              <a:solidFill>
                <a:srgbClr val="FFFF00"/>
              </a:solidFill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42C0BA4-4491-4CC6-8247-A0046F082E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8077" y="2640557"/>
            <a:ext cx="3935847" cy="3007638"/>
          </a:xfrm>
          <a:prstGeom prst="rect">
            <a:avLst/>
          </a:prstGeom>
        </p:spPr>
      </p:pic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CB992E54-1D34-414C-AE36-B42A25EE2201}"/>
              </a:ext>
            </a:extLst>
          </p:cNvPr>
          <p:cNvCxnSpPr/>
          <p:nvPr/>
        </p:nvCxnSpPr>
        <p:spPr>
          <a:xfrm flipH="1">
            <a:off x="4648200" y="4800600"/>
            <a:ext cx="2971800" cy="0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DAA4BF2B-08F4-40C7-8573-661704346B07}"/>
              </a:ext>
            </a:extLst>
          </p:cNvPr>
          <p:cNvSpPr txBox="1"/>
          <p:nvPr/>
        </p:nvSpPr>
        <p:spPr>
          <a:xfrm>
            <a:off x="5186412" y="2744733"/>
            <a:ext cx="25002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47uF-X5R-6.3V-0805</a:t>
            </a:r>
            <a:endParaRPr lang="en-US" altLang="zh-CN" sz="1100" b="1" dirty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0255789-091E-46BB-AAB7-C51E845A4150}"/>
              </a:ext>
            </a:extLst>
          </p:cNvPr>
          <p:cNvSpPr txBox="1"/>
          <p:nvPr/>
        </p:nvSpPr>
        <p:spPr>
          <a:xfrm>
            <a:off x="4128077" y="2952388"/>
            <a:ext cx="82867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47uF</a:t>
            </a:r>
            <a:endParaRPr lang="zh-CN" altLang="en-US" sz="1100" dirty="0">
              <a:solidFill>
                <a:srgbClr val="FF0000"/>
              </a:solidFill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968F742C-62C9-4A9B-B9A2-4FC24179DEAD}"/>
              </a:ext>
            </a:extLst>
          </p:cNvPr>
          <p:cNvCxnSpPr>
            <a:cxnSpLocks/>
          </p:cNvCxnSpPr>
          <p:nvPr/>
        </p:nvCxnSpPr>
        <p:spPr>
          <a:xfrm flipV="1">
            <a:off x="7620000" y="4781550"/>
            <a:ext cx="0" cy="352425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98969C89-EDF1-4960-9972-CC9AC84C21E5}"/>
              </a:ext>
            </a:extLst>
          </p:cNvPr>
          <p:cNvSpPr txBox="1"/>
          <p:nvPr/>
        </p:nvSpPr>
        <p:spPr>
          <a:xfrm>
            <a:off x="7463849" y="5129475"/>
            <a:ext cx="67762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6.3V</a:t>
            </a:r>
            <a:endParaRPr lang="zh-CN" altLang="en-US" sz="1100" dirty="0">
              <a:solidFill>
                <a:srgbClr val="FF0000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FE74490-BCD0-4516-A801-BE232AB28DF3}"/>
              </a:ext>
            </a:extLst>
          </p:cNvPr>
          <p:cNvSpPr txBox="1"/>
          <p:nvPr/>
        </p:nvSpPr>
        <p:spPr>
          <a:xfrm>
            <a:off x="4128077" y="4781550"/>
            <a:ext cx="67762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8.5uF</a:t>
            </a:r>
            <a:endParaRPr lang="zh-CN" altLang="en-US" sz="11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62099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0A0DE58-0D16-4B67-81ED-299160303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FE58D069-FB48-4178-B3AE-1BA5FCDFB726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实际测试纹波</a:t>
            </a:r>
            <a:r>
              <a:rPr lang="zh-CN" altLang="en-US" sz="36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＞</a:t>
            </a:r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计算纹波，为什么？</a:t>
            </a:r>
            <a:endParaRPr lang="en-US" altLang="zh-CN" sz="36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131EE7B-A31C-449E-8BDC-3CAB8703A75B}"/>
              </a:ext>
            </a:extLst>
          </p:cNvPr>
          <p:cNvSpPr txBox="1"/>
          <p:nvPr/>
        </p:nvSpPr>
        <p:spPr>
          <a:xfrm>
            <a:off x="4879205" y="1164522"/>
            <a:ext cx="24335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ESR</a:t>
            </a:r>
            <a:r>
              <a:rPr lang="zh-CN" altLang="en-US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不背锅</a:t>
            </a:r>
            <a:endParaRPr lang="en-US" altLang="zh-CN" sz="16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D67D884-E917-46BA-A26F-76AA73A0D7BD}"/>
              </a:ext>
            </a:extLst>
          </p:cNvPr>
          <p:cNvSpPr txBox="1"/>
          <p:nvPr/>
        </p:nvSpPr>
        <p:spPr>
          <a:xfrm>
            <a:off x="2971800" y="1809234"/>
            <a:ext cx="624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直流电压对电容量影响很大</a:t>
            </a:r>
            <a:endParaRPr lang="zh-CN" altLang="en-US" sz="3600" dirty="0">
              <a:solidFill>
                <a:srgbClr val="FFFF00"/>
              </a:solidFill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42C0BA4-4491-4CC6-8247-A0046F082E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8077" y="2640557"/>
            <a:ext cx="3935847" cy="3007638"/>
          </a:xfrm>
          <a:prstGeom prst="rect">
            <a:avLst/>
          </a:prstGeom>
        </p:spPr>
      </p:pic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CB992E54-1D34-414C-AE36-B42A25EE2201}"/>
              </a:ext>
            </a:extLst>
          </p:cNvPr>
          <p:cNvCxnSpPr/>
          <p:nvPr/>
        </p:nvCxnSpPr>
        <p:spPr>
          <a:xfrm flipH="1">
            <a:off x="4648200" y="4800600"/>
            <a:ext cx="2971800" cy="0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DAA4BF2B-08F4-40C7-8573-661704346B07}"/>
              </a:ext>
            </a:extLst>
          </p:cNvPr>
          <p:cNvSpPr txBox="1"/>
          <p:nvPr/>
        </p:nvSpPr>
        <p:spPr>
          <a:xfrm>
            <a:off x="5186412" y="2744733"/>
            <a:ext cx="25002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47uF-X5R-6.3V-0805</a:t>
            </a:r>
            <a:endParaRPr lang="en-US" altLang="zh-CN" sz="1100" b="1" dirty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0255789-091E-46BB-AAB7-C51E845A4150}"/>
              </a:ext>
            </a:extLst>
          </p:cNvPr>
          <p:cNvSpPr txBox="1"/>
          <p:nvPr/>
        </p:nvSpPr>
        <p:spPr>
          <a:xfrm>
            <a:off x="4128077" y="2952388"/>
            <a:ext cx="82867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47uF</a:t>
            </a:r>
            <a:endParaRPr lang="zh-CN" altLang="en-US" sz="1100" dirty="0">
              <a:solidFill>
                <a:srgbClr val="FF0000"/>
              </a:solidFill>
            </a:endParaRP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99C533C5-A0BB-4926-97F3-2BA46C12494C}"/>
              </a:ext>
            </a:extLst>
          </p:cNvPr>
          <p:cNvCxnSpPr>
            <a:cxnSpLocks/>
          </p:cNvCxnSpPr>
          <p:nvPr/>
        </p:nvCxnSpPr>
        <p:spPr>
          <a:xfrm flipV="1">
            <a:off x="6210300" y="4429125"/>
            <a:ext cx="0" cy="704850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968F742C-62C9-4A9B-B9A2-4FC24179DEAD}"/>
              </a:ext>
            </a:extLst>
          </p:cNvPr>
          <p:cNvCxnSpPr>
            <a:cxnSpLocks/>
          </p:cNvCxnSpPr>
          <p:nvPr/>
        </p:nvCxnSpPr>
        <p:spPr>
          <a:xfrm flipV="1">
            <a:off x="7620000" y="4781550"/>
            <a:ext cx="0" cy="352425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98969C89-EDF1-4960-9972-CC9AC84C21E5}"/>
              </a:ext>
            </a:extLst>
          </p:cNvPr>
          <p:cNvSpPr txBox="1"/>
          <p:nvPr/>
        </p:nvSpPr>
        <p:spPr>
          <a:xfrm>
            <a:off x="7463849" y="5129475"/>
            <a:ext cx="67762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6.3V</a:t>
            </a:r>
            <a:endParaRPr lang="zh-CN" altLang="en-US" sz="1100" dirty="0">
              <a:solidFill>
                <a:srgbClr val="FF0000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FE74490-BCD0-4516-A801-BE232AB28DF3}"/>
              </a:ext>
            </a:extLst>
          </p:cNvPr>
          <p:cNvSpPr txBox="1"/>
          <p:nvPr/>
        </p:nvSpPr>
        <p:spPr>
          <a:xfrm>
            <a:off x="4128077" y="4781550"/>
            <a:ext cx="67762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8.5uF</a:t>
            </a:r>
            <a:endParaRPr lang="zh-CN" altLang="en-US" sz="11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4843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0A0DE58-0D16-4B67-81ED-299160303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FE58D069-FB48-4178-B3AE-1BA5FCDFB726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实际测试纹波</a:t>
            </a:r>
            <a:r>
              <a:rPr lang="zh-CN" altLang="en-US" sz="36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＞</a:t>
            </a:r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计算纹波，为什么？</a:t>
            </a:r>
            <a:endParaRPr lang="en-US" altLang="zh-CN" sz="36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131EE7B-A31C-449E-8BDC-3CAB8703A75B}"/>
              </a:ext>
            </a:extLst>
          </p:cNvPr>
          <p:cNvSpPr txBox="1"/>
          <p:nvPr/>
        </p:nvSpPr>
        <p:spPr>
          <a:xfrm>
            <a:off x="4879205" y="1164522"/>
            <a:ext cx="24335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ESR</a:t>
            </a:r>
            <a:r>
              <a:rPr lang="zh-CN" altLang="en-US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不背锅</a:t>
            </a:r>
            <a:endParaRPr lang="en-US" altLang="zh-CN" sz="16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D67D884-E917-46BA-A26F-76AA73A0D7BD}"/>
              </a:ext>
            </a:extLst>
          </p:cNvPr>
          <p:cNvSpPr txBox="1"/>
          <p:nvPr/>
        </p:nvSpPr>
        <p:spPr>
          <a:xfrm>
            <a:off x="2971800" y="1809234"/>
            <a:ext cx="624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直流电压对电容量影响很大</a:t>
            </a:r>
            <a:endParaRPr lang="zh-CN" altLang="en-US" sz="3600" dirty="0">
              <a:solidFill>
                <a:srgbClr val="FFFF00"/>
              </a:solidFill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42C0BA4-4491-4CC6-8247-A0046F082E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8077" y="2640557"/>
            <a:ext cx="3935847" cy="3007638"/>
          </a:xfrm>
          <a:prstGeom prst="rect">
            <a:avLst/>
          </a:prstGeom>
        </p:spPr>
      </p:pic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CB992E54-1D34-414C-AE36-B42A25EE2201}"/>
              </a:ext>
            </a:extLst>
          </p:cNvPr>
          <p:cNvCxnSpPr/>
          <p:nvPr/>
        </p:nvCxnSpPr>
        <p:spPr>
          <a:xfrm flipH="1">
            <a:off x="4648200" y="4800600"/>
            <a:ext cx="2971800" cy="0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DAA4BF2B-08F4-40C7-8573-661704346B07}"/>
              </a:ext>
            </a:extLst>
          </p:cNvPr>
          <p:cNvSpPr txBox="1"/>
          <p:nvPr/>
        </p:nvSpPr>
        <p:spPr>
          <a:xfrm>
            <a:off x="5186412" y="2744733"/>
            <a:ext cx="25002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47uF-X5R-6.3V-0805</a:t>
            </a:r>
            <a:endParaRPr lang="en-US" altLang="zh-CN" sz="1100" b="1" dirty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0255789-091E-46BB-AAB7-C51E845A4150}"/>
              </a:ext>
            </a:extLst>
          </p:cNvPr>
          <p:cNvSpPr txBox="1"/>
          <p:nvPr/>
        </p:nvSpPr>
        <p:spPr>
          <a:xfrm>
            <a:off x="4128077" y="2952388"/>
            <a:ext cx="82867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47uF</a:t>
            </a:r>
            <a:endParaRPr lang="zh-CN" altLang="en-US" sz="1100" dirty="0">
              <a:solidFill>
                <a:srgbClr val="FF0000"/>
              </a:solidFill>
            </a:endParaRP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99C533C5-A0BB-4926-97F3-2BA46C12494C}"/>
              </a:ext>
            </a:extLst>
          </p:cNvPr>
          <p:cNvCxnSpPr>
            <a:cxnSpLocks/>
          </p:cNvCxnSpPr>
          <p:nvPr/>
        </p:nvCxnSpPr>
        <p:spPr>
          <a:xfrm flipV="1">
            <a:off x="6210300" y="4429125"/>
            <a:ext cx="0" cy="704850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968F742C-62C9-4A9B-B9A2-4FC24179DEAD}"/>
              </a:ext>
            </a:extLst>
          </p:cNvPr>
          <p:cNvCxnSpPr>
            <a:cxnSpLocks/>
          </p:cNvCxnSpPr>
          <p:nvPr/>
        </p:nvCxnSpPr>
        <p:spPr>
          <a:xfrm flipV="1">
            <a:off x="7620000" y="4781550"/>
            <a:ext cx="0" cy="352425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98969C89-EDF1-4960-9972-CC9AC84C21E5}"/>
              </a:ext>
            </a:extLst>
          </p:cNvPr>
          <p:cNvSpPr txBox="1"/>
          <p:nvPr/>
        </p:nvSpPr>
        <p:spPr>
          <a:xfrm>
            <a:off x="7463849" y="5129475"/>
            <a:ext cx="67762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6.3V</a:t>
            </a:r>
            <a:endParaRPr lang="zh-CN" altLang="en-US" sz="1100" dirty="0">
              <a:solidFill>
                <a:srgbClr val="FF0000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5FD47BF-6888-43F3-B396-A5616B3D3FBC}"/>
              </a:ext>
            </a:extLst>
          </p:cNvPr>
          <p:cNvSpPr txBox="1"/>
          <p:nvPr/>
        </p:nvSpPr>
        <p:spPr>
          <a:xfrm>
            <a:off x="6006524" y="5128401"/>
            <a:ext cx="67762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3.3V</a:t>
            </a:r>
            <a:endParaRPr lang="zh-CN" altLang="en-US" sz="1100" dirty="0">
              <a:solidFill>
                <a:srgbClr val="FF0000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FE74490-BCD0-4516-A801-BE232AB28DF3}"/>
              </a:ext>
            </a:extLst>
          </p:cNvPr>
          <p:cNvSpPr txBox="1"/>
          <p:nvPr/>
        </p:nvSpPr>
        <p:spPr>
          <a:xfrm>
            <a:off x="4128077" y="4781550"/>
            <a:ext cx="67762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8.5uF</a:t>
            </a:r>
            <a:endParaRPr lang="zh-CN" altLang="en-US" sz="11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52458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0A0DE58-0D16-4B67-81ED-299160303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FE58D069-FB48-4178-B3AE-1BA5FCDFB726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实际测试纹波</a:t>
            </a:r>
            <a:r>
              <a:rPr lang="zh-CN" altLang="en-US" sz="36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＞</a:t>
            </a:r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计算纹波，为什么？</a:t>
            </a:r>
            <a:endParaRPr lang="en-US" altLang="zh-CN" sz="36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131EE7B-A31C-449E-8BDC-3CAB8703A75B}"/>
              </a:ext>
            </a:extLst>
          </p:cNvPr>
          <p:cNvSpPr txBox="1"/>
          <p:nvPr/>
        </p:nvSpPr>
        <p:spPr>
          <a:xfrm>
            <a:off x="4879205" y="1164522"/>
            <a:ext cx="24335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ESR</a:t>
            </a:r>
            <a:r>
              <a:rPr lang="zh-CN" altLang="en-US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不背锅</a:t>
            </a:r>
            <a:endParaRPr lang="en-US" altLang="zh-CN" sz="16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D67D884-E917-46BA-A26F-76AA73A0D7BD}"/>
              </a:ext>
            </a:extLst>
          </p:cNvPr>
          <p:cNvSpPr txBox="1"/>
          <p:nvPr/>
        </p:nvSpPr>
        <p:spPr>
          <a:xfrm>
            <a:off x="2971800" y="1809234"/>
            <a:ext cx="624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直流电压对电容量影响很大</a:t>
            </a:r>
            <a:endParaRPr lang="zh-CN" altLang="en-US" sz="3600" dirty="0">
              <a:solidFill>
                <a:srgbClr val="FFFF00"/>
              </a:solidFill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42C0BA4-4491-4CC6-8247-A0046F082E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8077" y="2640557"/>
            <a:ext cx="3935847" cy="3007638"/>
          </a:xfrm>
          <a:prstGeom prst="rect">
            <a:avLst/>
          </a:prstGeom>
        </p:spPr>
      </p:pic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CB992E54-1D34-414C-AE36-B42A25EE2201}"/>
              </a:ext>
            </a:extLst>
          </p:cNvPr>
          <p:cNvCxnSpPr/>
          <p:nvPr/>
        </p:nvCxnSpPr>
        <p:spPr>
          <a:xfrm flipH="1">
            <a:off x="4648200" y="4800600"/>
            <a:ext cx="2971800" cy="0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791EE2AF-5832-4FC9-A1E7-B928B338858E}"/>
              </a:ext>
            </a:extLst>
          </p:cNvPr>
          <p:cNvCxnSpPr>
            <a:cxnSpLocks/>
          </p:cNvCxnSpPr>
          <p:nvPr/>
        </p:nvCxnSpPr>
        <p:spPr>
          <a:xfrm flipH="1">
            <a:off x="4648200" y="4419600"/>
            <a:ext cx="1581150" cy="0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DAA4BF2B-08F4-40C7-8573-661704346B07}"/>
              </a:ext>
            </a:extLst>
          </p:cNvPr>
          <p:cNvSpPr txBox="1"/>
          <p:nvPr/>
        </p:nvSpPr>
        <p:spPr>
          <a:xfrm>
            <a:off x="5186412" y="2744733"/>
            <a:ext cx="25002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47uF-X5R-6.3V-0805</a:t>
            </a:r>
            <a:endParaRPr lang="en-US" altLang="zh-CN" sz="1100" b="1" dirty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0255789-091E-46BB-AAB7-C51E845A4150}"/>
              </a:ext>
            </a:extLst>
          </p:cNvPr>
          <p:cNvSpPr txBox="1"/>
          <p:nvPr/>
        </p:nvSpPr>
        <p:spPr>
          <a:xfrm>
            <a:off x="4128077" y="2952388"/>
            <a:ext cx="82867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47uF</a:t>
            </a:r>
            <a:endParaRPr lang="zh-CN" altLang="en-US" sz="1100" dirty="0">
              <a:solidFill>
                <a:srgbClr val="FF0000"/>
              </a:solidFill>
            </a:endParaRP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99C533C5-A0BB-4926-97F3-2BA46C12494C}"/>
              </a:ext>
            </a:extLst>
          </p:cNvPr>
          <p:cNvCxnSpPr>
            <a:cxnSpLocks/>
          </p:cNvCxnSpPr>
          <p:nvPr/>
        </p:nvCxnSpPr>
        <p:spPr>
          <a:xfrm flipV="1">
            <a:off x="6210300" y="4429125"/>
            <a:ext cx="0" cy="704850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968F742C-62C9-4A9B-B9A2-4FC24179DEAD}"/>
              </a:ext>
            </a:extLst>
          </p:cNvPr>
          <p:cNvCxnSpPr>
            <a:cxnSpLocks/>
          </p:cNvCxnSpPr>
          <p:nvPr/>
        </p:nvCxnSpPr>
        <p:spPr>
          <a:xfrm flipV="1">
            <a:off x="7620000" y="4781550"/>
            <a:ext cx="0" cy="352425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98969C89-EDF1-4960-9972-CC9AC84C21E5}"/>
              </a:ext>
            </a:extLst>
          </p:cNvPr>
          <p:cNvSpPr txBox="1"/>
          <p:nvPr/>
        </p:nvSpPr>
        <p:spPr>
          <a:xfrm>
            <a:off x="7463849" y="5129475"/>
            <a:ext cx="67762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6.3V</a:t>
            </a:r>
            <a:endParaRPr lang="zh-CN" altLang="en-US" sz="1100" dirty="0">
              <a:solidFill>
                <a:srgbClr val="FF0000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5FD47BF-6888-43F3-B396-A5616B3D3FBC}"/>
              </a:ext>
            </a:extLst>
          </p:cNvPr>
          <p:cNvSpPr txBox="1"/>
          <p:nvPr/>
        </p:nvSpPr>
        <p:spPr>
          <a:xfrm>
            <a:off x="6006524" y="5128401"/>
            <a:ext cx="67762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3.3V</a:t>
            </a:r>
            <a:endParaRPr lang="zh-CN" altLang="en-US" sz="1100" dirty="0">
              <a:solidFill>
                <a:srgbClr val="FF0000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FE74490-BCD0-4516-A801-BE232AB28DF3}"/>
              </a:ext>
            </a:extLst>
          </p:cNvPr>
          <p:cNvSpPr txBox="1"/>
          <p:nvPr/>
        </p:nvSpPr>
        <p:spPr>
          <a:xfrm>
            <a:off x="4128077" y="4781550"/>
            <a:ext cx="67762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8.5uF</a:t>
            </a:r>
            <a:endParaRPr lang="zh-CN" altLang="en-US" sz="11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47157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0A0DE58-0D16-4B67-81ED-299160303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FE58D069-FB48-4178-B3AE-1BA5FCDFB726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实际测试纹波</a:t>
            </a:r>
            <a:r>
              <a:rPr lang="zh-CN" altLang="en-US" sz="36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＞</a:t>
            </a:r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计算纹波，为什么？</a:t>
            </a:r>
            <a:endParaRPr lang="en-US" altLang="zh-CN" sz="36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131EE7B-A31C-449E-8BDC-3CAB8703A75B}"/>
              </a:ext>
            </a:extLst>
          </p:cNvPr>
          <p:cNvSpPr txBox="1"/>
          <p:nvPr/>
        </p:nvSpPr>
        <p:spPr>
          <a:xfrm>
            <a:off x="4879205" y="1164522"/>
            <a:ext cx="24335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ESR</a:t>
            </a:r>
            <a:r>
              <a:rPr lang="zh-CN" altLang="en-US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不背锅</a:t>
            </a:r>
            <a:endParaRPr lang="en-US" altLang="zh-CN" sz="16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D67D884-E917-46BA-A26F-76AA73A0D7BD}"/>
              </a:ext>
            </a:extLst>
          </p:cNvPr>
          <p:cNvSpPr txBox="1"/>
          <p:nvPr/>
        </p:nvSpPr>
        <p:spPr>
          <a:xfrm>
            <a:off x="2971800" y="1809234"/>
            <a:ext cx="624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直流电压对电容量影响很大</a:t>
            </a:r>
            <a:endParaRPr lang="zh-CN" altLang="en-US" sz="3600" dirty="0">
              <a:solidFill>
                <a:srgbClr val="FFFF00"/>
              </a:solidFill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42C0BA4-4491-4CC6-8247-A0046F082E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8077" y="2640557"/>
            <a:ext cx="3935847" cy="3007638"/>
          </a:xfrm>
          <a:prstGeom prst="rect">
            <a:avLst/>
          </a:prstGeom>
        </p:spPr>
      </p:pic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CB992E54-1D34-414C-AE36-B42A25EE2201}"/>
              </a:ext>
            </a:extLst>
          </p:cNvPr>
          <p:cNvCxnSpPr/>
          <p:nvPr/>
        </p:nvCxnSpPr>
        <p:spPr>
          <a:xfrm flipH="1">
            <a:off x="4648200" y="4800600"/>
            <a:ext cx="2971800" cy="0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791EE2AF-5832-4FC9-A1E7-B928B338858E}"/>
              </a:ext>
            </a:extLst>
          </p:cNvPr>
          <p:cNvCxnSpPr>
            <a:cxnSpLocks/>
          </p:cNvCxnSpPr>
          <p:nvPr/>
        </p:nvCxnSpPr>
        <p:spPr>
          <a:xfrm flipH="1">
            <a:off x="4648200" y="4419600"/>
            <a:ext cx="1581150" cy="0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DAA4BF2B-08F4-40C7-8573-661704346B07}"/>
              </a:ext>
            </a:extLst>
          </p:cNvPr>
          <p:cNvSpPr txBox="1"/>
          <p:nvPr/>
        </p:nvSpPr>
        <p:spPr>
          <a:xfrm>
            <a:off x="5186412" y="2744733"/>
            <a:ext cx="25002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47uF-X5R-6.3V-0805</a:t>
            </a:r>
            <a:endParaRPr lang="en-US" altLang="zh-CN" sz="1100" b="1" dirty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0255789-091E-46BB-AAB7-C51E845A4150}"/>
              </a:ext>
            </a:extLst>
          </p:cNvPr>
          <p:cNvSpPr txBox="1"/>
          <p:nvPr/>
        </p:nvSpPr>
        <p:spPr>
          <a:xfrm>
            <a:off x="4128077" y="2952388"/>
            <a:ext cx="82867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47uF</a:t>
            </a:r>
            <a:endParaRPr lang="zh-CN" altLang="en-US" sz="1100" dirty="0">
              <a:solidFill>
                <a:srgbClr val="FF0000"/>
              </a:solidFill>
            </a:endParaRP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99C533C5-A0BB-4926-97F3-2BA46C12494C}"/>
              </a:ext>
            </a:extLst>
          </p:cNvPr>
          <p:cNvCxnSpPr>
            <a:cxnSpLocks/>
          </p:cNvCxnSpPr>
          <p:nvPr/>
        </p:nvCxnSpPr>
        <p:spPr>
          <a:xfrm flipV="1">
            <a:off x="6210300" y="4429125"/>
            <a:ext cx="0" cy="704850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968F742C-62C9-4A9B-B9A2-4FC24179DEAD}"/>
              </a:ext>
            </a:extLst>
          </p:cNvPr>
          <p:cNvCxnSpPr>
            <a:cxnSpLocks/>
          </p:cNvCxnSpPr>
          <p:nvPr/>
        </p:nvCxnSpPr>
        <p:spPr>
          <a:xfrm flipV="1">
            <a:off x="7620000" y="4781550"/>
            <a:ext cx="0" cy="352425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98969C89-EDF1-4960-9972-CC9AC84C21E5}"/>
              </a:ext>
            </a:extLst>
          </p:cNvPr>
          <p:cNvSpPr txBox="1"/>
          <p:nvPr/>
        </p:nvSpPr>
        <p:spPr>
          <a:xfrm>
            <a:off x="7463849" y="5129475"/>
            <a:ext cx="67762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6.3V</a:t>
            </a:r>
            <a:endParaRPr lang="zh-CN" altLang="en-US" sz="1100" dirty="0">
              <a:solidFill>
                <a:srgbClr val="FF0000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5FD47BF-6888-43F3-B396-A5616B3D3FBC}"/>
              </a:ext>
            </a:extLst>
          </p:cNvPr>
          <p:cNvSpPr txBox="1"/>
          <p:nvPr/>
        </p:nvSpPr>
        <p:spPr>
          <a:xfrm>
            <a:off x="6006524" y="5128401"/>
            <a:ext cx="67762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3.3V</a:t>
            </a:r>
            <a:endParaRPr lang="zh-CN" altLang="en-US" sz="1100" dirty="0">
              <a:solidFill>
                <a:srgbClr val="FF0000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FE74490-BCD0-4516-A801-BE232AB28DF3}"/>
              </a:ext>
            </a:extLst>
          </p:cNvPr>
          <p:cNvSpPr txBox="1"/>
          <p:nvPr/>
        </p:nvSpPr>
        <p:spPr>
          <a:xfrm>
            <a:off x="4128077" y="4781550"/>
            <a:ext cx="67762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8.5uF</a:t>
            </a:r>
            <a:endParaRPr lang="zh-CN" altLang="en-US" sz="1100" dirty="0">
              <a:solidFill>
                <a:srgbClr val="FF0000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DD36D221-BF4D-43A8-A400-E355FAF1C94B}"/>
              </a:ext>
            </a:extLst>
          </p:cNvPr>
          <p:cNvSpPr txBox="1"/>
          <p:nvPr/>
        </p:nvSpPr>
        <p:spPr>
          <a:xfrm>
            <a:off x="4131829" y="4348491"/>
            <a:ext cx="67762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18uF</a:t>
            </a:r>
            <a:endParaRPr lang="zh-CN" altLang="en-US" sz="11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66528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55126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C3EED4B-1DB8-42DF-AB3D-4A4CD9DC29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2837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C3EED4B-1DB8-42DF-AB3D-4A4CD9DC29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D1D71751-E5CE-4A9E-BAE8-5682FA3F805B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常用电容直流偏压特性（村田）</a:t>
            </a:r>
            <a:endParaRPr lang="en-US" altLang="zh-CN" sz="36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17086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C3EED4B-1DB8-42DF-AB3D-4A4CD9DC29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D1D71751-E5CE-4A9E-BAE8-5682FA3F805B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常用电容直流偏压特性（村田）</a:t>
            </a:r>
            <a:endParaRPr lang="en-US" altLang="zh-CN" sz="36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797C526-257A-4F2B-BC0B-1CB85C7AA101}"/>
              </a:ext>
            </a:extLst>
          </p:cNvPr>
          <p:cNvSpPr txBox="1"/>
          <p:nvPr/>
        </p:nvSpPr>
        <p:spPr>
          <a:xfrm>
            <a:off x="1846310" y="127265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FFFF00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I</a:t>
            </a:r>
            <a:r>
              <a:rPr lang="zh-CN" altLang="zh-CN" sz="1800" dirty="0">
                <a:solidFill>
                  <a:srgbClr val="FFFF00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类电容</a:t>
            </a:r>
            <a:r>
              <a:rPr lang="zh-CN" altLang="en-US" sz="18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18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NP</a:t>
            </a:r>
            <a:r>
              <a:rPr lang="en-US" altLang="zh-CN" dirty="0">
                <a:solidFill>
                  <a:schemeClr val="bg1"/>
                </a:solidFill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dirty="0">
                <a:solidFill>
                  <a:schemeClr val="bg1"/>
                </a:solidFill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chemeClr val="bg1"/>
                </a:solidFill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C0G</a:t>
            </a:r>
            <a:r>
              <a:rPr lang="zh-CN" altLang="en-US" dirty="0">
                <a:solidFill>
                  <a:schemeClr val="bg1"/>
                </a:solidFill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，容量基本不随电压的变化而变化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11806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C3EED4B-1DB8-42DF-AB3D-4A4CD9DC29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D1D71751-E5CE-4A9E-BAE8-5682FA3F805B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常用电容直流偏压特性（村田）</a:t>
            </a:r>
            <a:endParaRPr lang="en-US" altLang="zh-CN" sz="36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797C526-257A-4F2B-BC0B-1CB85C7AA101}"/>
              </a:ext>
            </a:extLst>
          </p:cNvPr>
          <p:cNvSpPr txBox="1"/>
          <p:nvPr/>
        </p:nvSpPr>
        <p:spPr>
          <a:xfrm>
            <a:off x="1846310" y="127265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FFFF00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I</a:t>
            </a:r>
            <a:r>
              <a:rPr lang="zh-CN" altLang="zh-CN" sz="1800" dirty="0">
                <a:solidFill>
                  <a:srgbClr val="FFFF00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类电容</a:t>
            </a:r>
            <a:r>
              <a:rPr lang="zh-CN" altLang="en-US" sz="18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18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NP</a:t>
            </a:r>
            <a:r>
              <a:rPr lang="en-US" altLang="zh-CN" dirty="0">
                <a:solidFill>
                  <a:schemeClr val="bg1"/>
                </a:solidFill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dirty="0">
                <a:solidFill>
                  <a:schemeClr val="bg1"/>
                </a:solidFill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chemeClr val="bg1"/>
                </a:solidFill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C0G</a:t>
            </a:r>
            <a:r>
              <a:rPr lang="zh-CN" altLang="en-US" dirty="0">
                <a:solidFill>
                  <a:schemeClr val="bg1"/>
                </a:solidFill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，容量基本不随电压的变化而变化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2A54170-F6DF-44B8-8ED1-526C4F88E1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394" y="1925596"/>
            <a:ext cx="5345381" cy="3371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0623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C3EED4B-1DB8-42DF-AB3D-4A4CD9DC29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D1D71751-E5CE-4A9E-BAE8-5682FA3F805B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常用电容直流偏压特性（村田）</a:t>
            </a:r>
            <a:endParaRPr lang="en-US" altLang="zh-CN" sz="36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797C526-257A-4F2B-BC0B-1CB85C7AA101}"/>
              </a:ext>
            </a:extLst>
          </p:cNvPr>
          <p:cNvSpPr txBox="1"/>
          <p:nvPr/>
        </p:nvSpPr>
        <p:spPr>
          <a:xfrm>
            <a:off x="1846310" y="127265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FFFF00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I</a:t>
            </a:r>
            <a:r>
              <a:rPr lang="zh-CN" altLang="zh-CN" sz="1800" dirty="0">
                <a:solidFill>
                  <a:srgbClr val="FFFF00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类电容</a:t>
            </a:r>
            <a:r>
              <a:rPr lang="zh-CN" altLang="en-US" sz="18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18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NP</a:t>
            </a:r>
            <a:r>
              <a:rPr lang="en-US" altLang="zh-CN" dirty="0">
                <a:solidFill>
                  <a:schemeClr val="bg1"/>
                </a:solidFill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dirty="0">
                <a:solidFill>
                  <a:schemeClr val="bg1"/>
                </a:solidFill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chemeClr val="bg1"/>
                </a:solidFill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C0G</a:t>
            </a:r>
            <a:r>
              <a:rPr lang="zh-CN" altLang="en-US" dirty="0">
                <a:solidFill>
                  <a:schemeClr val="bg1"/>
                </a:solidFill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，容量基本不随电压的变化而变化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2A54170-F6DF-44B8-8ED1-526C4F88E1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394" y="1925596"/>
            <a:ext cx="5345381" cy="3371238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9BC750CA-23B6-4F7C-B788-661BCD0DAA56}"/>
              </a:ext>
            </a:extLst>
          </p:cNvPr>
          <p:cNvSpPr txBox="1"/>
          <p:nvPr/>
        </p:nvSpPr>
        <p:spPr>
          <a:xfrm>
            <a:off x="4152900" y="2034659"/>
            <a:ext cx="27527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100pF-C0G</a:t>
            </a:r>
            <a:endParaRPr lang="en-US" altLang="zh-CN" sz="1100" b="1" dirty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734038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6080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C3EED4B-1DB8-42DF-AB3D-4A4CD9DC29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8432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C3EED4B-1DB8-42DF-AB3D-4A4CD9DC29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D1D71751-E5CE-4A9E-BAE8-5682FA3F805B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常用电容直流偏压特性（村田）</a:t>
            </a:r>
            <a:endParaRPr lang="en-US" altLang="zh-CN" sz="36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12540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C3EED4B-1DB8-42DF-AB3D-4A4CD9DC29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D1D71751-E5CE-4A9E-BAE8-5682FA3F805B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常用电容直流偏压特性（村田）</a:t>
            </a:r>
            <a:endParaRPr lang="en-US" altLang="zh-CN" sz="36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797C526-257A-4F2B-BC0B-1CB85C7AA101}"/>
              </a:ext>
            </a:extLst>
          </p:cNvPr>
          <p:cNvSpPr txBox="1"/>
          <p:nvPr/>
        </p:nvSpPr>
        <p:spPr>
          <a:xfrm>
            <a:off x="1846310" y="127265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FFFF00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II</a:t>
            </a:r>
            <a:r>
              <a:rPr lang="zh-CN" altLang="zh-CN" sz="1800" dirty="0">
                <a:solidFill>
                  <a:srgbClr val="FFFF00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类电容</a:t>
            </a:r>
            <a:r>
              <a:rPr lang="zh-CN" altLang="en-US" sz="18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18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X7R</a:t>
            </a:r>
            <a:r>
              <a:rPr lang="zh-CN" altLang="en-US" sz="18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X5R</a:t>
            </a:r>
            <a:r>
              <a:rPr lang="zh-CN" altLang="en-US" sz="18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容量随电压变化大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20005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C3EED4B-1DB8-42DF-AB3D-4A4CD9DC29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D1D71751-E5CE-4A9E-BAE8-5682FA3F805B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常用电容直流偏压特性（村田）</a:t>
            </a:r>
            <a:endParaRPr lang="en-US" altLang="zh-CN" sz="36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797C526-257A-4F2B-BC0B-1CB85C7AA101}"/>
              </a:ext>
            </a:extLst>
          </p:cNvPr>
          <p:cNvSpPr txBox="1"/>
          <p:nvPr/>
        </p:nvSpPr>
        <p:spPr>
          <a:xfrm>
            <a:off x="1846310" y="127265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FFFF00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II</a:t>
            </a:r>
            <a:r>
              <a:rPr lang="zh-CN" altLang="zh-CN" sz="1800" dirty="0">
                <a:solidFill>
                  <a:srgbClr val="FFFF00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类电容</a:t>
            </a:r>
            <a:r>
              <a:rPr lang="zh-CN" altLang="en-US" sz="18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18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X7R</a:t>
            </a:r>
            <a:r>
              <a:rPr lang="zh-CN" altLang="en-US" sz="18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X5R</a:t>
            </a:r>
            <a:r>
              <a:rPr lang="zh-CN" altLang="en-US" sz="18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容量随电压变化大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3B3F733-3D30-4E34-8BA0-D4725D5B28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6484" y="1858920"/>
            <a:ext cx="2285557" cy="1743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78554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C3EED4B-1DB8-42DF-AB3D-4A4CD9DC29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D1D71751-E5CE-4A9E-BAE8-5682FA3F805B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常用电容直流偏压特性（村田）</a:t>
            </a:r>
            <a:endParaRPr lang="en-US" altLang="zh-CN" sz="36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797C526-257A-4F2B-BC0B-1CB85C7AA101}"/>
              </a:ext>
            </a:extLst>
          </p:cNvPr>
          <p:cNvSpPr txBox="1"/>
          <p:nvPr/>
        </p:nvSpPr>
        <p:spPr>
          <a:xfrm>
            <a:off x="1846310" y="127265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FFFF00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II</a:t>
            </a:r>
            <a:r>
              <a:rPr lang="zh-CN" altLang="zh-CN" sz="1800" dirty="0">
                <a:solidFill>
                  <a:srgbClr val="FFFF00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类电容</a:t>
            </a:r>
            <a:r>
              <a:rPr lang="zh-CN" altLang="en-US" sz="18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18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X7R</a:t>
            </a:r>
            <a:r>
              <a:rPr lang="zh-CN" altLang="en-US" sz="18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X5R</a:t>
            </a:r>
            <a:r>
              <a:rPr lang="zh-CN" altLang="en-US" sz="18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容量随电压变化大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3B3F733-3D30-4E34-8BA0-D4725D5B28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6484" y="1858920"/>
            <a:ext cx="2285557" cy="1743402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D089BB8B-4CB1-400A-B1F0-4AA51CD30968}"/>
              </a:ext>
            </a:extLst>
          </p:cNvPr>
          <p:cNvSpPr txBox="1"/>
          <p:nvPr/>
        </p:nvSpPr>
        <p:spPr>
          <a:xfrm>
            <a:off x="2428875" y="1929884"/>
            <a:ext cx="151447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47uF-X5R-6.3V-0805</a:t>
            </a:r>
            <a:endParaRPr lang="en-US" altLang="zh-CN" sz="800" b="1" dirty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692924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C3EED4B-1DB8-42DF-AB3D-4A4CD9DC29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D1D71751-E5CE-4A9E-BAE8-5682FA3F805B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常用电容直流偏压特性（村田）</a:t>
            </a:r>
            <a:endParaRPr lang="en-US" altLang="zh-CN" sz="36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797C526-257A-4F2B-BC0B-1CB85C7AA101}"/>
              </a:ext>
            </a:extLst>
          </p:cNvPr>
          <p:cNvSpPr txBox="1"/>
          <p:nvPr/>
        </p:nvSpPr>
        <p:spPr>
          <a:xfrm>
            <a:off x="1846310" y="127265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FFFF00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II</a:t>
            </a:r>
            <a:r>
              <a:rPr lang="zh-CN" altLang="zh-CN" sz="1800" dirty="0">
                <a:solidFill>
                  <a:srgbClr val="FFFF00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类电容</a:t>
            </a:r>
            <a:r>
              <a:rPr lang="zh-CN" altLang="en-US" sz="18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18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X7R</a:t>
            </a:r>
            <a:r>
              <a:rPr lang="zh-CN" altLang="en-US" sz="18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X5R</a:t>
            </a:r>
            <a:r>
              <a:rPr lang="zh-CN" altLang="en-US" sz="18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容量随电压变化大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3B3F733-3D30-4E34-8BA0-D4725D5B28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6484" y="1858920"/>
            <a:ext cx="2285557" cy="1743402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D089BB8B-4CB1-400A-B1F0-4AA51CD30968}"/>
              </a:ext>
            </a:extLst>
          </p:cNvPr>
          <p:cNvSpPr txBox="1"/>
          <p:nvPr/>
        </p:nvSpPr>
        <p:spPr>
          <a:xfrm>
            <a:off x="2428875" y="1929884"/>
            <a:ext cx="151447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47uF-X5R-6.3V-0805</a:t>
            </a:r>
            <a:endParaRPr lang="en-US" altLang="zh-CN" sz="800" b="1" dirty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E4DE4DB-BBE0-4C5D-87F8-EF2FDF015C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6496" y="1858920"/>
            <a:ext cx="2285557" cy="1759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8522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C3EED4B-1DB8-42DF-AB3D-4A4CD9DC29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D1D71751-E5CE-4A9E-BAE8-5682FA3F805B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常用电容直流偏压特性（村田）</a:t>
            </a:r>
            <a:endParaRPr lang="en-US" altLang="zh-CN" sz="36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797C526-257A-4F2B-BC0B-1CB85C7AA101}"/>
              </a:ext>
            </a:extLst>
          </p:cNvPr>
          <p:cNvSpPr txBox="1"/>
          <p:nvPr/>
        </p:nvSpPr>
        <p:spPr>
          <a:xfrm>
            <a:off x="1846310" y="127265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FFFF00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II</a:t>
            </a:r>
            <a:r>
              <a:rPr lang="zh-CN" altLang="zh-CN" sz="1800" dirty="0">
                <a:solidFill>
                  <a:srgbClr val="FFFF00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类电容</a:t>
            </a:r>
            <a:r>
              <a:rPr lang="zh-CN" altLang="en-US" sz="18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18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X7R</a:t>
            </a:r>
            <a:r>
              <a:rPr lang="zh-CN" altLang="en-US" sz="18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X5R</a:t>
            </a:r>
            <a:r>
              <a:rPr lang="zh-CN" altLang="en-US" sz="18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容量随电压变化大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3B3F733-3D30-4E34-8BA0-D4725D5B28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6484" y="1858920"/>
            <a:ext cx="2285557" cy="1743402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D089BB8B-4CB1-400A-B1F0-4AA51CD30968}"/>
              </a:ext>
            </a:extLst>
          </p:cNvPr>
          <p:cNvSpPr txBox="1"/>
          <p:nvPr/>
        </p:nvSpPr>
        <p:spPr>
          <a:xfrm>
            <a:off x="2428875" y="1929884"/>
            <a:ext cx="151447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47uF-X5R-6.3V-0805</a:t>
            </a:r>
            <a:endParaRPr lang="en-US" altLang="zh-CN" sz="800" b="1" dirty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E4DE4DB-BBE0-4C5D-87F8-EF2FDF015C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6496" y="1858920"/>
            <a:ext cx="2285557" cy="1759386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24306080-4F11-4C25-993B-8865E8BEC739}"/>
              </a:ext>
            </a:extLst>
          </p:cNvPr>
          <p:cNvSpPr txBox="1"/>
          <p:nvPr/>
        </p:nvSpPr>
        <p:spPr>
          <a:xfrm>
            <a:off x="4872037" y="1921102"/>
            <a:ext cx="151447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10uF-X5R-10V-0603</a:t>
            </a:r>
            <a:endParaRPr lang="en-US" altLang="zh-CN" sz="800" b="1" dirty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3539446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C3EED4B-1DB8-42DF-AB3D-4A4CD9DC29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D1D71751-E5CE-4A9E-BAE8-5682FA3F805B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常用电容直流偏压特性（村田）</a:t>
            </a:r>
            <a:endParaRPr lang="en-US" altLang="zh-CN" sz="36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797C526-257A-4F2B-BC0B-1CB85C7AA101}"/>
              </a:ext>
            </a:extLst>
          </p:cNvPr>
          <p:cNvSpPr txBox="1"/>
          <p:nvPr/>
        </p:nvSpPr>
        <p:spPr>
          <a:xfrm>
            <a:off x="1846310" y="127265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FFFF00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II</a:t>
            </a:r>
            <a:r>
              <a:rPr lang="zh-CN" altLang="zh-CN" sz="1800" dirty="0">
                <a:solidFill>
                  <a:srgbClr val="FFFF00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类电容</a:t>
            </a:r>
            <a:r>
              <a:rPr lang="zh-CN" altLang="en-US" sz="18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18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X7R</a:t>
            </a:r>
            <a:r>
              <a:rPr lang="zh-CN" altLang="en-US" sz="18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X5R</a:t>
            </a:r>
            <a:r>
              <a:rPr lang="zh-CN" altLang="en-US" sz="18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容量随电压变化大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3B3F733-3D30-4E34-8BA0-D4725D5B28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6484" y="1858920"/>
            <a:ext cx="2285557" cy="1743402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D089BB8B-4CB1-400A-B1F0-4AA51CD30968}"/>
              </a:ext>
            </a:extLst>
          </p:cNvPr>
          <p:cNvSpPr txBox="1"/>
          <p:nvPr/>
        </p:nvSpPr>
        <p:spPr>
          <a:xfrm>
            <a:off x="2428875" y="1929884"/>
            <a:ext cx="151447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47uF-X5R-6.3V-0805</a:t>
            </a:r>
            <a:endParaRPr lang="en-US" altLang="zh-CN" sz="800" b="1" dirty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E4DE4DB-BBE0-4C5D-87F8-EF2FDF015C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6496" y="1858920"/>
            <a:ext cx="2285557" cy="1759386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24306080-4F11-4C25-993B-8865E8BEC739}"/>
              </a:ext>
            </a:extLst>
          </p:cNvPr>
          <p:cNvSpPr txBox="1"/>
          <p:nvPr/>
        </p:nvSpPr>
        <p:spPr>
          <a:xfrm>
            <a:off x="4872037" y="1921102"/>
            <a:ext cx="151447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10uF-X5R-10V-0603</a:t>
            </a:r>
            <a:endParaRPr lang="en-US" altLang="zh-CN" sz="800" b="1" dirty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07B0A955-AC19-472F-B08F-3BD0111F65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3543" y="1858920"/>
            <a:ext cx="2285557" cy="1759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69634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C3EED4B-1DB8-42DF-AB3D-4A4CD9DC29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D1D71751-E5CE-4A9E-BAE8-5682FA3F805B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常用电容直流偏压特性（村田）</a:t>
            </a:r>
            <a:endParaRPr lang="en-US" altLang="zh-CN" sz="36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797C526-257A-4F2B-BC0B-1CB85C7AA101}"/>
              </a:ext>
            </a:extLst>
          </p:cNvPr>
          <p:cNvSpPr txBox="1"/>
          <p:nvPr/>
        </p:nvSpPr>
        <p:spPr>
          <a:xfrm>
            <a:off x="1846310" y="127265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FFFF00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II</a:t>
            </a:r>
            <a:r>
              <a:rPr lang="zh-CN" altLang="zh-CN" sz="1800" dirty="0">
                <a:solidFill>
                  <a:srgbClr val="FFFF00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类电容</a:t>
            </a:r>
            <a:r>
              <a:rPr lang="zh-CN" altLang="en-US" sz="18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18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X7R</a:t>
            </a:r>
            <a:r>
              <a:rPr lang="zh-CN" altLang="en-US" sz="18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X5R</a:t>
            </a:r>
            <a:r>
              <a:rPr lang="zh-CN" altLang="en-US" sz="18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容量随电压变化大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3B3F733-3D30-4E34-8BA0-D4725D5B28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6484" y="1858920"/>
            <a:ext cx="2285557" cy="1743402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D089BB8B-4CB1-400A-B1F0-4AA51CD30968}"/>
              </a:ext>
            </a:extLst>
          </p:cNvPr>
          <p:cNvSpPr txBox="1"/>
          <p:nvPr/>
        </p:nvSpPr>
        <p:spPr>
          <a:xfrm>
            <a:off x="2428875" y="1929884"/>
            <a:ext cx="151447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47uF-X5R-6.3V-0805</a:t>
            </a:r>
            <a:endParaRPr lang="en-US" altLang="zh-CN" sz="800" b="1" dirty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E4DE4DB-BBE0-4C5D-87F8-EF2FDF015C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6496" y="1858920"/>
            <a:ext cx="2285557" cy="1759386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24306080-4F11-4C25-993B-8865E8BEC739}"/>
              </a:ext>
            </a:extLst>
          </p:cNvPr>
          <p:cNvSpPr txBox="1"/>
          <p:nvPr/>
        </p:nvSpPr>
        <p:spPr>
          <a:xfrm>
            <a:off x="4872037" y="1921102"/>
            <a:ext cx="151447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10uF-X5R-10V-0603</a:t>
            </a:r>
            <a:endParaRPr lang="en-US" altLang="zh-CN" sz="800" b="1" dirty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07B0A955-AC19-472F-B08F-3BD0111F65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3543" y="1858920"/>
            <a:ext cx="2285557" cy="1759386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AF4FB648-1215-4FE3-8264-C0E1CE43B550}"/>
              </a:ext>
            </a:extLst>
          </p:cNvPr>
          <p:cNvSpPr txBox="1"/>
          <p:nvPr/>
        </p:nvSpPr>
        <p:spPr>
          <a:xfrm>
            <a:off x="7419083" y="1931372"/>
            <a:ext cx="151447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1uF-X7R-16V-0603</a:t>
            </a:r>
            <a:endParaRPr lang="en-US" altLang="zh-CN" sz="800" b="1" dirty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2079794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C3EED4B-1DB8-42DF-AB3D-4A4CD9DC29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D1D71751-E5CE-4A9E-BAE8-5682FA3F805B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常用电容直流偏压特性（村田）</a:t>
            </a:r>
            <a:endParaRPr lang="en-US" altLang="zh-CN" sz="36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797C526-257A-4F2B-BC0B-1CB85C7AA101}"/>
              </a:ext>
            </a:extLst>
          </p:cNvPr>
          <p:cNvSpPr txBox="1"/>
          <p:nvPr/>
        </p:nvSpPr>
        <p:spPr>
          <a:xfrm>
            <a:off x="1846310" y="127265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FFFF00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II</a:t>
            </a:r>
            <a:r>
              <a:rPr lang="zh-CN" altLang="zh-CN" sz="1800" dirty="0">
                <a:solidFill>
                  <a:srgbClr val="FFFF00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类电容</a:t>
            </a:r>
            <a:r>
              <a:rPr lang="zh-CN" altLang="en-US" sz="18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18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X7R</a:t>
            </a:r>
            <a:r>
              <a:rPr lang="zh-CN" altLang="en-US" sz="18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X5R</a:t>
            </a:r>
            <a:r>
              <a:rPr lang="zh-CN" altLang="en-US" sz="18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容量随电压变化大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3B3F733-3D30-4E34-8BA0-D4725D5B28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6484" y="1858920"/>
            <a:ext cx="2285557" cy="1743402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D089BB8B-4CB1-400A-B1F0-4AA51CD30968}"/>
              </a:ext>
            </a:extLst>
          </p:cNvPr>
          <p:cNvSpPr txBox="1"/>
          <p:nvPr/>
        </p:nvSpPr>
        <p:spPr>
          <a:xfrm>
            <a:off x="2428875" y="1929884"/>
            <a:ext cx="151447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47uF-X5R-6.3V-0805</a:t>
            </a:r>
            <a:endParaRPr lang="en-US" altLang="zh-CN" sz="800" b="1" dirty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E4DE4DB-BBE0-4C5D-87F8-EF2FDF015C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6496" y="1858920"/>
            <a:ext cx="2285557" cy="1759386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24306080-4F11-4C25-993B-8865E8BEC739}"/>
              </a:ext>
            </a:extLst>
          </p:cNvPr>
          <p:cNvSpPr txBox="1"/>
          <p:nvPr/>
        </p:nvSpPr>
        <p:spPr>
          <a:xfrm>
            <a:off x="4872037" y="1921102"/>
            <a:ext cx="151447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10uF-X5R-10V-0603</a:t>
            </a:r>
            <a:endParaRPr lang="en-US" altLang="zh-CN" sz="800" b="1" dirty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07B0A955-AC19-472F-B08F-3BD0111F65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3543" y="1858920"/>
            <a:ext cx="2285557" cy="1759386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AF4FB648-1215-4FE3-8264-C0E1CE43B550}"/>
              </a:ext>
            </a:extLst>
          </p:cNvPr>
          <p:cNvSpPr txBox="1"/>
          <p:nvPr/>
        </p:nvSpPr>
        <p:spPr>
          <a:xfrm>
            <a:off x="7419083" y="1931372"/>
            <a:ext cx="151447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1uF-X7R-16V-0603</a:t>
            </a:r>
            <a:endParaRPr lang="en-US" altLang="zh-CN" sz="800" b="1" dirty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F156CE71-0855-4DE1-AD0B-65CE3DBE75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6484" y="3868364"/>
            <a:ext cx="2285557" cy="1761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89160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C3EED4B-1DB8-42DF-AB3D-4A4CD9DC29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D1D71751-E5CE-4A9E-BAE8-5682FA3F805B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常用电容直流偏压特性（村田）</a:t>
            </a:r>
            <a:endParaRPr lang="en-US" altLang="zh-CN" sz="36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797C526-257A-4F2B-BC0B-1CB85C7AA101}"/>
              </a:ext>
            </a:extLst>
          </p:cNvPr>
          <p:cNvSpPr txBox="1"/>
          <p:nvPr/>
        </p:nvSpPr>
        <p:spPr>
          <a:xfrm>
            <a:off x="1846310" y="127265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FFFF00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II</a:t>
            </a:r>
            <a:r>
              <a:rPr lang="zh-CN" altLang="zh-CN" sz="1800" dirty="0">
                <a:solidFill>
                  <a:srgbClr val="FFFF00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类电容</a:t>
            </a:r>
            <a:r>
              <a:rPr lang="zh-CN" altLang="en-US" sz="18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18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X7R</a:t>
            </a:r>
            <a:r>
              <a:rPr lang="zh-CN" altLang="en-US" sz="18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X5R</a:t>
            </a:r>
            <a:r>
              <a:rPr lang="zh-CN" altLang="en-US" sz="18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容量随电压变化大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3B3F733-3D30-4E34-8BA0-D4725D5B28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6484" y="1858920"/>
            <a:ext cx="2285557" cy="1743402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D089BB8B-4CB1-400A-B1F0-4AA51CD30968}"/>
              </a:ext>
            </a:extLst>
          </p:cNvPr>
          <p:cNvSpPr txBox="1"/>
          <p:nvPr/>
        </p:nvSpPr>
        <p:spPr>
          <a:xfrm>
            <a:off x="2428875" y="1929884"/>
            <a:ext cx="151447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47uF-X5R-6.3V-0805</a:t>
            </a:r>
            <a:endParaRPr lang="en-US" altLang="zh-CN" sz="800" b="1" dirty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E4DE4DB-BBE0-4C5D-87F8-EF2FDF015C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6496" y="1858920"/>
            <a:ext cx="2285557" cy="1759386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24306080-4F11-4C25-993B-8865E8BEC739}"/>
              </a:ext>
            </a:extLst>
          </p:cNvPr>
          <p:cNvSpPr txBox="1"/>
          <p:nvPr/>
        </p:nvSpPr>
        <p:spPr>
          <a:xfrm>
            <a:off x="4872037" y="1921102"/>
            <a:ext cx="151447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10uF-X5R-10V-0603</a:t>
            </a:r>
            <a:endParaRPr lang="en-US" altLang="zh-CN" sz="800" b="1" dirty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07B0A955-AC19-472F-B08F-3BD0111F65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3543" y="1858920"/>
            <a:ext cx="2285557" cy="1759386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AF4FB648-1215-4FE3-8264-C0E1CE43B550}"/>
              </a:ext>
            </a:extLst>
          </p:cNvPr>
          <p:cNvSpPr txBox="1"/>
          <p:nvPr/>
        </p:nvSpPr>
        <p:spPr>
          <a:xfrm>
            <a:off x="7419083" y="1931372"/>
            <a:ext cx="151447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1uF-X7R-16V-0603</a:t>
            </a:r>
            <a:endParaRPr lang="en-US" altLang="zh-CN" sz="800" b="1" dirty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F156CE71-0855-4DE1-AD0B-65CE3DBE75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6484" y="3868364"/>
            <a:ext cx="2285557" cy="1761921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7DEB4E5C-4F55-48C5-8994-6B75FC48271B}"/>
              </a:ext>
            </a:extLst>
          </p:cNvPr>
          <p:cNvSpPr txBox="1"/>
          <p:nvPr/>
        </p:nvSpPr>
        <p:spPr>
          <a:xfrm>
            <a:off x="2428875" y="3915321"/>
            <a:ext cx="151447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100nF-X7R-16V-0603</a:t>
            </a:r>
            <a:endParaRPr lang="en-US" altLang="zh-CN" sz="800" b="1" dirty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556422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C3EED4B-1DB8-42DF-AB3D-4A4CD9DC29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D1D71751-E5CE-4A9E-BAE8-5682FA3F805B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常用电容直流偏压特性（村田）</a:t>
            </a:r>
            <a:endParaRPr lang="en-US" altLang="zh-CN" sz="36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797C526-257A-4F2B-BC0B-1CB85C7AA101}"/>
              </a:ext>
            </a:extLst>
          </p:cNvPr>
          <p:cNvSpPr txBox="1"/>
          <p:nvPr/>
        </p:nvSpPr>
        <p:spPr>
          <a:xfrm>
            <a:off x="1846310" y="127265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FFFF00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II</a:t>
            </a:r>
            <a:r>
              <a:rPr lang="zh-CN" altLang="zh-CN" sz="1800" dirty="0">
                <a:solidFill>
                  <a:srgbClr val="FFFF00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类电容</a:t>
            </a:r>
            <a:r>
              <a:rPr lang="zh-CN" altLang="en-US" sz="18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18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X7R</a:t>
            </a:r>
            <a:r>
              <a:rPr lang="zh-CN" altLang="en-US" sz="18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X5R</a:t>
            </a:r>
            <a:r>
              <a:rPr lang="zh-CN" altLang="en-US" sz="18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容量随电压变化大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3B3F733-3D30-4E34-8BA0-D4725D5B28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6484" y="1858920"/>
            <a:ext cx="2285557" cy="1743402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D089BB8B-4CB1-400A-B1F0-4AA51CD30968}"/>
              </a:ext>
            </a:extLst>
          </p:cNvPr>
          <p:cNvSpPr txBox="1"/>
          <p:nvPr/>
        </p:nvSpPr>
        <p:spPr>
          <a:xfrm>
            <a:off x="2428875" y="1929884"/>
            <a:ext cx="151447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47uF-X5R-6.3V-0805</a:t>
            </a:r>
            <a:endParaRPr lang="en-US" altLang="zh-CN" sz="800" b="1" dirty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E4DE4DB-BBE0-4C5D-87F8-EF2FDF015C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6496" y="1858920"/>
            <a:ext cx="2285557" cy="1759386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24306080-4F11-4C25-993B-8865E8BEC739}"/>
              </a:ext>
            </a:extLst>
          </p:cNvPr>
          <p:cNvSpPr txBox="1"/>
          <p:nvPr/>
        </p:nvSpPr>
        <p:spPr>
          <a:xfrm>
            <a:off x="4872037" y="1921102"/>
            <a:ext cx="151447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10uF-X5R-10V-0603</a:t>
            </a:r>
            <a:endParaRPr lang="en-US" altLang="zh-CN" sz="800" b="1" dirty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07B0A955-AC19-472F-B08F-3BD0111F65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3543" y="1858920"/>
            <a:ext cx="2285557" cy="1759386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AF4FB648-1215-4FE3-8264-C0E1CE43B550}"/>
              </a:ext>
            </a:extLst>
          </p:cNvPr>
          <p:cNvSpPr txBox="1"/>
          <p:nvPr/>
        </p:nvSpPr>
        <p:spPr>
          <a:xfrm>
            <a:off x="7419083" y="1931372"/>
            <a:ext cx="151447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1uF-X7R-16V-0603</a:t>
            </a:r>
            <a:endParaRPr lang="en-US" altLang="zh-CN" sz="800" b="1" dirty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F156CE71-0855-4DE1-AD0B-65CE3DBE75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6484" y="3868364"/>
            <a:ext cx="2285557" cy="1761921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7DEB4E5C-4F55-48C5-8994-6B75FC48271B}"/>
              </a:ext>
            </a:extLst>
          </p:cNvPr>
          <p:cNvSpPr txBox="1"/>
          <p:nvPr/>
        </p:nvSpPr>
        <p:spPr>
          <a:xfrm>
            <a:off x="2428875" y="3915321"/>
            <a:ext cx="151447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100nF-X7R-16V-0603</a:t>
            </a:r>
            <a:endParaRPr lang="en-US" altLang="zh-CN" sz="800" b="1" dirty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DE375A73-9E86-4D1F-96CD-181130F0A1C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6496" y="3868364"/>
            <a:ext cx="2285557" cy="1759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88517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C3EED4B-1DB8-42DF-AB3D-4A4CD9DC29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D1D71751-E5CE-4A9E-BAE8-5682FA3F805B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常用电容直流偏压特性（村田）</a:t>
            </a:r>
            <a:endParaRPr lang="en-US" altLang="zh-CN" sz="36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797C526-257A-4F2B-BC0B-1CB85C7AA101}"/>
              </a:ext>
            </a:extLst>
          </p:cNvPr>
          <p:cNvSpPr txBox="1"/>
          <p:nvPr/>
        </p:nvSpPr>
        <p:spPr>
          <a:xfrm>
            <a:off x="1846310" y="127265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FFFF00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II</a:t>
            </a:r>
            <a:r>
              <a:rPr lang="zh-CN" altLang="zh-CN" sz="1800" dirty="0">
                <a:solidFill>
                  <a:srgbClr val="FFFF00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类电容</a:t>
            </a:r>
            <a:r>
              <a:rPr lang="zh-CN" altLang="en-US" sz="18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18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X7R</a:t>
            </a:r>
            <a:r>
              <a:rPr lang="zh-CN" altLang="en-US" sz="18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X5R</a:t>
            </a:r>
            <a:r>
              <a:rPr lang="zh-CN" altLang="en-US" sz="18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容量随电压变化大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3B3F733-3D30-4E34-8BA0-D4725D5B28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6484" y="1858920"/>
            <a:ext cx="2285557" cy="1743402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D089BB8B-4CB1-400A-B1F0-4AA51CD30968}"/>
              </a:ext>
            </a:extLst>
          </p:cNvPr>
          <p:cNvSpPr txBox="1"/>
          <p:nvPr/>
        </p:nvSpPr>
        <p:spPr>
          <a:xfrm>
            <a:off x="2428875" y="1929884"/>
            <a:ext cx="151447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47uF-X5R-6.3V-0805</a:t>
            </a:r>
            <a:endParaRPr lang="en-US" altLang="zh-CN" sz="800" b="1" dirty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E4DE4DB-BBE0-4C5D-87F8-EF2FDF015C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6496" y="1858920"/>
            <a:ext cx="2285557" cy="1759386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24306080-4F11-4C25-993B-8865E8BEC739}"/>
              </a:ext>
            </a:extLst>
          </p:cNvPr>
          <p:cNvSpPr txBox="1"/>
          <p:nvPr/>
        </p:nvSpPr>
        <p:spPr>
          <a:xfrm>
            <a:off x="4872037" y="1921102"/>
            <a:ext cx="151447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10uF-X5R-10V-0603</a:t>
            </a:r>
            <a:endParaRPr lang="en-US" altLang="zh-CN" sz="800" b="1" dirty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07B0A955-AC19-472F-B08F-3BD0111F65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3543" y="1858920"/>
            <a:ext cx="2285557" cy="1759386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AF4FB648-1215-4FE3-8264-C0E1CE43B550}"/>
              </a:ext>
            </a:extLst>
          </p:cNvPr>
          <p:cNvSpPr txBox="1"/>
          <p:nvPr/>
        </p:nvSpPr>
        <p:spPr>
          <a:xfrm>
            <a:off x="7419083" y="1931372"/>
            <a:ext cx="151447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1uF-X7R-16V-0603</a:t>
            </a:r>
            <a:endParaRPr lang="en-US" altLang="zh-CN" sz="800" b="1" dirty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F156CE71-0855-4DE1-AD0B-65CE3DBE75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6484" y="3868364"/>
            <a:ext cx="2285557" cy="1761921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7DEB4E5C-4F55-48C5-8994-6B75FC48271B}"/>
              </a:ext>
            </a:extLst>
          </p:cNvPr>
          <p:cNvSpPr txBox="1"/>
          <p:nvPr/>
        </p:nvSpPr>
        <p:spPr>
          <a:xfrm>
            <a:off x="2428875" y="3915321"/>
            <a:ext cx="151447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100nF-X7R-16V-0603</a:t>
            </a:r>
            <a:endParaRPr lang="en-US" altLang="zh-CN" sz="800" b="1" dirty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DE375A73-9E86-4D1F-96CD-181130F0A1C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6496" y="3868364"/>
            <a:ext cx="2285557" cy="1759386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97152793-9C33-4F11-8A10-2F85FBAA4624}"/>
              </a:ext>
            </a:extLst>
          </p:cNvPr>
          <p:cNvSpPr txBox="1"/>
          <p:nvPr/>
        </p:nvSpPr>
        <p:spPr>
          <a:xfrm>
            <a:off x="4872036" y="3943688"/>
            <a:ext cx="151447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10nF-X7R-50V-0603</a:t>
            </a:r>
            <a:endParaRPr lang="en-US" altLang="zh-CN" sz="800" b="1" dirty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6234649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C3EED4B-1DB8-42DF-AB3D-4A4CD9DC29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5" name="矩形 4" descr="段落内容1">
            <a:extLst>
              <a:ext uri="{FF2B5EF4-FFF2-40B4-BE49-F238E27FC236}">
                <a16:creationId xmlns:a16="http://schemas.microsoft.com/office/drawing/2014/main" id="{D1D71751-E5CE-4A9E-BAE8-5682FA3F805B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常用电容直流偏压特性（村田）</a:t>
            </a:r>
            <a:endParaRPr lang="en-US" altLang="zh-CN" sz="36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797C526-257A-4F2B-BC0B-1CB85C7AA101}"/>
              </a:ext>
            </a:extLst>
          </p:cNvPr>
          <p:cNvSpPr txBox="1"/>
          <p:nvPr/>
        </p:nvSpPr>
        <p:spPr>
          <a:xfrm>
            <a:off x="1846310" y="127265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FFFF00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II</a:t>
            </a:r>
            <a:r>
              <a:rPr lang="zh-CN" altLang="zh-CN" sz="1800" dirty="0">
                <a:solidFill>
                  <a:srgbClr val="FFFF00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类电容</a:t>
            </a:r>
            <a:r>
              <a:rPr lang="zh-CN" altLang="en-US" sz="18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18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X7R</a:t>
            </a:r>
            <a:r>
              <a:rPr lang="zh-CN" altLang="en-US" sz="18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X5R</a:t>
            </a:r>
            <a:r>
              <a:rPr lang="zh-CN" altLang="en-US" sz="18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容量随电压变化大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3B3F733-3D30-4E34-8BA0-D4725D5B28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6484" y="1858920"/>
            <a:ext cx="2285557" cy="1743402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D089BB8B-4CB1-400A-B1F0-4AA51CD30968}"/>
              </a:ext>
            </a:extLst>
          </p:cNvPr>
          <p:cNvSpPr txBox="1"/>
          <p:nvPr/>
        </p:nvSpPr>
        <p:spPr>
          <a:xfrm>
            <a:off x="2428875" y="1929884"/>
            <a:ext cx="151447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47uF-X5R-6.3V-0805</a:t>
            </a:r>
            <a:endParaRPr lang="en-US" altLang="zh-CN" sz="800" b="1" dirty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E4DE4DB-BBE0-4C5D-87F8-EF2FDF015C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6496" y="1858920"/>
            <a:ext cx="2285557" cy="1759386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24306080-4F11-4C25-993B-8865E8BEC739}"/>
              </a:ext>
            </a:extLst>
          </p:cNvPr>
          <p:cNvSpPr txBox="1"/>
          <p:nvPr/>
        </p:nvSpPr>
        <p:spPr>
          <a:xfrm>
            <a:off x="4872037" y="1921102"/>
            <a:ext cx="151447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10uF-X5R-10V-0603</a:t>
            </a:r>
            <a:endParaRPr lang="en-US" altLang="zh-CN" sz="800" b="1" dirty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07B0A955-AC19-472F-B08F-3BD0111F65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3543" y="1858920"/>
            <a:ext cx="2285557" cy="1759386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AF4FB648-1215-4FE3-8264-C0E1CE43B550}"/>
              </a:ext>
            </a:extLst>
          </p:cNvPr>
          <p:cNvSpPr txBox="1"/>
          <p:nvPr/>
        </p:nvSpPr>
        <p:spPr>
          <a:xfrm>
            <a:off x="7419083" y="1931372"/>
            <a:ext cx="151447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1uF-X7R-16V-0603</a:t>
            </a:r>
            <a:endParaRPr lang="en-US" altLang="zh-CN" sz="800" b="1" dirty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F156CE71-0855-4DE1-AD0B-65CE3DBE75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6484" y="3868364"/>
            <a:ext cx="2285557" cy="1761921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7DEB4E5C-4F55-48C5-8994-6B75FC48271B}"/>
              </a:ext>
            </a:extLst>
          </p:cNvPr>
          <p:cNvSpPr txBox="1"/>
          <p:nvPr/>
        </p:nvSpPr>
        <p:spPr>
          <a:xfrm>
            <a:off x="2428875" y="3915321"/>
            <a:ext cx="151447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100nF-X7R-16V-0603</a:t>
            </a:r>
            <a:endParaRPr lang="en-US" altLang="zh-CN" sz="800" b="1" dirty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DE375A73-9E86-4D1F-96CD-181130F0A1C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6496" y="3868364"/>
            <a:ext cx="2285557" cy="1759386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97152793-9C33-4F11-8A10-2F85FBAA4624}"/>
              </a:ext>
            </a:extLst>
          </p:cNvPr>
          <p:cNvSpPr txBox="1"/>
          <p:nvPr/>
        </p:nvSpPr>
        <p:spPr>
          <a:xfrm>
            <a:off x="4872036" y="3943688"/>
            <a:ext cx="151447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10nF-X7R-50V-0603</a:t>
            </a:r>
            <a:endParaRPr lang="en-US" altLang="zh-CN" sz="800" b="1" dirty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EA2486D-0225-4A09-88C1-3848B6E4BD17}"/>
              </a:ext>
            </a:extLst>
          </p:cNvPr>
          <p:cNvSpPr txBox="1"/>
          <p:nvPr/>
        </p:nvSpPr>
        <p:spPr>
          <a:xfrm>
            <a:off x="6853236" y="3797800"/>
            <a:ext cx="4767264" cy="1787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8600">
              <a:lnSpc>
                <a:spcPct val="150000"/>
              </a:lnSpc>
              <a:spcAft>
                <a:spcPts val="0"/>
              </a:spcAft>
            </a:pPr>
            <a:r>
              <a:rPr lang="en-US" altLang="zh-CN" sz="1500" kern="100" dirty="0">
                <a:solidFill>
                  <a:srgbClr val="FFFF00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1500" kern="1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、</a:t>
            </a:r>
            <a:r>
              <a:rPr lang="zh-CN" altLang="zh-CN" sz="1500" kern="1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容量越大，偏压特性就越明显，随电压升高，容量不断下降。</a:t>
            </a:r>
            <a:endParaRPr lang="zh-CN" altLang="zh-CN" sz="1500" kern="100" dirty="0">
              <a:solidFill>
                <a:schemeClr val="bg1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28600">
              <a:lnSpc>
                <a:spcPct val="150000"/>
              </a:lnSpc>
              <a:spcAft>
                <a:spcPts val="0"/>
              </a:spcAft>
            </a:pPr>
            <a:r>
              <a:rPr lang="en-US" altLang="zh-CN" sz="1500" kern="100" dirty="0">
                <a:solidFill>
                  <a:srgbClr val="FFFF00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1500" kern="1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、</a:t>
            </a:r>
            <a:r>
              <a:rPr lang="zh-CN" altLang="zh-CN" sz="1500" kern="1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同容量，不同耐压电容，在相同电压下，电容量下降差不多，不存在高耐压值的电容容量下降得少。</a:t>
            </a:r>
            <a:endParaRPr lang="zh-CN" altLang="zh-CN" sz="1500" kern="100" dirty="0">
              <a:solidFill>
                <a:schemeClr val="bg1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28600">
              <a:lnSpc>
                <a:spcPct val="150000"/>
              </a:lnSpc>
              <a:spcAft>
                <a:spcPts val="0"/>
              </a:spcAft>
            </a:pPr>
            <a:r>
              <a:rPr lang="en-US" altLang="zh-CN" sz="1500" kern="100" dirty="0">
                <a:solidFill>
                  <a:srgbClr val="FFFF00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1500" kern="1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、</a:t>
            </a:r>
            <a:r>
              <a:rPr lang="zh-CN" altLang="zh-CN" sz="1500" kern="10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同容量，同耐压下，封装大的电容容量下降得慢。</a:t>
            </a:r>
            <a:endParaRPr lang="zh-CN" altLang="zh-CN" sz="1500" kern="100" dirty="0">
              <a:solidFill>
                <a:schemeClr val="bg1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679369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820657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 descr="段落内容1">
            <a:extLst>
              <a:ext uri="{FF2B5EF4-FFF2-40B4-BE49-F238E27FC236}">
                <a16:creationId xmlns:a16="http://schemas.microsoft.com/office/drawing/2014/main" id="{9233276C-72AC-4FCD-9B9D-550F37A3DBB0}"/>
              </a:ext>
            </a:extLst>
          </p:cNvPr>
          <p:cNvSpPr/>
          <p:nvPr/>
        </p:nvSpPr>
        <p:spPr>
          <a:xfrm>
            <a:off x="4875232" y="766152"/>
            <a:ext cx="2441536" cy="1015663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60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en-US" altLang="zh-CN" sz="6000" spc="30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4282228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 descr="段落内容1">
            <a:extLst>
              <a:ext uri="{FF2B5EF4-FFF2-40B4-BE49-F238E27FC236}">
                <a16:creationId xmlns:a16="http://schemas.microsoft.com/office/drawing/2014/main" id="{9233276C-72AC-4FCD-9B9D-550F37A3DBB0}"/>
              </a:ext>
            </a:extLst>
          </p:cNvPr>
          <p:cNvSpPr/>
          <p:nvPr/>
        </p:nvSpPr>
        <p:spPr>
          <a:xfrm>
            <a:off x="4875232" y="766152"/>
            <a:ext cx="2441536" cy="1015663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60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en-US" altLang="zh-CN" sz="6000" spc="30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 descr="段落内容1">
            <a:extLst>
              <a:ext uri="{FF2B5EF4-FFF2-40B4-BE49-F238E27FC236}">
                <a16:creationId xmlns:a16="http://schemas.microsoft.com/office/drawing/2014/main" id="{65AFD12F-D739-419D-B95B-BD6B13D9C2D8}"/>
              </a:ext>
            </a:extLst>
          </p:cNvPr>
          <p:cNvSpPr/>
          <p:nvPr/>
        </p:nvSpPr>
        <p:spPr>
          <a:xfrm>
            <a:off x="2102220" y="2451393"/>
            <a:ext cx="7987560" cy="1955215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MLCC</a:t>
            </a:r>
            <a:r>
              <a:rPr lang="zh-CN" altLang="en-US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陶瓷电容的直流偏压特性很明显，容量越大随电压升高容量下降越快，设计电路时必须考虑。</a:t>
            </a:r>
            <a:endParaRPr lang="en-US" altLang="zh-CN" sz="28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7675679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FC10841C-AEE5-4A99-8DD5-735864B684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4450" y="1187450"/>
            <a:ext cx="4483100" cy="448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734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1277</TotalTime>
  <Words>1082</Words>
  <Application>Microsoft Office PowerPoint</Application>
  <PresentationFormat>宽屏</PresentationFormat>
  <Paragraphs>175</Paragraphs>
  <Slides>54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54</vt:i4>
      </vt:variant>
    </vt:vector>
  </HeadingPairs>
  <TitlesOfParts>
    <vt:vector size="61" baseType="lpstr">
      <vt:lpstr>等线</vt:lpstr>
      <vt:lpstr>等线 Light</vt:lpstr>
      <vt:lpstr>微软雅黑</vt:lpstr>
      <vt:lpstr>微软雅黑 Light</vt:lpstr>
      <vt:lpstr>Arial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wuxiaochuan</dc:creator>
  <cp:lastModifiedBy>wuxiaochuan</cp:lastModifiedBy>
  <cp:revision>118</cp:revision>
  <dcterms:created xsi:type="dcterms:W3CDTF">2020-06-10T12:57:46Z</dcterms:created>
  <dcterms:modified xsi:type="dcterms:W3CDTF">2020-07-11T03:58:15Z</dcterms:modified>
</cp:coreProperties>
</file>