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  <p:sldId id="256" r:id="rId5"/>
    <p:sldId id="267" r:id="rId6"/>
    <p:sldId id="269" r:id="rId7"/>
    <p:sldId id="270" r:id="rId8"/>
    <p:sldId id="273" r:id="rId9"/>
    <p:sldId id="274" r:id="rId10"/>
    <p:sldId id="275" r:id="rId11"/>
    <p:sldId id="276" r:id="rId12"/>
    <p:sldId id="272" r:id="rId13"/>
    <p:sldId id="271" r:id="rId14"/>
    <p:sldId id="258" r:id="rId15"/>
    <p:sldId id="259" r:id="rId16"/>
    <p:sldId id="260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DFDF"/>
    <a:srgbClr val="D6D6D6"/>
    <a:srgbClr val="D4D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194" y="10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85AD11-E36D-98B5-DCD5-98883B4BF6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38337F0-F690-36C9-EE38-36949F8B95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D3A64B-7AF7-6211-349A-943EB12C3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07502-65B2-4CB6-8CCC-650E52E87B3F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A69186-5C4A-F4F3-4C9D-664F078C9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928534-ED20-876C-C9EA-385CCC352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267FB-4103-4112-8AE0-AA03347AA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5894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22538E-E119-F650-9D3D-3390BF25B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038D07-4D16-5B77-A0C3-41FB93ACA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54380C-48DE-2D3F-6881-A065151D9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07502-65B2-4CB6-8CCC-650E52E87B3F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957F0F-7AC2-4F44-73BD-0FA904FAC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A38E11-9D04-BA44-6BFF-2ABF733DF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267FB-4103-4112-8AE0-AA03347AA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932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F53B9D-5900-0B16-7BE0-70EA2BCFA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470AF7A-1383-6F6B-A51D-8A4537101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392CFF-59C3-BE2B-54AD-7679DCABB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07502-65B2-4CB6-8CCC-650E52E87B3F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BAF884-24EE-B46E-BAFD-95B13CB7E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2F5ED5-0510-1559-0835-0474A9410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267FB-4103-4112-8AE0-AA03347AA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300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DD8190-AB8D-BE92-DD24-0B71275AE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8825AD-0AEE-70D5-2A78-CA4F9A07BB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8ABFD94-7D8F-2D81-D5B5-3055C7F8F2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51D3AB-5BDA-D6C5-FC17-864F24AF1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07502-65B2-4CB6-8CCC-650E52E87B3F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3B2EBB-1192-2D27-90C6-E78F4D735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5AF8C3-FC0F-7F54-2A77-9B1D89820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267FB-4103-4112-8AE0-AA03347AA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5017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063F25-0C05-17B1-0FC8-A07A45020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79412F-11C4-84D0-23C8-2A29230C7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730D7ED-C803-F3F1-7A2A-79369070DB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CE5FA85-AD13-995F-72D2-38B627336C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D09659A-7422-F05A-AF16-148F382B14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D43D381-A1A9-DA38-1AAF-666BEC856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07502-65B2-4CB6-8CCC-650E52E87B3F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FE979D5-5779-9492-E546-DB17B8724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60CCF26-38C3-5C14-6869-9A431ED82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267FB-4103-4112-8AE0-AA03347AA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073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A7C46B-A2C8-72E4-FA02-4A14CAC6A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AA1D7CD-E7A0-AEDB-B3CB-123A90FBB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07502-65B2-4CB6-8CCC-650E52E87B3F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9FD6A16-7FE3-E5F2-BD58-DFAF5765F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5A7D4BA-A216-5FD9-6354-F0F34EFBE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267FB-4103-4112-8AE0-AA03347AA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8753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FD6F1E5-022F-4DFF-86E1-A6FDCB0DA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07502-65B2-4CB6-8CCC-650E52E87B3F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A4491CA-640C-FE35-40EA-40EA68F7F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E8B197-0D09-21CB-4263-5870C9664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267FB-4103-4112-8AE0-AA03347AA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4190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8B280E-0ED8-0C69-5D5A-53167BD62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2A51E4-8098-64F9-0DA9-66C82715E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BC1D255-69F3-DF2D-7EF5-47ABA7AEF0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67CFA0-69EA-981F-09FB-CB5695D0E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07502-65B2-4CB6-8CCC-650E52E87B3F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CE4E0F-7A53-FF1C-A960-3EC75D9C1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0411DC0-0B67-39A9-2317-A5334975E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267FB-4103-4112-8AE0-AA03347AA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2247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964DA3-C7AC-B09F-18CC-9F1277EDC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77C34A5-CA9E-3B13-F7C4-DC39017939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1A4D78B-8B1E-34D5-C2BE-740C69388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1F5FF3D-B6C2-E1BE-DDA0-79BF7A698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07502-65B2-4CB6-8CCC-650E52E87B3F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E34EA9-BCCC-CB65-C44C-4B4BCE88C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31181E-91A8-D892-28D4-E0EF85DE5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267FB-4103-4112-8AE0-AA03347AA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4884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3580EE-683F-FA39-530F-1130DB212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721E253-C417-9E33-D23E-1E5FB761D5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277026-178F-593B-CEE0-22745467A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07502-65B2-4CB6-8CCC-650E52E87B3F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812B36-CC33-8F23-A0D1-5F2250C9B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29727-AF29-B163-DD67-DEE9DB555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267FB-4103-4112-8AE0-AA03347AA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3023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5B893E7-F464-97E0-FC00-7010D7104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BB2B676-5158-9BBD-4D65-DE08225933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B943B7-D4E2-9219-D169-2C5E0D866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07502-65B2-4CB6-8CCC-650E52E87B3F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3BEC73-25CB-6AD5-3CAD-BEFE5EBCB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EF17FC-9496-A70E-737C-D61C22A31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267FB-4103-4112-8AE0-AA03347AA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3653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C4F4A7F-2896-F0AD-1C13-07B76EF16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DA9600-4280-32BB-1FD3-00084A54C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3CBD32-753C-BC6A-484A-76A9E36C9F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07502-65B2-4CB6-8CCC-650E52E87B3F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425BD1-0094-5099-FBDF-B51EB6CB31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06298E-B734-99E7-1FBC-74E18C387C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B267FB-4103-4112-8AE0-AA03347AA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6816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bilibili.com/video/BV1vo4oeLEo6?t=377.8" TargetMode="Externa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BB2EFB-38C1-255E-7757-C7576025F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zh-CN" altLang="en-US" sz="6600" dirty="0">
                <a:latin typeface="黑体" panose="02010609060101010101" pitchFamily="49" charset="-122"/>
                <a:ea typeface="黑体" panose="02010609060101010101" pitchFamily="49" charset="-122"/>
              </a:rPr>
              <a:t>电路板</a:t>
            </a:r>
            <a:r>
              <a:rPr lang="en-US" altLang="zh-CN" sz="6600" dirty="0">
                <a:latin typeface="黑体" panose="02010609060101010101" pitchFamily="49" charset="-122"/>
                <a:ea typeface="黑体" panose="02010609060101010101" pitchFamily="49" charset="-122"/>
              </a:rPr>
              <a:t>(PCB)</a:t>
            </a:r>
            <a:r>
              <a:rPr lang="zh-CN" altLang="en-US" sz="6600" dirty="0">
                <a:latin typeface="黑体" panose="02010609060101010101" pitchFamily="49" charset="-122"/>
                <a:ea typeface="黑体" panose="02010609060101010101" pitchFamily="49" charset="-122"/>
              </a:rPr>
              <a:t>设计指南</a:t>
            </a:r>
          </a:p>
        </p:txBody>
      </p:sp>
    </p:spTree>
    <p:extLst>
      <p:ext uri="{BB962C8B-B14F-4D97-AF65-F5344CB8AC3E}">
        <p14:creationId xmlns:p14="http://schemas.microsoft.com/office/powerpoint/2010/main" val="3325876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C519B-11DB-8EF4-597E-EAB96E90F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BB712B-FDCD-7D09-6F09-6FB64AB95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10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zh-CN" altLang="en-US" sz="6600" dirty="0">
                <a:latin typeface="黑体" panose="02010609060101010101" pitchFamily="49" charset="-122"/>
                <a:ea typeface="黑体" panose="02010609060101010101" pitchFamily="49" charset="-122"/>
              </a:rPr>
              <a:t>目录</a:t>
            </a:r>
          </a:p>
        </p:txBody>
      </p:sp>
      <p:sp>
        <p:nvSpPr>
          <p:cNvPr id="32" name="标题 1">
            <a:extLst>
              <a:ext uri="{FF2B5EF4-FFF2-40B4-BE49-F238E27FC236}">
                <a16:creationId xmlns:a16="http://schemas.microsoft.com/office/drawing/2014/main" id="{969E1850-CA60-A9E5-337B-D70F91927B86}"/>
              </a:ext>
            </a:extLst>
          </p:cNvPr>
          <p:cNvSpPr txBox="1">
            <a:spLocks/>
          </p:cNvSpPr>
          <p:nvPr/>
        </p:nvSpPr>
        <p:spPr>
          <a:xfrm>
            <a:off x="838200" y="1652338"/>
            <a:ext cx="10515600" cy="4957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一、原理图设计实例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二、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PCB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基础知识 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三、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PCB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设计步骤和规范 </a:t>
            </a:r>
          </a:p>
        </p:txBody>
      </p:sp>
    </p:spTree>
    <p:extLst>
      <p:ext uri="{BB962C8B-B14F-4D97-AF65-F5344CB8AC3E}">
        <p14:creationId xmlns:p14="http://schemas.microsoft.com/office/powerpoint/2010/main" val="2581288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E59C8-9F4B-2EE3-36C5-6466342CB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2418E0-AC89-717B-3E8E-020ADD183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5" y="0"/>
            <a:ext cx="10788315" cy="818147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</a:rPr>
              <a:t>一、原理图设计实例</a:t>
            </a:r>
            <a:endParaRPr lang="zh-CN" altLang="en-US" sz="8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标题 1">
            <a:extLst>
              <a:ext uri="{FF2B5EF4-FFF2-40B4-BE49-F238E27FC236}">
                <a16:creationId xmlns:a16="http://schemas.microsoft.com/office/drawing/2014/main" id="{9A2786A6-09FB-6704-40E2-20E11E608833}"/>
              </a:ext>
            </a:extLst>
          </p:cNvPr>
          <p:cNvSpPr txBox="1">
            <a:spLocks/>
          </p:cNvSpPr>
          <p:nvPr/>
        </p:nvSpPr>
        <p:spPr>
          <a:xfrm>
            <a:off x="565485" y="950495"/>
            <a:ext cx="10515600" cy="4957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1.1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原理图设计流程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原理图的设计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1.3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原理图的编辑与调整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1.4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原理图的检查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1.5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原理图的报表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1.6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原理图的打印输出</a:t>
            </a:r>
          </a:p>
        </p:txBody>
      </p:sp>
    </p:spTree>
    <p:extLst>
      <p:ext uri="{BB962C8B-B14F-4D97-AF65-F5344CB8AC3E}">
        <p14:creationId xmlns:p14="http://schemas.microsoft.com/office/powerpoint/2010/main" val="3307879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图 1">
            <a:extLst>
              <a:ext uri="{FF2B5EF4-FFF2-40B4-BE49-F238E27FC236}">
                <a16:creationId xmlns:a16="http://schemas.microsoft.com/office/drawing/2014/main" id="{F401F956-2EBC-E79D-CF4C-C53400011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718" y="544508"/>
            <a:ext cx="8782610" cy="623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87FB510-6432-AA0C-F2A6-DF6EA9E6246E}"/>
              </a:ext>
            </a:extLst>
          </p:cNvPr>
          <p:cNvSpPr txBox="1"/>
          <p:nvPr/>
        </p:nvSpPr>
        <p:spPr>
          <a:xfrm>
            <a:off x="143435" y="0"/>
            <a:ext cx="6096000" cy="442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1.1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原理图设计流程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40637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338CF-36D5-698A-C82C-697C3A571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30F185A-4BEE-4D68-8BF0-F9038C679E54}"/>
              </a:ext>
            </a:extLst>
          </p:cNvPr>
          <p:cNvSpPr txBox="1"/>
          <p:nvPr/>
        </p:nvSpPr>
        <p:spPr>
          <a:xfrm>
            <a:off x="143435" y="0"/>
            <a:ext cx="6096000" cy="442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1.1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原理图设计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– 65W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车载充电器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AB70A0B-5971-FCEA-6A42-C3D6769F1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3369"/>
            <a:ext cx="12192000" cy="287079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1484507-64EF-6A5D-74AE-46DBFDEC4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7329" y="3591407"/>
            <a:ext cx="6804212" cy="326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763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9C917-9CE1-3C99-7C43-1D7D92A4A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FD12DFED-CFE0-FEC2-9D19-87DD8DCBAF98}"/>
              </a:ext>
            </a:extLst>
          </p:cNvPr>
          <p:cNvSpPr txBox="1"/>
          <p:nvPr/>
        </p:nvSpPr>
        <p:spPr>
          <a:xfrm>
            <a:off x="143435" y="0"/>
            <a:ext cx="6096000" cy="442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1.1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原理图报表 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F2505DC-5842-58DA-4826-6DFC3DD77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4620"/>
            <a:ext cx="12192000" cy="4903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186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25F56-94F4-EBDF-D8A5-27A60859C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568245-AC63-1F95-55D7-F5D555A7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5" y="0"/>
            <a:ext cx="10788315" cy="818147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</a:rPr>
              <a:t>二、</a:t>
            </a:r>
            <a:r>
              <a:rPr lang="en-US" altLang="zh-CN" sz="4000" dirty="0">
                <a:latin typeface="黑体" panose="02010609060101010101" pitchFamily="49" charset="-122"/>
                <a:ea typeface="黑体" panose="02010609060101010101" pitchFamily="49" charset="-122"/>
              </a:rPr>
              <a:t>PCB</a:t>
            </a:r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</a:rPr>
              <a:t>基础知识 </a:t>
            </a:r>
            <a:endParaRPr lang="zh-CN" altLang="en-US" sz="8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标题 1">
            <a:extLst>
              <a:ext uri="{FF2B5EF4-FFF2-40B4-BE49-F238E27FC236}">
                <a16:creationId xmlns:a16="http://schemas.microsoft.com/office/drawing/2014/main" id="{43EF7E8C-A4C3-837E-034B-4E7196663B62}"/>
              </a:ext>
            </a:extLst>
          </p:cNvPr>
          <p:cNvSpPr txBox="1">
            <a:spLocks/>
          </p:cNvSpPr>
          <p:nvPr/>
        </p:nvSpPr>
        <p:spPr>
          <a:xfrm>
            <a:off x="565485" y="950495"/>
            <a:ext cx="10515600" cy="4957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2.1 PCB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的结构组成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2.2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层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(Layer)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的概念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2.3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元件与封装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2.4 PCB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的生产工艺</a:t>
            </a:r>
          </a:p>
        </p:txBody>
      </p:sp>
    </p:spTree>
    <p:extLst>
      <p:ext uri="{BB962C8B-B14F-4D97-AF65-F5344CB8AC3E}">
        <p14:creationId xmlns:p14="http://schemas.microsoft.com/office/powerpoint/2010/main" val="2904409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801D-AF19-E8D7-51E4-4D7C1640B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1EC042B9-4364-6DC6-59F5-A4AFA68FC49F}"/>
              </a:ext>
            </a:extLst>
          </p:cNvPr>
          <p:cNvSpPr txBox="1"/>
          <p:nvPr/>
        </p:nvSpPr>
        <p:spPr>
          <a:xfrm>
            <a:off x="143435" y="0"/>
            <a:ext cx="6096000" cy="442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2.1 PCB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的结构组成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1889250-E6C3-3ADE-4818-5362203AD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5" y="619125"/>
            <a:ext cx="11525250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498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060EA-3ACB-1082-93F0-30D71FF84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A58EF01D-78B8-2331-137D-9D2F7E2EA71D}"/>
              </a:ext>
            </a:extLst>
          </p:cNvPr>
          <p:cNvSpPr txBox="1"/>
          <p:nvPr/>
        </p:nvSpPr>
        <p:spPr>
          <a:xfrm>
            <a:off x="143435" y="0"/>
            <a:ext cx="6096000" cy="442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2.1 PCB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的结构组成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7D74C2F-8D95-65C1-3690-EA3E3622E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5162" y="3392515"/>
            <a:ext cx="4796880" cy="3002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EFF6C19-E3C1-BB9A-9FF2-EA8B99C61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37" y="462714"/>
            <a:ext cx="11058525" cy="305752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7FAC8C0-CE5A-E6BC-F951-EC739C9B83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435" y="3520239"/>
            <a:ext cx="6448425" cy="33147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756C4A9-214B-3B29-C514-87BA0F48AA8F}"/>
              </a:ext>
            </a:extLst>
          </p:cNvPr>
          <p:cNvSpPr txBox="1"/>
          <p:nvPr/>
        </p:nvSpPr>
        <p:spPr>
          <a:xfrm>
            <a:off x="8026136" y="6488668"/>
            <a:ext cx="3215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800" b="1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多层电路板及盲孔</a:t>
            </a:r>
            <a:r>
              <a:rPr lang="en-US" altLang="zh-CN" sz="1800" b="1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1800" b="1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埋孔结构</a:t>
            </a:r>
            <a:endParaRPr lang="zh-CN" altLang="en-US" sz="1800" b="1" i="0" u="none" strike="noStrike" baseline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D62C4DE-8E9E-CB00-F1F3-3340C6E24B60}"/>
              </a:ext>
            </a:extLst>
          </p:cNvPr>
          <p:cNvSpPr/>
          <p:nvPr/>
        </p:nvSpPr>
        <p:spPr>
          <a:xfrm>
            <a:off x="10881232" y="6159453"/>
            <a:ext cx="911760" cy="209639"/>
          </a:xfrm>
          <a:prstGeom prst="rect">
            <a:avLst/>
          </a:prstGeom>
          <a:gradFill>
            <a:gsLst>
              <a:gs pos="3000">
                <a:srgbClr val="D6D6D6"/>
              </a:gs>
              <a:gs pos="100000">
                <a:srgbClr val="DFDFDF"/>
              </a:gs>
            </a:gsLst>
            <a:lin ang="5400000" scaled="1"/>
          </a:gra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BB5F21C-484E-2BD0-F84F-866492D822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9712" y="2738437"/>
            <a:ext cx="1552575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301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BCAE7-B3D9-4A6B-4B61-F3C095748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0BD7BB5-7EED-5FEC-909E-FED60A164C30}"/>
              </a:ext>
            </a:extLst>
          </p:cNvPr>
          <p:cNvSpPr txBox="1"/>
          <p:nvPr/>
        </p:nvSpPr>
        <p:spPr>
          <a:xfrm>
            <a:off x="143435" y="0"/>
            <a:ext cx="6096000" cy="442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2.2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层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(Layer)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的概念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EFA6AD2-49D1-624F-4BF7-82087CD67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34" y="1867277"/>
            <a:ext cx="3612359" cy="321344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D6F1D1D-55C5-F728-BF4D-8CEAF5C9B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9294" y="1961575"/>
            <a:ext cx="3513411" cy="2976066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A1A14270-1F25-EC7A-287E-C090BBD08027}"/>
              </a:ext>
            </a:extLst>
          </p:cNvPr>
          <p:cNvSpPr/>
          <p:nvPr/>
        </p:nvSpPr>
        <p:spPr>
          <a:xfrm>
            <a:off x="143435" y="1181101"/>
            <a:ext cx="7476565" cy="17017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BEC73D8-CF12-CAB9-C13A-2A670C51E1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4025" y="2517120"/>
            <a:ext cx="2958559" cy="2976066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3D9BE969-F0D2-AB3C-4869-859727C9C3E7}"/>
              </a:ext>
            </a:extLst>
          </p:cNvPr>
          <p:cNvSpPr txBox="1"/>
          <p:nvPr/>
        </p:nvSpPr>
        <p:spPr>
          <a:xfrm>
            <a:off x="3312839" y="1315611"/>
            <a:ext cx="13589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i="0" u="none" strike="noStrike" baseline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导电层</a:t>
            </a:r>
            <a:endParaRPr lang="zh-CN" altLang="en-US" sz="28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0801AE3-0EB8-6103-910C-9164D4E32E18}"/>
              </a:ext>
            </a:extLst>
          </p:cNvPr>
          <p:cNvSpPr txBox="1"/>
          <p:nvPr/>
        </p:nvSpPr>
        <p:spPr>
          <a:xfrm>
            <a:off x="9034201" y="1695886"/>
            <a:ext cx="20420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i="0" u="none" strike="noStrike" baseline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绘图辅助层</a:t>
            </a:r>
            <a:endParaRPr lang="zh-CN" altLang="en-US" sz="28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61141D3-7411-5AE9-91A2-DC0C2C2A4FF0}"/>
              </a:ext>
            </a:extLst>
          </p:cNvPr>
          <p:cNvSpPr/>
          <p:nvPr/>
        </p:nvSpPr>
        <p:spPr>
          <a:xfrm>
            <a:off x="8575959" y="1181101"/>
            <a:ext cx="2958559" cy="46100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DC0FD52-3587-B4D4-A9D6-F82FFFDDE287}"/>
              </a:ext>
            </a:extLst>
          </p:cNvPr>
          <p:cNvSpPr/>
          <p:nvPr/>
        </p:nvSpPr>
        <p:spPr>
          <a:xfrm>
            <a:off x="143435" y="2972900"/>
            <a:ext cx="7476565" cy="28182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921913A-6A3B-B956-3176-7A3C0B53733A}"/>
              </a:ext>
            </a:extLst>
          </p:cNvPr>
          <p:cNvSpPr txBox="1"/>
          <p:nvPr/>
        </p:nvSpPr>
        <p:spPr>
          <a:xfrm>
            <a:off x="2699073" y="5121940"/>
            <a:ext cx="25864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i="0" u="none" strike="noStrike" baseline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掩模</a:t>
            </a:r>
            <a:r>
              <a:rPr lang="en-US" altLang="zh-CN" sz="2800" b="0" i="0" u="none" strike="noStrike" baseline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Mask)</a:t>
            </a:r>
            <a:r>
              <a:rPr lang="zh-CN" altLang="en-US" sz="2800" b="0" i="0" u="none" strike="noStrike" baseline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层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869534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EBC52-6DE2-8CEF-A29D-E23943FCA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8288655-D333-A696-2442-228FD6241357}"/>
              </a:ext>
            </a:extLst>
          </p:cNvPr>
          <p:cNvSpPr txBox="1"/>
          <p:nvPr/>
        </p:nvSpPr>
        <p:spPr>
          <a:xfrm>
            <a:off x="143435" y="0"/>
            <a:ext cx="6096000" cy="442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2.4 PCB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的生产工艺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" name="文本框 29">
            <a:hlinkClick r:id="rId2"/>
            <a:extLst>
              <a:ext uri="{FF2B5EF4-FFF2-40B4-BE49-F238E27FC236}">
                <a16:creationId xmlns:a16="http://schemas.microsoft.com/office/drawing/2014/main" id="{C7BDB8BB-69B5-1850-54DC-66808DE3966B}"/>
              </a:ext>
            </a:extLst>
          </p:cNvPr>
          <p:cNvSpPr txBox="1"/>
          <p:nvPr/>
        </p:nvSpPr>
        <p:spPr>
          <a:xfrm>
            <a:off x="1600200" y="5556071"/>
            <a:ext cx="8356600" cy="641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https://www.bilibili.com/video/BV1vo4oeLEo6/?spm_id_from=333.337.search-card.all.click&amp;vd_source=8ef8b89605a6e1406f56ea44e69d8a9b</a:t>
            </a:r>
          </a:p>
        </p:txBody>
      </p:sp>
      <p:sp>
        <p:nvSpPr>
          <p:cNvPr id="11264" name="AutoShape 4">
            <a:extLst>
              <a:ext uri="{FF2B5EF4-FFF2-40B4-BE49-F238E27FC236}">
                <a16:creationId xmlns:a16="http://schemas.microsoft.com/office/drawing/2014/main" id="{A88CC8A9-A067-8559-4E66-390A0FD4E7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6400" y="-34512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265" name="AutoShape 5">
            <a:extLst>
              <a:ext uri="{FF2B5EF4-FFF2-40B4-BE49-F238E27FC236}">
                <a16:creationId xmlns:a16="http://schemas.microsoft.com/office/drawing/2014/main" id="{45601D3C-18AB-DAD9-5E1F-C3D00123AA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6400" y="-25987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267" name="AutoShape 6">
            <a:extLst>
              <a:ext uri="{FF2B5EF4-FFF2-40B4-BE49-F238E27FC236}">
                <a16:creationId xmlns:a16="http://schemas.microsoft.com/office/drawing/2014/main" id="{D5111C80-D713-191D-AC6A-4539F95941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6400" y="-6175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268" name="AutoShape 7">
            <a:extLst>
              <a:ext uri="{FF2B5EF4-FFF2-40B4-BE49-F238E27FC236}">
                <a16:creationId xmlns:a16="http://schemas.microsoft.com/office/drawing/2014/main" id="{5C94F68D-C6B5-A0B6-DEEB-D8679B89E7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6400" y="539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269" name="AutoShape 8">
            <a:extLst>
              <a:ext uri="{FF2B5EF4-FFF2-40B4-BE49-F238E27FC236}">
                <a16:creationId xmlns:a16="http://schemas.microsoft.com/office/drawing/2014/main" id="{0609A3C9-71B3-02AE-2EC3-DC495028AD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6400" y="14700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1274" name="Picture 10">
            <a:extLst>
              <a:ext uri="{FF2B5EF4-FFF2-40B4-BE49-F238E27FC236}">
                <a16:creationId xmlns:a16="http://schemas.microsoft.com/office/drawing/2014/main" id="{A1AACEC1-B2EF-A4DB-AC2B-99311D07E2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031" y="1069975"/>
            <a:ext cx="10109938" cy="406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71343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90EC2-F1F0-5B34-E688-3E2609630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0FB154-73C0-7079-A255-3714A90C5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5" y="0"/>
            <a:ext cx="10788315" cy="818147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</a:rPr>
              <a:t>三、</a:t>
            </a:r>
            <a:r>
              <a:rPr lang="en-US" altLang="zh-CN" sz="4000" dirty="0">
                <a:latin typeface="黑体" panose="02010609060101010101" pitchFamily="49" charset="-122"/>
                <a:ea typeface="黑体" panose="02010609060101010101" pitchFamily="49" charset="-122"/>
              </a:rPr>
              <a:t>PCB</a:t>
            </a:r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</a:rPr>
              <a:t>设计的步骤和规范</a:t>
            </a:r>
            <a:endParaRPr lang="zh-CN" altLang="en-US" sz="8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标题 1">
            <a:extLst>
              <a:ext uri="{FF2B5EF4-FFF2-40B4-BE49-F238E27FC236}">
                <a16:creationId xmlns:a16="http://schemas.microsoft.com/office/drawing/2014/main" id="{95521705-BB0A-00C9-CFA1-389938A439E3}"/>
              </a:ext>
            </a:extLst>
          </p:cNvPr>
          <p:cNvSpPr txBox="1">
            <a:spLocks/>
          </p:cNvSpPr>
          <p:nvPr/>
        </p:nvSpPr>
        <p:spPr>
          <a:xfrm>
            <a:off x="565485" y="950495"/>
            <a:ext cx="10515600" cy="4957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3.1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准备工作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3.2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原理图绘制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完成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3.3 PCB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布局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3.4 PCB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布线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3.5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收尾工作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(DRC)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8352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56A29-F326-B022-160B-AAFAD5293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7DC8CD-B562-7C5B-9FD2-B146DB076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5" y="0"/>
            <a:ext cx="10788315" cy="818147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altLang="zh-CN" sz="4000" dirty="0">
                <a:latin typeface="黑体" panose="02010609060101010101" pitchFamily="49" charset="-122"/>
                <a:ea typeface="黑体" panose="02010609060101010101" pitchFamily="49" charset="-122"/>
              </a:rPr>
              <a:t>3.1 </a:t>
            </a:r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</a:rPr>
              <a:t>准备工作</a:t>
            </a:r>
            <a:endParaRPr lang="en-US" altLang="zh-CN" sz="4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标题 1">
            <a:extLst>
              <a:ext uri="{FF2B5EF4-FFF2-40B4-BE49-F238E27FC236}">
                <a16:creationId xmlns:a16="http://schemas.microsoft.com/office/drawing/2014/main" id="{421B65C0-72A9-C456-4CFB-626A67FE9BF8}"/>
              </a:ext>
            </a:extLst>
          </p:cNvPr>
          <p:cNvSpPr txBox="1">
            <a:spLocks/>
          </p:cNvSpPr>
          <p:nvPr/>
        </p:nvSpPr>
        <p:spPr>
          <a:xfrm>
            <a:off x="565485" y="818147"/>
            <a:ext cx="10515600" cy="10948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确定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outline,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及确定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PCB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的板框大小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过孔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以及设置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PCB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层数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-2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FC584E5-BBED-E8C5-6AF7-726C4E062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545" y="1913020"/>
            <a:ext cx="9490910" cy="464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1767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980A2-BE0C-11DA-64C3-57E737B71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FA5C6684-3631-4248-45F8-61A94E236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"/>
            <a:ext cx="12193160" cy="6428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352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20C9C-C3D9-9876-A5C2-3DD66C311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0747BCD3-0CC4-DD99-CD12-811E22F7DC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797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23600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8278E-A327-A368-C093-68CE96BF9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869F3170-E37D-1EF9-1E88-449D95621A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5663"/>
            <a:ext cx="12192000" cy="514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5536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3436</TotalTime>
  <Words>249</Words>
  <Application>Microsoft Office PowerPoint</Application>
  <PresentationFormat>宽屏</PresentationFormat>
  <Paragraphs>37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等线</vt:lpstr>
      <vt:lpstr>等线 Light</vt:lpstr>
      <vt:lpstr>黑体</vt:lpstr>
      <vt:lpstr>Arial</vt:lpstr>
      <vt:lpstr>Office 主题​​</vt:lpstr>
      <vt:lpstr>电路板(PCB)设计指南</vt:lpstr>
      <vt:lpstr>目录</vt:lpstr>
      <vt:lpstr>一、原理图设计实例</vt:lpstr>
      <vt:lpstr>PowerPoint 演示文稿</vt:lpstr>
      <vt:lpstr>PowerPoint 演示文稿</vt:lpstr>
      <vt:lpstr>PowerPoint 演示文稿</vt:lpstr>
      <vt:lpstr>二、PCB基础知识 </vt:lpstr>
      <vt:lpstr>PowerPoint 演示文稿</vt:lpstr>
      <vt:lpstr>PowerPoint 演示文稿</vt:lpstr>
      <vt:lpstr>PowerPoint 演示文稿</vt:lpstr>
      <vt:lpstr>PowerPoint 演示文稿</vt:lpstr>
      <vt:lpstr>三、PCB设计的步骤和规范</vt:lpstr>
      <vt:lpstr>3.1 准备工作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Tsz Loong</dc:creator>
  <cp:lastModifiedBy>子龙 钟</cp:lastModifiedBy>
  <cp:revision>54</cp:revision>
  <dcterms:created xsi:type="dcterms:W3CDTF">2025-11-15T02:20:46Z</dcterms:created>
  <dcterms:modified xsi:type="dcterms:W3CDTF">2025-11-19T15:11:11Z</dcterms:modified>
</cp:coreProperties>
</file>