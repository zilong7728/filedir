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2" r:id="rId3"/>
    <p:sldId id="303" r:id="rId4"/>
    <p:sldId id="304" r:id="rId5"/>
    <p:sldId id="305" r:id="rId6"/>
    <p:sldId id="306" r:id="rId7"/>
    <p:sldId id="307" r:id="rId8"/>
    <p:sldId id="309" r:id="rId9"/>
    <p:sldId id="313" r:id="rId10"/>
    <p:sldId id="312" r:id="rId11"/>
    <p:sldId id="310" r:id="rId12"/>
    <p:sldId id="315" r:id="rId13"/>
    <p:sldId id="314" r:id="rId14"/>
    <p:sldId id="316" r:id="rId15"/>
    <p:sldId id="318" r:id="rId16"/>
    <p:sldId id="317" r:id="rId17"/>
    <p:sldId id="320" r:id="rId18"/>
    <p:sldId id="319" r:id="rId19"/>
    <p:sldId id="325" r:id="rId20"/>
    <p:sldId id="326" r:id="rId21"/>
    <p:sldId id="327" r:id="rId22"/>
    <p:sldId id="328" r:id="rId23"/>
    <p:sldId id="330" r:id="rId24"/>
    <p:sldId id="329" r:id="rId25"/>
    <p:sldId id="331" r:id="rId26"/>
    <p:sldId id="332" r:id="rId27"/>
    <p:sldId id="333" r:id="rId28"/>
    <p:sldId id="336" r:id="rId29"/>
    <p:sldId id="335" r:id="rId30"/>
    <p:sldId id="337" r:id="rId31"/>
    <p:sldId id="338" r:id="rId32"/>
    <p:sldId id="334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6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F49D9A8-819D-4D22-A69B-6442C456B8B4}"/>
              </a:ext>
            </a:extLst>
          </p:cNvPr>
          <p:cNvSpPr/>
          <p:nvPr/>
        </p:nvSpPr>
        <p:spPr>
          <a:xfrm>
            <a:off x="372979" y="661737"/>
            <a:ext cx="5883442" cy="5233737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outerShdw blurRad="50800" dist="50800" dir="5400000" algn="ctr" rotWithShape="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1260835" y="1820868"/>
            <a:ext cx="9670330" cy="3216265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如何理解电容的</a:t>
            </a:r>
            <a:endParaRPr lang="en-US" altLang="zh-CN" sz="8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sz="115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阻抗</a:t>
            </a:r>
            <a:r>
              <a:rPr lang="en-US" altLang="zh-CN" sz="115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lang="zh-CN" altLang="en-US" sz="115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频率</a:t>
            </a:r>
            <a:r>
              <a:rPr lang="zh-CN" altLang="en-US" sz="8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曲线</a:t>
            </a:r>
            <a:endParaRPr lang="zh-CN" altLang="en-US" sz="287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0019A3-C8FC-4AA5-9F80-E442AE97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839" y="912901"/>
            <a:ext cx="6370322" cy="503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0019A3-C8FC-4AA5-9F80-E442AE97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839" y="912901"/>
            <a:ext cx="6370322" cy="5032198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949BE89D-B348-42F1-9232-29ADB3EF83AD}"/>
              </a:ext>
            </a:extLst>
          </p:cNvPr>
          <p:cNvSpPr/>
          <p:nvPr/>
        </p:nvSpPr>
        <p:spPr>
          <a:xfrm>
            <a:off x="7181406" y="5087044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endParaRPr lang="en-US" altLang="zh-CN" sz="2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932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0019A3-C8FC-4AA5-9F80-E442AE97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839" y="912901"/>
            <a:ext cx="6370322" cy="5032198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949BE89D-B348-42F1-9232-29ADB3EF83AD}"/>
              </a:ext>
            </a:extLst>
          </p:cNvPr>
          <p:cNvSpPr/>
          <p:nvPr/>
        </p:nvSpPr>
        <p:spPr>
          <a:xfrm>
            <a:off x="7181406" y="5087044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endParaRPr lang="en-US" altLang="zh-CN" sz="2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8EDF1002-D353-4A22-ABA1-022A199476A2}"/>
              </a:ext>
            </a:extLst>
          </p:cNvPr>
          <p:cNvSpPr/>
          <p:nvPr/>
        </p:nvSpPr>
        <p:spPr>
          <a:xfrm rot="16200000">
            <a:off x="2446778" y="1461772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阻抗</a:t>
            </a:r>
            <a:endParaRPr lang="en-US" altLang="zh-CN" sz="2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519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0019A3-C8FC-4AA5-9F80-E442AE97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839" y="912901"/>
            <a:ext cx="6370322" cy="5032198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949BE89D-B348-42F1-9232-29ADB3EF83AD}"/>
              </a:ext>
            </a:extLst>
          </p:cNvPr>
          <p:cNvSpPr/>
          <p:nvPr/>
        </p:nvSpPr>
        <p:spPr>
          <a:xfrm>
            <a:off x="7181406" y="5087044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endParaRPr lang="en-US" altLang="zh-CN" sz="2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8EDF1002-D353-4A22-ABA1-022A199476A2}"/>
              </a:ext>
            </a:extLst>
          </p:cNvPr>
          <p:cNvSpPr/>
          <p:nvPr/>
        </p:nvSpPr>
        <p:spPr>
          <a:xfrm rot="16200000">
            <a:off x="2446778" y="1461772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阻抗</a:t>
            </a:r>
            <a:endParaRPr lang="en-US" altLang="zh-CN" sz="2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7EC92A5-5700-4427-8B2F-1150A7EB4107}"/>
              </a:ext>
            </a:extLst>
          </p:cNvPr>
          <p:cNvSpPr/>
          <p:nvPr/>
        </p:nvSpPr>
        <p:spPr>
          <a:xfrm>
            <a:off x="6483927" y="4775200"/>
            <a:ext cx="120073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BC6E760-ADAC-4F5A-B38F-62B360F89948}"/>
              </a:ext>
            </a:extLst>
          </p:cNvPr>
          <p:cNvCxnSpPr>
            <a:cxnSpLocks/>
          </p:cNvCxnSpPr>
          <p:nvPr/>
        </p:nvCxnSpPr>
        <p:spPr>
          <a:xfrm flipH="1">
            <a:off x="3509818" y="4830620"/>
            <a:ext cx="2974110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 descr="段落内容1">
            <a:extLst>
              <a:ext uri="{FF2B5EF4-FFF2-40B4-BE49-F238E27FC236}">
                <a16:creationId xmlns:a16="http://schemas.microsoft.com/office/drawing/2014/main" id="{8A3091AF-14CD-41EA-A219-D248B5B8690F}"/>
              </a:ext>
            </a:extLst>
          </p:cNvPr>
          <p:cNvSpPr/>
          <p:nvPr/>
        </p:nvSpPr>
        <p:spPr>
          <a:xfrm>
            <a:off x="2910838" y="4386007"/>
            <a:ext cx="928121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</a:p>
        </p:txBody>
      </p:sp>
    </p:spTree>
    <p:extLst>
      <p:ext uri="{BB962C8B-B14F-4D97-AF65-F5344CB8AC3E}">
        <p14:creationId xmlns:p14="http://schemas.microsoft.com/office/powerpoint/2010/main" val="3321311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0019A3-C8FC-4AA5-9F80-E442AE97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839" y="912901"/>
            <a:ext cx="6370322" cy="5032198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949BE89D-B348-42F1-9232-29ADB3EF83AD}"/>
              </a:ext>
            </a:extLst>
          </p:cNvPr>
          <p:cNvSpPr/>
          <p:nvPr/>
        </p:nvSpPr>
        <p:spPr>
          <a:xfrm>
            <a:off x="7181406" y="5087044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endParaRPr lang="en-US" altLang="zh-CN" sz="2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8EDF1002-D353-4A22-ABA1-022A199476A2}"/>
              </a:ext>
            </a:extLst>
          </p:cNvPr>
          <p:cNvSpPr/>
          <p:nvPr/>
        </p:nvSpPr>
        <p:spPr>
          <a:xfrm rot="16200000">
            <a:off x="2446778" y="1461772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阻抗</a:t>
            </a:r>
            <a:endParaRPr lang="en-US" altLang="zh-CN" sz="2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7EC92A5-5700-4427-8B2F-1150A7EB4107}"/>
              </a:ext>
            </a:extLst>
          </p:cNvPr>
          <p:cNvSpPr/>
          <p:nvPr/>
        </p:nvSpPr>
        <p:spPr>
          <a:xfrm>
            <a:off x="6483927" y="4775200"/>
            <a:ext cx="120073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BC6E760-ADAC-4F5A-B38F-62B360F89948}"/>
              </a:ext>
            </a:extLst>
          </p:cNvPr>
          <p:cNvCxnSpPr>
            <a:cxnSpLocks/>
          </p:cNvCxnSpPr>
          <p:nvPr/>
        </p:nvCxnSpPr>
        <p:spPr>
          <a:xfrm flipH="1">
            <a:off x="3509818" y="4830620"/>
            <a:ext cx="2974110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 descr="段落内容1">
            <a:extLst>
              <a:ext uri="{FF2B5EF4-FFF2-40B4-BE49-F238E27FC236}">
                <a16:creationId xmlns:a16="http://schemas.microsoft.com/office/drawing/2014/main" id="{8A3091AF-14CD-41EA-A219-D248B5B8690F}"/>
              </a:ext>
            </a:extLst>
          </p:cNvPr>
          <p:cNvSpPr/>
          <p:nvPr/>
        </p:nvSpPr>
        <p:spPr>
          <a:xfrm>
            <a:off x="2910838" y="4386007"/>
            <a:ext cx="928121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BB4C854-B861-48C7-ACEB-BF203FC538E7}"/>
              </a:ext>
            </a:extLst>
          </p:cNvPr>
          <p:cNvCxnSpPr>
            <a:cxnSpLocks/>
          </p:cNvCxnSpPr>
          <p:nvPr/>
        </p:nvCxnSpPr>
        <p:spPr>
          <a:xfrm>
            <a:off x="6543965" y="4830620"/>
            <a:ext cx="0" cy="471053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 descr="段落内容1">
            <a:extLst>
              <a:ext uri="{FF2B5EF4-FFF2-40B4-BE49-F238E27FC236}">
                <a16:creationId xmlns:a16="http://schemas.microsoft.com/office/drawing/2014/main" id="{1652629A-51F5-409C-9525-1F9EBBCA7269}"/>
              </a:ext>
            </a:extLst>
          </p:cNvPr>
          <p:cNvSpPr/>
          <p:nvPr/>
        </p:nvSpPr>
        <p:spPr>
          <a:xfrm>
            <a:off x="6543963" y="4698816"/>
            <a:ext cx="1537195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1982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487201" y="7970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电容都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不是理想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634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487201" y="7970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电容都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不是理想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04C368-7C6C-4420-B3D3-4C04532EF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63" y="1971675"/>
            <a:ext cx="6733587" cy="190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5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487201" y="7970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电容都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不是理想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04C368-7C6C-4420-B3D3-4C04532EF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63" y="1971675"/>
            <a:ext cx="6733587" cy="190573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D173D14-4C95-4B4E-9F2E-7489A120E56F}"/>
              </a:ext>
            </a:extLst>
          </p:cNvPr>
          <p:cNvSpPr/>
          <p:nvPr/>
        </p:nvSpPr>
        <p:spPr>
          <a:xfrm>
            <a:off x="3733800" y="2343150"/>
            <a:ext cx="1581150" cy="1162050"/>
          </a:xfrm>
          <a:prstGeom prst="rect">
            <a:avLst/>
          </a:prstGeom>
          <a:noFill/>
          <a:ln w="952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046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487201" y="7970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电容都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不是理想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04C368-7C6C-4420-B3D3-4C04532EF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63" y="1971675"/>
            <a:ext cx="6733587" cy="1905733"/>
          </a:xfrm>
          <a:prstGeom prst="rect">
            <a:avLst/>
          </a:prstGeom>
        </p:spPr>
      </p:pic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CD813B4E-85C3-4FFF-99F4-FEB769BEABE7}"/>
              </a:ext>
            </a:extLst>
          </p:cNvPr>
          <p:cNvSpPr/>
          <p:nvPr/>
        </p:nvSpPr>
        <p:spPr>
          <a:xfrm>
            <a:off x="4427323" y="3877408"/>
            <a:ext cx="5277475" cy="6625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：等效串联电阻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173D14-4C95-4B4E-9F2E-7489A120E56F}"/>
              </a:ext>
            </a:extLst>
          </p:cNvPr>
          <p:cNvSpPr/>
          <p:nvPr/>
        </p:nvSpPr>
        <p:spPr>
          <a:xfrm>
            <a:off x="3733800" y="2343150"/>
            <a:ext cx="1581150" cy="1162050"/>
          </a:xfrm>
          <a:prstGeom prst="rect">
            <a:avLst/>
          </a:prstGeom>
          <a:noFill/>
          <a:ln w="952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69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487201" y="7970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电容都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不是理想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04C368-7C6C-4420-B3D3-4C04532EF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63" y="1971675"/>
            <a:ext cx="6733587" cy="1905733"/>
          </a:xfrm>
          <a:prstGeom prst="rect">
            <a:avLst/>
          </a:prstGeom>
        </p:spPr>
      </p:pic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CD813B4E-85C3-4FFF-99F4-FEB769BEABE7}"/>
              </a:ext>
            </a:extLst>
          </p:cNvPr>
          <p:cNvSpPr/>
          <p:nvPr/>
        </p:nvSpPr>
        <p:spPr>
          <a:xfrm>
            <a:off x="4427323" y="3877408"/>
            <a:ext cx="5277475" cy="6625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：等效串联电阻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FBD3B3-C306-4F8F-A8F1-791CD0B843C8}"/>
              </a:ext>
            </a:extLst>
          </p:cNvPr>
          <p:cNvSpPr/>
          <p:nvPr/>
        </p:nvSpPr>
        <p:spPr>
          <a:xfrm>
            <a:off x="5484909" y="2343517"/>
            <a:ext cx="1954115" cy="1162050"/>
          </a:xfrm>
          <a:prstGeom prst="rect">
            <a:avLst/>
          </a:prstGeom>
          <a:noFill/>
          <a:ln w="952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04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487201" y="7970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电容都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不是理想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04C368-7C6C-4420-B3D3-4C04532EF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63" y="1971675"/>
            <a:ext cx="6733587" cy="190573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BFBD3B3-C306-4F8F-A8F1-791CD0B843C8}"/>
              </a:ext>
            </a:extLst>
          </p:cNvPr>
          <p:cNvSpPr/>
          <p:nvPr/>
        </p:nvSpPr>
        <p:spPr>
          <a:xfrm>
            <a:off x="5484909" y="2343517"/>
            <a:ext cx="1954115" cy="1162050"/>
          </a:xfrm>
          <a:prstGeom prst="rect">
            <a:avLst/>
          </a:prstGeom>
          <a:noFill/>
          <a:ln w="952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 descr="段落内容1">
            <a:extLst>
              <a:ext uri="{FF2B5EF4-FFF2-40B4-BE49-F238E27FC236}">
                <a16:creationId xmlns:a16="http://schemas.microsoft.com/office/drawing/2014/main" id="{09879743-A4CE-4D1A-A6A2-A56A9C301CBB}"/>
              </a:ext>
            </a:extLst>
          </p:cNvPr>
          <p:cNvSpPr/>
          <p:nvPr/>
        </p:nvSpPr>
        <p:spPr>
          <a:xfrm>
            <a:off x="4427323" y="3877408"/>
            <a:ext cx="5277475" cy="130888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：等效串联电阻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：等效串联电感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9724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487201" y="7970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电容都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不是理想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04C368-7C6C-4420-B3D3-4C04532EF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63" y="1971675"/>
            <a:ext cx="6733587" cy="1905733"/>
          </a:xfrm>
          <a:prstGeom prst="rect">
            <a:avLst/>
          </a:prstGeom>
        </p:spPr>
      </p:pic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CD813B4E-85C3-4FFF-99F4-FEB769BEABE7}"/>
              </a:ext>
            </a:extLst>
          </p:cNvPr>
          <p:cNvSpPr/>
          <p:nvPr/>
        </p:nvSpPr>
        <p:spPr>
          <a:xfrm>
            <a:off x="4427323" y="3877408"/>
            <a:ext cx="5277475" cy="130888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：等效串联电阻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：等效串联电感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EA5D22-670B-4DAD-8E75-F81A0759EABF}"/>
              </a:ext>
            </a:extLst>
          </p:cNvPr>
          <p:cNvSpPr/>
          <p:nvPr/>
        </p:nvSpPr>
        <p:spPr>
          <a:xfrm>
            <a:off x="7437535" y="2343517"/>
            <a:ext cx="1211165" cy="1162050"/>
          </a:xfrm>
          <a:prstGeom prst="rect">
            <a:avLst/>
          </a:prstGeom>
          <a:noFill/>
          <a:ln w="952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56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487201" y="7970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电容都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不是理想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04C368-7C6C-4420-B3D3-4C04532EF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63" y="1971675"/>
            <a:ext cx="6733587" cy="1905733"/>
          </a:xfrm>
          <a:prstGeom prst="rect">
            <a:avLst/>
          </a:prstGeom>
        </p:spPr>
      </p:pic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CD813B4E-85C3-4FFF-99F4-FEB769BEABE7}"/>
              </a:ext>
            </a:extLst>
          </p:cNvPr>
          <p:cNvSpPr/>
          <p:nvPr/>
        </p:nvSpPr>
        <p:spPr>
          <a:xfrm>
            <a:off x="4427323" y="3877408"/>
            <a:ext cx="5277475" cy="195521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：等效串联电阻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：等效串联电感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：理想电容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5E876C-D1DA-4B55-AD36-605C0C1FFCDA}"/>
              </a:ext>
            </a:extLst>
          </p:cNvPr>
          <p:cNvSpPr/>
          <p:nvPr/>
        </p:nvSpPr>
        <p:spPr>
          <a:xfrm>
            <a:off x="7437535" y="2343517"/>
            <a:ext cx="1211165" cy="1162050"/>
          </a:xfrm>
          <a:prstGeom prst="rect">
            <a:avLst/>
          </a:prstGeom>
          <a:noFill/>
          <a:ln w="952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468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B98E6BE-BB5A-4FB8-991C-473A7C7FC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486" y="626226"/>
            <a:ext cx="7251029" cy="131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25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B98E6BE-BB5A-4FB8-991C-473A7C7FC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486" y="626226"/>
            <a:ext cx="7251029" cy="13192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87C89E-352B-4F10-9ACF-35AC98025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485" y="2653925"/>
            <a:ext cx="7251029" cy="155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18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D4F818-6B33-4E5D-A225-06F6F94A0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866" y="339344"/>
            <a:ext cx="6790269" cy="487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02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D4F818-6B33-4E5D-A225-06F6F94A0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865" y="339344"/>
            <a:ext cx="6790269" cy="4878116"/>
          </a:xfrm>
          <a:prstGeom prst="rect">
            <a:avLst/>
          </a:prstGeom>
        </p:spPr>
      </p:pic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F746BE9F-01F1-4F53-930C-26ED913C063E}"/>
              </a:ext>
            </a:extLst>
          </p:cNvPr>
          <p:cNvSpPr/>
          <p:nvPr/>
        </p:nvSpPr>
        <p:spPr>
          <a:xfrm>
            <a:off x="3685538" y="1640540"/>
            <a:ext cx="928121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频率低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D14404-E52F-47C6-B4CE-E3938E9AE2A8}"/>
                  </a:ext>
                </a:extLst>
              </p:cNvPr>
              <p:cNvSpPr txBox="1"/>
              <p:nvPr/>
            </p:nvSpPr>
            <p:spPr>
              <a:xfrm>
                <a:off x="9982200" y="1455780"/>
                <a:ext cx="1634678" cy="1068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频率低：</a:t>
                </a:r>
                <a:endParaRPr lang="en-US" altLang="zh-CN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zh-CN" altLang="en-US" sz="3200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zh-CN" alt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L</a:t>
                </a:r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D14404-E52F-47C6-B4CE-E3938E9AE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1455780"/>
                <a:ext cx="1634678" cy="1068049"/>
              </a:xfrm>
              <a:prstGeom prst="rect">
                <a:avLst/>
              </a:prstGeom>
              <a:blipFill>
                <a:blip r:embed="rId3"/>
                <a:stretch>
                  <a:fillRect l="-11567" t="-8571" r="-13806" b="-12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23596D84-8A3E-4DE3-B580-32A7EB8F4FB1}"/>
              </a:ext>
            </a:extLst>
          </p:cNvPr>
          <p:cNvSpPr/>
          <p:nvPr/>
        </p:nvSpPr>
        <p:spPr>
          <a:xfrm>
            <a:off x="4176603" y="1026752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容性</a:t>
            </a:r>
            <a:endParaRPr lang="en-US" altLang="zh-CN" sz="2400" spc="3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 descr="段落内容1">
            <a:extLst>
              <a:ext uri="{FF2B5EF4-FFF2-40B4-BE49-F238E27FC236}">
                <a16:creationId xmlns:a16="http://schemas.microsoft.com/office/drawing/2014/main" id="{0BA3DBFB-ED8F-4099-8D69-AF8D3C35ED87}"/>
              </a:ext>
            </a:extLst>
          </p:cNvPr>
          <p:cNvSpPr/>
          <p:nvPr/>
        </p:nvSpPr>
        <p:spPr>
          <a:xfrm>
            <a:off x="3685537" y="3429000"/>
            <a:ext cx="1750063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电流超前电压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578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D4F818-6B33-4E5D-A225-06F6F94A0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866" y="339344"/>
            <a:ext cx="6790269" cy="4878116"/>
          </a:xfrm>
          <a:prstGeom prst="rect">
            <a:avLst/>
          </a:prstGeom>
        </p:spPr>
      </p:pic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F746BE9F-01F1-4F53-930C-26ED913C063E}"/>
              </a:ext>
            </a:extLst>
          </p:cNvPr>
          <p:cNvSpPr/>
          <p:nvPr/>
        </p:nvSpPr>
        <p:spPr>
          <a:xfrm>
            <a:off x="3685538" y="1640540"/>
            <a:ext cx="928121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频率低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D14404-E52F-47C6-B4CE-E3938E9AE2A8}"/>
                  </a:ext>
                </a:extLst>
              </p:cNvPr>
              <p:cNvSpPr txBox="1"/>
              <p:nvPr/>
            </p:nvSpPr>
            <p:spPr>
              <a:xfrm>
                <a:off x="9982200" y="1455780"/>
                <a:ext cx="1634678" cy="262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频率低：</a:t>
                </a:r>
                <a:endParaRPr lang="en-US" altLang="zh-CN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zh-CN" altLang="en-US" sz="3200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zh-CN" alt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L</a:t>
                </a:r>
              </a:p>
              <a:p>
                <a:endParaRPr lang="en-US" altLang="zh-CN" sz="3200" dirty="0">
                  <a:solidFill>
                    <a:schemeClr val="bg1"/>
                  </a:solidFill>
                </a:endParaRPr>
              </a:p>
              <a:p>
                <a:r>
                  <a:rPr lang="zh-CN" alt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频率高：</a:t>
                </a:r>
                <a:endParaRPr lang="en-US" altLang="zh-CN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zh-CN" altLang="en-US" sz="3200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zh-CN" alt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L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D14404-E52F-47C6-B4CE-E3938E9AE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1455780"/>
                <a:ext cx="1634678" cy="2628540"/>
              </a:xfrm>
              <a:prstGeom prst="rect">
                <a:avLst/>
              </a:prstGeom>
              <a:blipFill>
                <a:blip r:embed="rId3"/>
                <a:stretch>
                  <a:fillRect l="-11567" t="-3480" r="-13806" b="-46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23596D84-8A3E-4DE3-B580-32A7EB8F4FB1}"/>
              </a:ext>
            </a:extLst>
          </p:cNvPr>
          <p:cNvSpPr/>
          <p:nvPr/>
        </p:nvSpPr>
        <p:spPr>
          <a:xfrm>
            <a:off x="4176603" y="1026752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容性</a:t>
            </a:r>
            <a:endParaRPr lang="en-US" altLang="zh-CN" sz="2400" spc="3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B6BD8C5A-47D0-4E8A-BDE2-FD217298D736}"/>
              </a:ext>
            </a:extLst>
          </p:cNvPr>
          <p:cNvSpPr/>
          <p:nvPr/>
        </p:nvSpPr>
        <p:spPr>
          <a:xfrm>
            <a:off x="3685537" y="3429000"/>
            <a:ext cx="1750063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电流超前电压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段落内容1">
            <a:extLst>
              <a:ext uri="{FF2B5EF4-FFF2-40B4-BE49-F238E27FC236}">
                <a16:creationId xmlns:a16="http://schemas.microsoft.com/office/drawing/2014/main" id="{4470D87F-96EB-44D2-8ECC-3F0238E012B8}"/>
              </a:ext>
            </a:extLst>
          </p:cNvPr>
          <p:cNvSpPr/>
          <p:nvPr/>
        </p:nvSpPr>
        <p:spPr>
          <a:xfrm>
            <a:off x="8227903" y="1083913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感性</a:t>
            </a:r>
            <a:endParaRPr lang="en-US" altLang="zh-CN" sz="2400" spc="3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 descr="段落内容1">
            <a:extLst>
              <a:ext uri="{FF2B5EF4-FFF2-40B4-BE49-F238E27FC236}">
                <a16:creationId xmlns:a16="http://schemas.microsoft.com/office/drawing/2014/main" id="{AB5E48EA-5AF8-4601-BA25-0727FD389E58}"/>
              </a:ext>
            </a:extLst>
          </p:cNvPr>
          <p:cNvSpPr/>
          <p:nvPr/>
        </p:nvSpPr>
        <p:spPr>
          <a:xfrm>
            <a:off x="7892792" y="1640540"/>
            <a:ext cx="928121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频率高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 descr="段落内容1">
            <a:extLst>
              <a:ext uri="{FF2B5EF4-FFF2-40B4-BE49-F238E27FC236}">
                <a16:creationId xmlns:a16="http://schemas.microsoft.com/office/drawing/2014/main" id="{01A2D7C2-BB7A-400B-A79A-FB218A811F20}"/>
              </a:ext>
            </a:extLst>
          </p:cNvPr>
          <p:cNvSpPr/>
          <p:nvPr/>
        </p:nvSpPr>
        <p:spPr>
          <a:xfrm>
            <a:off x="7481820" y="3429000"/>
            <a:ext cx="1750063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电压超前电流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3355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D4F818-6B33-4E5D-A225-06F6F94A0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866" y="339344"/>
            <a:ext cx="6790269" cy="4878116"/>
          </a:xfrm>
          <a:prstGeom prst="rect">
            <a:avLst/>
          </a:prstGeom>
        </p:spPr>
      </p:pic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F746BE9F-01F1-4F53-930C-26ED913C063E}"/>
              </a:ext>
            </a:extLst>
          </p:cNvPr>
          <p:cNvSpPr/>
          <p:nvPr/>
        </p:nvSpPr>
        <p:spPr>
          <a:xfrm>
            <a:off x="3685538" y="1640540"/>
            <a:ext cx="928121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频率低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D14404-E52F-47C6-B4CE-E3938E9AE2A8}"/>
                  </a:ext>
                </a:extLst>
              </p:cNvPr>
              <p:cNvSpPr txBox="1"/>
              <p:nvPr/>
            </p:nvSpPr>
            <p:spPr>
              <a:xfrm>
                <a:off x="9982200" y="1455780"/>
                <a:ext cx="1634678" cy="262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频率低：</a:t>
                </a:r>
                <a:endParaRPr lang="en-US" altLang="zh-CN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zh-CN" altLang="en-US" sz="3200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zh-CN" alt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L</a:t>
                </a:r>
              </a:p>
              <a:p>
                <a:endParaRPr lang="en-US" altLang="zh-CN" sz="3200" dirty="0">
                  <a:solidFill>
                    <a:schemeClr val="bg1"/>
                  </a:solidFill>
                </a:endParaRPr>
              </a:p>
              <a:p>
                <a:r>
                  <a:rPr lang="zh-CN" alt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频率高：</a:t>
                </a:r>
                <a:endParaRPr lang="en-US" altLang="zh-CN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zh-CN" altLang="en-US" sz="3200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zh-CN" alt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L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D14404-E52F-47C6-B4CE-E3938E9AE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1455780"/>
                <a:ext cx="1634678" cy="2628540"/>
              </a:xfrm>
              <a:prstGeom prst="rect">
                <a:avLst/>
              </a:prstGeom>
              <a:blipFill>
                <a:blip r:embed="rId3"/>
                <a:stretch>
                  <a:fillRect l="-11567" t="-3480" r="-13806" b="-46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23596D84-8A3E-4DE3-B580-32A7EB8F4FB1}"/>
              </a:ext>
            </a:extLst>
          </p:cNvPr>
          <p:cNvSpPr/>
          <p:nvPr/>
        </p:nvSpPr>
        <p:spPr>
          <a:xfrm>
            <a:off x="4176603" y="1026752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容性</a:t>
            </a:r>
            <a:endParaRPr lang="en-US" altLang="zh-CN" sz="2400" spc="3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B6BD8C5A-47D0-4E8A-BDE2-FD217298D736}"/>
              </a:ext>
            </a:extLst>
          </p:cNvPr>
          <p:cNvSpPr/>
          <p:nvPr/>
        </p:nvSpPr>
        <p:spPr>
          <a:xfrm>
            <a:off x="3685537" y="3429000"/>
            <a:ext cx="1750063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电流超前电压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段落内容1">
            <a:extLst>
              <a:ext uri="{FF2B5EF4-FFF2-40B4-BE49-F238E27FC236}">
                <a16:creationId xmlns:a16="http://schemas.microsoft.com/office/drawing/2014/main" id="{4470D87F-96EB-44D2-8ECC-3F0238E012B8}"/>
              </a:ext>
            </a:extLst>
          </p:cNvPr>
          <p:cNvSpPr/>
          <p:nvPr/>
        </p:nvSpPr>
        <p:spPr>
          <a:xfrm>
            <a:off x="8227903" y="1083913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感性</a:t>
            </a:r>
            <a:endParaRPr lang="en-US" altLang="zh-CN" sz="2400" spc="3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 descr="段落内容1">
            <a:extLst>
              <a:ext uri="{FF2B5EF4-FFF2-40B4-BE49-F238E27FC236}">
                <a16:creationId xmlns:a16="http://schemas.microsoft.com/office/drawing/2014/main" id="{AB5E48EA-5AF8-4601-BA25-0727FD389E58}"/>
              </a:ext>
            </a:extLst>
          </p:cNvPr>
          <p:cNvSpPr/>
          <p:nvPr/>
        </p:nvSpPr>
        <p:spPr>
          <a:xfrm>
            <a:off x="7892792" y="1640540"/>
            <a:ext cx="928121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频率高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 descr="段落内容1">
            <a:extLst>
              <a:ext uri="{FF2B5EF4-FFF2-40B4-BE49-F238E27FC236}">
                <a16:creationId xmlns:a16="http://schemas.microsoft.com/office/drawing/2014/main" id="{01A2D7C2-BB7A-400B-A79A-FB218A811F20}"/>
              </a:ext>
            </a:extLst>
          </p:cNvPr>
          <p:cNvSpPr/>
          <p:nvPr/>
        </p:nvSpPr>
        <p:spPr>
          <a:xfrm>
            <a:off x="7741071" y="3429000"/>
            <a:ext cx="1750063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电压超前电流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715DD82-BCF0-40EC-A1C1-293AD8F472EF}"/>
              </a:ext>
            </a:extLst>
          </p:cNvPr>
          <p:cNvCxnSpPr>
            <a:cxnSpLocks/>
          </p:cNvCxnSpPr>
          <p:nvPr/>
        </p:nvCxnSpPr>
        <p:spPr>
          <a:xfrm>
            <a:off x="6975765" y="2108200"/>
            <a:ext cx="0" cy="1625600"/>
          </a:xfrm>
          <a:prstGeom prst="line">
            <a:avLst/>
          </a:prstGeom>
          <a:ln w="444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 descr="段落内容1">
            <a:extLst>
              <a:ext uri="{FF2B5EF4-FFF2-40B4-BE49-F238E27FC236}">
                <a16:creationId xmlns:a16="http://schemas.microsoft.com/office/drawing/2014/main" id="{4FAD3932-F680-4D50-81B8-C3C3E11AFB3D}"/>
              </a:ext>
            </a:extLst>
          </p:cNvPr>
          <p:cNvSpPr/>
          <p:nvPr/>
        </p:nvSpPr>
        <p:spPr>
          <a:xfrm>
            <a:off x="6580461" y="1083913"/>
            <a:ext cx="928121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</a:t>
            </a:r>
            <a:endParaRPr lang="en-US" altLang="zh-CN" sz="2400" spc="3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3029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0019A3-C8FC-4AA5-9F80-E442AE97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39" y="1631201"/>
            <a:ext cx="4551713" cy="3595599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如何看曲线选电容？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1537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0019A3-C8FC-4AA5-9F80-E442AE97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39" y="1631201"/>
            <a:ext cx="4551713" cy="3595599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如何看曲线选电容？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92CB7348-4A63-407B-9D24-2A69A3837017}"/>
              </a:ext>
            </a:extLst>
          </p:cNvPr>
          <p:cNvSpPr/>
          <p:nvPr/>
        </p:nvSpPr>
        <p:spPr>
          <a:xfrm>
            <a:off x="2626901" y="1851194"/>
            <a:ext cx="72175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阻抗值低的</a:t>
            </a:r>
            <a:endParaRPr lang="en-US" altLang="zh-CN" sz="44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22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0019A3-C8FC-4AA5-9F80-E442AE97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39" y="1631201"/>
            <a:ext cx="4551713" cy="3595599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如何看曲线选电容？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92CB7348-4A63-407B-9D24-2A69A3837017}"/>
              </a:ext>
            </a:extLst>
          </p:cNvPr>
          <p:cNvSpPr/>
          <p:nvPr/>
        </p:nvSpPr>
        <p:spPr>
          <a:xfrm>
            <a:off x="2626901" y="1851194"/>
            <a:ext cx="72175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阻抗值低的</a:t>
            </a:r>
            <a:endParaRPr lang="en-US" altLang="zh-CN" sz="44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03DB889D-B7BC-482B-B3CE-3B285979CD10}"/>
              </a:ext>
            </a:extLst>
          </p:cNvPr>
          <p:cNvSpPr/>
          <p:nvPr/>
        </p:nvSpPr>
        <p:spPr>
          <a:xfrm rot="5400000">
            <a:off x="6026149" y="2504078"/>
            <a:ext cx="419100" cy="673100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933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0019A3-C8FC-4AA5-9F80-E442AE975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39" y="1631201"/>
            <a:ext cx="4551713" cy="3595599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如何看曲线选电容？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92CB7348-4A63-407B-9D24-2A69A3837017}"/>
              </a:ext>
            </a:extLst>
          </p:cNvPr>
          <p:cNvSpPr/>
          <p:nvPr/>
        </p:nvSpPr>
        <p:spPr>
          <a:xfrm>
            <a:off x="2626901" y="1851194"/>
            <a:ext cx="72175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阻抗值低的</a:t>
            </a:r>
            <a:endParaRPr lang="en-US" altLang="zh-CN" sz="44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B5F57A-6942-49A0-9697-6E1DD15CBC7A}"/>
              </a:ext>
            </a:extLst>
          </p:cNvPr>
          <p:cNvSpPr/>
          <p:nvPr/>
        </p:nvSpPr>
        <p:spPr>
          <a:xfrm>
            <a:off x="5651500" y="3302000"/>
            <a:ext cx="1066800" cy="128905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364BFBC-3A5E-489A-A0D8-1192688A7CF7}"/>
              </a:ext>
            </a:extLst>
          </p:cNvPr>
          <p:cNvSpPr/>
          <p:nvPr/>
        </p:nvSpPr>
        <p:spPr>
          <a:xfrm rot="5400000">
            <a:off x="6026149" y="2504078"/>
            <a:ext cx="419100" cy="673100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51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常用陶瓷电容曲线？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3606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常用陶瓷电容曲线？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C77C7E-3EE1-4F8E-9B97-4BB5A035884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049" y="1507957"/>
            <a:ext cx="5803900" cy="3978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3390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去耦的两种方式？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668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去耦的两种方式？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85D8A225-9391-435B-8854-AFF592926475}"/>
              </a:ext>
            </a:extLst>
          </p:cNvPr>
          <p:cNvSpPr/>
          <p:nvPr/>
        </p:nvSpPr>
        <p:spPr>
          <a:xfrm>
            <a:off x="1087223" y="1507957"/>
            <a:ext cx="5211977" cy="6625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大小电容并联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10UF+100nF</a:t>
            </a:r>
          </a:p>
        </p:txBody>
      </p:sp>
    </p:spTree>
    <p:extLst>
      <p:ext uri="{BB962C8B-B14F-4D97-AF65-F5344CB8AC3E}">
        <p14:creationId xmlns:p14="http://schemas.microsoft.com/office/powerpoint/2010/main" val="3621494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去耦的两种方式？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FD25718C-165E-4450-A1A8-E67B43FAC49A}"/>
              </a:ext>
            </a:extLst>
          </p:cNvPr>
          <p:cNvSpPr/>
          <p:nvPr/>
        </p:nvSpPr>
        <p:spPr>
          <a:xfrm>
            <a:off x="1087223" y="1507957"/>
            <a:ext cx="5211977" cy="6625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大小电容并联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10UF+100nF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583AF2-DC25-4F8B-BF29-2DAFD2A20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904" y="2402454"/>
            <a:ext cx="1027014" cy="294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95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去耦的两种方式？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583AF2-DC25-4F8B-BF29-2DAFD2A20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904" y="2402454"/>
            <a:ext cx="1027014" cy="2947589"/>
          </a:xfrm>
          <a:prstGeom prst="rect">
            <a:avLst/>
          </a:prstGeom>
        </p:spPr>
      </p:pic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2B78ADF8-ACC2-49CF-9B0D-185E16A41135}"/>
              </a:ext>
            </a:extLst>
          </p:cNvPr>
          <p:cNvSpPr/>
          <p:nvPr/>
        </p:nvSpPr>
        <p:spPr>
          <a:xfrm>
            <a:off x="6667500" y="1507957"/>
            <a:ext cx="5016499" cy="6625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多个相同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100nF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电容并联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33817880-5EBC-4168-B3C9-973A5709B762}"/>
              </a:ext>
            </a:extLst>
          </p:cNvPr>
          <p:cNvSpPr/>
          <p:nvPr/>
        </p:nvSpPr>
        <p:spPr>
          <a:xfrm>
            <a:off x="1087223" y="1507957"/>
            <a:ext cx="5211977" cy="6625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大小电容并联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10UF+100nF</a:t>
            </a:r>
          </a:p>
        </p:txBody>
      </p:sp>
    </p:spTree>
    <p:extLst>
      <p:ext uri="{BB962C8B-B14F-4D97-AF65-F5344CB8AC3E}">
        <p14:creationId xmlns:p14="http://schemas.microsoft.com/office/powerpoint/2010/main" val="3861482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去耦的两种方式？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583AF2-DC25-4F8B-BF29-2DAFD2A20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904" y="2402454"/>
            <a:ext cx="1027014" cy="29475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335CDC0-D6C2-4C8E-A800-EB0C61B70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201" y="2402454"/>
            <a:ext cx="2527299" cy="2917022"/>
          </a:xfrm>
          <a:prstGeom prst="rect">
            <a:avLst/>
          </a:prstGeom>
        </p:spPr>
      </p:pic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2533E864-0D56-42B1-B833-8659D48B7D10}"/>
              </a:ext>
            </a:extLst>
          </p:cNvPr>
          <p:cNvSpPr/>
          <p:nvPr/>
        </p:nvSpPr>
        <p:spPr>
          <a:xfrm>
            <a:off x="6667500" y="1507957"/>
            <a:ext cx="5016499" cy="6625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多个相同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100nF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电容并联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1505350D-F54A-4E33-9829-6DC1D57F5750}"/>
              </a:ext>
            </a:extLst>
          </p:cNvPr>
          <p:cNvSpPr/>
          <p:nvPr/>
        </p:nvSpPr>
        <p:spPr>
          <a:xfrm>
            <a:off x="1087223" y="1507957"/>
            <a:ext cx="5211977" cy="6625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大小电容并联</a:t>
            </a: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10UF+100nF</a:t>
            </a:r>
          </a:p>
        </p:txBody>
      </p:sp>
    </p:spTree>
    <p:extLst>
      <p:ext uri="{BB962C8B-B14F-4D97-AF65-F5344CB8AC3E}">
        <p14:creationId xmlns:p14="http://schemas.microsoft.com/office/powerpoint/2010/main" val="2102246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大小电容并联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9045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大小电容并联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E53DCA-D3BE-42B5-B777-EAA822D28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264" y="1603553"/>
            <a:ext cx="5645472" cy="365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66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大小电容并联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3994D8-3BDD-4217-AE3B-619D2EC30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698" y="1507957"/>
            <a:ext cx="6070602" cy="408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77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大小电容并联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3994D8-3BDD-4217-AE3B-619D2EC30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698" y="1507957"/>
            <a:ext cx="6070602" cy="408256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1F01B65-2832-4340-8FC9-C3FF4D316447}"/>
              </a:ext>
            </a:extLst>
          </p:cNvPr>
          <p:cNvSpPr/>
          <p:nvPr/>
        </p:nvSpPr>
        <p:spPr>
          <a:xfrm>
            <a:off x="6299200" y="3124200"/>
            <a:ext cx="571500" cy="30480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399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大小电容并联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3994D8-3BDD-4217-AE3B-619D2EC30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698" y="1507957"/>
            <a:ext cx="6070602" cy="40825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83C4E75-6544-4CEE-A203-1DF57BD8F022}"/>
              </a:ext>
            </a:extLst>
          </p:cNvPr>
          <p:cNvSpPr/>
          <p:nvPr/>
        </p:nvSpPr>
        <p:spPr>
          <a:xfrm>
            <a:off x="6299200" y="3124200"/>
            <a:ext cx="571500" cy="30480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D70257A4-552F-4730-B99B-A6356142F990}"/>
              </a:ext>
            </a:extLst>
          </p:cNvPr>
          <p:cNvSpPr/>
          <p:nvPr/>
        </p:nvSpPr>
        <p:spPr>
          <a:xfrm>
            <a:off x="5995668" y="2521343"/>
            <a:ext cx="1750063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并联谐振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70759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相同电容并联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2984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相同电容并联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39551F-2888-4525-B4BF-BB7545973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889" y="1507957"/>
            <a:ext cx="617822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60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A94359FC-3832-46CF-A7D4-7B7ADD35332D}"/>
              </a:ext>
            </a:extLst>
          </p:cNvPr>
          <p:cNvSpPr/>
          <p:nvPr/>
        </p:nvSpPr>
        <p:spPr>
          <a:xfrm>
            <a:off x="2487201" y="49229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相同电容并联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39551F-2888-4525-B4BF-BB7545973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889" y="1507957"/>
            <a:ext cx="6178220" cy="4064000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8C2EACA7-7C25-4260-97D4-081ADE6BC9D7}"/>
              </a:ext>
            </a:extLst>
          </p:cNvPr>
          <p:cNvSpPr/>
          <p:nvPr/>
        </p:nvSpPr>
        <p:spPr>
          <a:xfrm>
            <a:off x="6275068" y="2523620"/>
            <a:ext cx="1750063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个电容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BB8026D6-E3AE-4671-8CFF-ACBC1130FB86}"/>
              </a:ext>
            </a:extLst>
          </p:cNvPr>
          <p:cNvSpPr/>
          <p:nvPr/>
        </p:nvSpPr>
        <p:spPr>
          <a:xfrm>
            <a:off x="6275067" y="4009716"/>
            <a:ext cx="1750063" cy="60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1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个电容并联</a:t>
            </a:r>
            <a:endParaRPr lang="en-US" altLang="zh-CN" sz="16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34415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307</Words>
  <Application>Microsoft Office PowerPoint</Application>
  <PresentationFormat>宽屏</PresentationFormat>
  <Paragraphs>88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等线</vt:lpstr>
      <vt:lpstr>等线 Light</vt:lpstr>
      <vt:lpstr>微软雅黑</vt:lpstr>
      <vt:lpstr>微软雅黑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59</cp:revision>
  <dcterms:created xsi:type="dcterms:W3CDTF">2020-06-10T12:57:46Z</dcterms:created>
  <dcterms:modified xsi:type="dcterms:W3CDTF">2020-06-26T14:17:46Z</dcterms:modified>
</cp:coreProperties>
</file>