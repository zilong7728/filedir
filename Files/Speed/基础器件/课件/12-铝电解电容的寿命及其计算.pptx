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95" r:id="rId3"/>
    <p:sldId id="501" r:id="rId4"/>
    <p:sldId id="557" r:id="rId5"/>
    <p:sldId id="556" r:id="rId6"/>
    <p:sldId id="555" r:id="rId7"/>
    <p:sldId id="559" r:id="rId8"/>
    <p:sldId id="560" r:id="rId9"/>
    <p:sldId id="561" r:id="rId10"/>
    <p:sldId id="558" r:id="rId11"/>
    <p:sldId id="551" r:id="rId12"/>
    <p:sldId id="562" r:id="rId13"/>
    <p:sldId id="563" r:id="rId14"/>
    <p:sldId id="564" r:id="rId15"/>
    <p:sldId id="554" r:id="rId16"/>
    <p:sldId id="550" r:id="rId17"/>
    <p:sldId id="565" r:id="rId18"/>
    <p:sldId id="34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-nichicon.com/products/lifetim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8AFBDB1-FBD6-49A6-A24F-A7A0E994B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659" y="2227988"/>
            <a:ext cx="4412300" cy="3206271"/>
          </a:xfrm>
          <a:prstGeom prst="rect">
            <a:avLst/>
          </a:prstGeom>
        </p:spPr>
      </p:pic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DF8570F6-BD9A-4CC6-8811-FBBC3D720396}"/>
              </a:ext>
            </a:extLst>
          </p:cNvPr>
          <p:cNvGrpSpPr/>
          <p:nvPr/>
        </p:nvGrpSpPr>
        <p:grpSpPr>
          <a:xfrm>
            <a:off x="1254711" y="1375072"/>
            <a:ext cx="1497368" cy="4107856"/>
            <a:chOff x="5791550" y="296215"/>
            <a:chExt cx="385618" cy="1187811"/>
          </a:xfrm>
        </p:grpSpPr>
        <p:sp>
          <p:nvSpPr>
            <p:cNvPr id="2" name="Rectangle 1565">
              <a:extLst>
                <a:ext uri="{FF2B5EF4-FFF2-40B4-BE49-F238E27FC236}">
                  <a16:creationId xmlns:a16="http://schemas.microsoft.com/office/drawing/2014/main" id="{17B13F00-8686-4C71-8349-1B1C3DD3E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solidFill>
              <a:srgbClr val="CF9E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Rectangle 1566">
              <a:extLst>
                <a:ext uri="{FF2B5EF4-FFF2-40B4-BE49-F238E27FC236}">
                  <a16:creationId xmlns:a16="http://schemas.microsoft.com/office/drawing/2014/main" id="{EDD239C6-1192-40E6-BD9C-57F54989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583315"/>
              <a:ext cx="87257" cy="87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567">
              <a:extLst>
                <a:ext uri="{FF2B5EF4-FFF2-40B4-BE49-F238E27FC236}">
                  <a16:creationId xmlns:a16="http://schemas.microsoft.com/office/drawing/2014/main" id="{38E4D7CF-FD83-4C89-A646-27D7CB34C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1568">
              <a:extLst>
                <a:ext uri="{FF2B5EF4-FFF2-40B4-BE49-F238E27FC236}">
                  <a16:creationId xmlns:a16="http://schemas.microsoft.com/office/drawing/2014/main" id="{22810413-8FC8-4C32-BEC8-5C47B95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63303"/>
              <a:ext cx="258954" cy="121032"/>
            </a:xfrm>
            <a:custGeom>
              <a:avLst/>
              <a:gdLst>
                <a:gd name="T0" fmla="*/ 90 w 92"/>
                <a:gd name="T1" fmla="*/ 43 h 43"/>
                <a:gd name="T2" fmla="*/ 7 w 92"/>
                <a:gd name="T3" fmla="*/ 43 h 43"/>
                <a:gd name="T4" fmla="*/ 0 w 92"/>
                <a:gd name="T5" fmla="*/ 0 h 43"/>
                <a:gd name="T6" fmla="*/ 92 w 92"/>
                <a:gd name="T7" fmla="*/ 0 h 43"/>
                <a:gd name="T8" fmla="*/ 90 w 92"/>
                <a:gd name="T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43">
                  <a:moveTo>
                    <a:pt x="90" y="43"/>
                  </a:moveTo>
                  <a:lnTo>
                    <a:pt x="7" y="43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569">
              <a:extLst>
                <a:ext uri="{FF2B5EF4-FFF2-40B4-BE49-F238E27FC236}">
                  <a16:creationId xmlns:a16="http://schemas.microsoft.com/office/drawing/2014/main" id="{967DCA54-45A1-4550-974D-957D3C228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7" y="1084335"/>
              <a:ext cx="92887" cy="388432"/>
            </a:xfrm>
            <a:custGeom>
              <a:avLst/>
              <a:gdLst>
                <a:gd name="T0" fmla="*/ 21 w 33"/>
                <a:gd name="T1" fmla="*/ 128 h 138"/>
                <a:gd name="T2" fmla="*/ 0 w 33"/>
                <a:gd name="T3" fmla="*/ 0 h 138"/>
                <a:gd name="T4" fmla="*/ 31 w 33"/>
                <a:gd name="T5" fmla="*/ 0 h 138"/>
                <a:gd name="T6" fmla="*/ 33 w 33"/>
                <a:gd name="T7" fmla="*/ 138 h 138"/>
                <a:gd name="T8" fmla="*/ 2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21" y="128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3" y="138"/>
                  </a:lnTo>
                  <a:lnTo>
                    <a:pt x="2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570">
              <a:extLst>
                <a:ext uri="{FF2B5EF4-FFF2-40B4-BE49-F238E27FC236}">
                  <a16:creationId xmlns:a16="http://schemas.microsoft.com/office/drawing/2014/main" id="{6282784E-EA23-4B70-9147-97264E911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8214" y="1084335"/>
              <a:ext cx="59110" cy="388432"/>
            </a:xfrm>
            <a:custGeom>
              <a:avLst/>
              <a:gdLst>
                <a:gd name="T0" fmla="*/ 7 w 9"/>
                <a:gd name="T1" fmla="*/ 0 h 58"/>
                <a:gd name="T2" fmla="*/ 5 w 9"/>
                <a:gd name="T3" fmla="*/ 0 h 58"/>
                <a:gd name="T4" fmla="*/ 0 w 9"/>
                <a:gd name="T5" fmla="*/ 36 h 58"/>
                <a:gd name="T6" fmla="*/ 0 w 9"/>
                <a:gd name="T7" fmla="*/ 36 h 58"/>
                <a:gd name="T8" fmla="*/ 3 w 9"/>
                <a:gd name="T9" fmla="*/ 54 h 58"/>
                <a:gd name="T10" fmla="*/ 8 w 9"/>
                <a:gd name="T11" fmla="*/ 58 h 58"/>
                <a:gd name="T12" fmla="*/ 7 w 9"/>
                <a:gd name="T13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58">
                  <a:moveTo>
                    <a:pt x="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7" y="11"/>
                    <a:pt x="9" y="29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8" y="58"/>
                    <a:pt x="8" y="58"/>
                    <a:pt x="8" y="58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571">
              <a:extLst>
                <a:ext uri="{FF2B5EF4-FFF2-40B4-BE49-F238E27FC236}">
                  <a16:creationId xmlns:a16="http://schemas.microsoft.com/office/drawing/2014/main" id="{319DD380-3115-4A5B-8890-C995D9B10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084335"/>
              <a:ext cx="92887" cy="388432"/>
            </a:xfrm>
            <a:custGeom>
              <a:avLst/>
              <a:gdLst>
                <a:gd name="T0" fmla="*/ 11 w 33"/>
                <a:gd name="T1" fmla="*/ 128 h 138"/>
                <a:gd name="T2" fmla="*/ 33 w 33"/>
                <a:gd name="T3" fmla="*/ 0 h 138"/>
                <a:gd name="T4" fmla="*/ 0 w 33"/>
                <a:gd name="T5" fmla="*/ 0 h 138"/>
                <a:gd name="T6" fmla="*/ 0 w 33"/>
                <a:gd name="T7" fmla="*/ 138 h 138"/>
                <a:gd name="T8" fmla="*/ 11 w 33"/>
                <a:gd name="T9" fmla="*/ 12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38">
                  <a:moveTo>
                    <a:pt x="11" y="128"/>
                  </a:moveTo>
                  <a:lnTo>
                    <a:pt x="33" y="0"/>
                  </a:lnTo>
                  <a:lnTo>
                    <a:pt x="0" y="0"/>
                  </a:lnTo>
                  <a:lnTo>
                    <a:pt x="0" y="138"/>
                  </a:lnTo>
                  <a:lnTo>
                    <a:pt x="11" y="128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72">
              <a:extLst>
                <a:ext uri="{FF2B5EF4-FFF2-40B4-BE49-F238E27FC236}">
                  <a16:creationId xmlns:a16="http://schemas.microsoft.com/office/drawing/2014/main" id="{F3E48D84-55BC-414B-AB2B-982A417EF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99" y="1084335"/>
              <a:ext cx="67553" cy="388432"/>
            </a:xfrm>
            <a:custGeom>
              <a:avLst/>
              <a:gdLst>
                <a:gd name="T0" fmla="*/ 9 w 10"/>
                <a:gd name="T1" fmla="*/ 30 h 58"/>
                <a:gd name="T2" fmla="*/ 3 w 10"/>
                <a:gd name="T3" fmla="*/ 28 h 58"/>
                <a:gd name="T4" fmla="*/ 4 w 10"/>
                <a:gd name="T5" fmla="*/ 0 h 58"/>
                <a:gd name="T6" fmla="*/ 1 w 10"/>
                <a:gd name="T7" fmla="*/ 0 h 58"/>
                <a:gd name="T8" fmla="*/ 1 w 10"/>
                <a:gd name="T9" fmla="*/ 58 h 58"/>
                <a:gd name="T10" fmla="*/ 6 w 10"/>
                <a:gd name="T11" fmla="*/ 54 h 58"/>
                <a:gd name="T12" fmla="*/ 10 w 10"/>
                <a:gd name="T13" fmla="*/ 29 h 58"/>
                <a:gd name="T14" fmla="*/ 9 w 10"/>
                <a:gd name="T15" fmla="*/ 3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58">
                  <a:moveTo>
                    <a:pt x="9" y="30"/>
                  </a:moveTo>
                  <a:cubicBezTo>
                    <a:pt x="7" y="32"/>
                    <a:pt x="4" y="31"/>
                    <a:pt x="3" y="28"/>
                  </a:cubicBezTo>
                  <a:cubicBezTo>
                    <a:pt x="0" y="19"/>
                    <a:pt x="3" y="9"/>
                    <a:pt x="4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10" y="29"/>
                    <a:pt x="10" y="29"/>
                    <a:pt x="10" y="29"/>
                  </a:cubicBezTo>
                  <a:lnTo>
                    <a:pt x="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573">
              <a:extLst>
                <a:ext uri="{FF2B5EF4-FFF2-40B4-BE49-F238E27FC236}">
                  <a16:creationId xmlns:a16="http://schemas.microsoft.com/office/drawing/2014/main" id="{69E60ACB-190E-47CF-9B99-E21705A58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45239"/>
              <a:ext cx="315249" cy="318063"/>
            </a:xfrm>
            <a:custGeom>
              <a:avLst/>
              <a:gdLst>
                <a:gd name="T0" fmla="*/ 44 w 47"/>
                <a:gd name="T1" fmla="*/ 4 h 48"/>
                <a:gd name="T2" fmla="*/ 24 w 47"/>
                <a:gd name="T3" fmla="*/ 0 h 48"/>
                <a:gd name="T4" fmla="*/ 24 w 47"/>
                <a:gd name="T5" fmla="*/ 0 h 48"/>
                <a:gd name="T6" fmla="*/ 24 w 47"/>
                <a:gd name="T7" fmla="*/ 0 h 48"/>
                <a:gd name="T8" fmla="*/ 23 w 47"/>
                <a:gd name="T9" fmla="*/ 0 h 48"/>
                <a:gd name="T10" fmla="*/ 23 w 47"/>
                <a:gd name="T11" fmla="*/ 0 h 48"/>
                <a:gd name="T12" fmla="*/ 3 w 47"/>
                <a:gd name="T13" fmla="*/ 4 h 48"/>
                <a:gd name="T14" fmla="*/ 4 w 47"/>
                <a:gd name="T15" fmla="*/ 48 h 48"/>
                <a:gd name="T16" fmla="*/ 23 w 47"/>
                <a:gd name="T17" fmla="*/ 48 h 48"/>
                <a:gd name="T18" fmla="*/ 24 w 47"/>
                <a:gd name="T19" fmla="*/ 48 h 48"/>
                <a:gd name="T20" fmla="*/ 43 w 47"/>
                <a:gd name="T21" fmla="*/ 48 h 48"/>
                <a:gd name="T22" fmla="*/ 44 w 47"/>
                <a:gd name="T23" fmla="*/ 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7" h="48">
                  <a:moveTo>
                    <a:pt x="44" y="4"/>
                  </a:moveTo>
                  <a:cubicBezTo>
                    <a:pt x="42" y="1"/>
                    <a:pt x="3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3" y="0"/>
                    <a:pt x="6" y="1"/>
                    <a:pt x="3" y="4"/>
                  </a:cubicBezTo>
                  <a:cubicBezTo>
                    <a:pt x="0" y="8"/>
                    <a:pt x="4" y="48"/>
                    <a:pt x="4" y="48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8"/>
                    <a:pt x="47" y="9"/>
                    <a:pt x="44" y="4"/>
                  </a:cubicBezTo>
                </a:path>
              </a:pathLst>
            </a:custGeom>
            <a:solidFill>
              <a:srgbClr val="D1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574">
              <a:extLst>
                <a:ext uri="{FF2B5EF4-FFF2-40B4-BE49-F238E27FC236}">
                  <a16:creationId xmlns:a16="http://schemas.microsoft.com/office/drawing/2014/main" id="{FAA06312-9BFA-4DA9-87AB-F9B209894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168883" cy="301174"/>
            </a:xfrm>
            <a:custGeom>
              <a:avLst/>
              <a:gdLst>
                <a:gd name="T0" fmla="*/ 23 w 25"/>
                <a:gd name="T1" fmla="*/ 4 h 45"/>
                <a:gd name="T2" fmla="*/ 21 w 25"/>
                <a:gd name="T3" fmla="*/ 1 h 45"/>
                <a:gd name="T4" fmla="*/ 19 w 25"/>
                <a:gd name="T5" fmla="*/ 0 h 45"/>
                <a:gd name="T6" fmla="*/ 20 w 25"/>
                <a:gd name="T7" fmla="*/ 33 h 45"/>
                <a:gd name="T8" fmla="*/ 18 w 25"/>
                <a:gd name="T9" fmla="*/ 41 h 45"/>
                <a:gd name="T10" fmla="*/ 10 w 25"/>
                <a:gd name="T11" fmla="*/ 43 h 45"/>
                <a:gd name="T12" fmla="*/ 5 w 25"/>
                <a:gd name="T13" fmla="*/ 33 h 45"/>
                <a:gd name="T14" fmla="*/ 6 w 25"/>
                <a:gd name="T15" fmla="*/ 31 h 45"/>
                <a:gd name="T16" fmla="*/ 6 w 25"/>
                <a:gd name="T17" fmla="*/ 21 h 45"/>
                <a:gd name="T18" fmla="*/ 7 w 25"/>
                <a:gd name="T19" fmla="*/ 0 h 45"/>
                <a:gd name="T20" fmla="*/ 2 w 25"/>
                <a:gd name="T21" fmla="*/ 3 h 45"/>
                <a:gd name="T22" fmla="*/ 2 w 25"/>
                <a:gd name="T23" fmla="*/ 44 h 45"/>
                <a:gd name="T24" fmla="*/ 23 w 25"/>
                <a:gd name="T25" fmla="*/ 44 h 45"/>
                <a:gd name="T26" fmla="*/ 23 w 25"/>
                <a:gd name="T27" fmla="*/ 4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45">
                  <a:moveTo>
                    <a:pt x="23" y="4"/>
                  </a:moveTo>
                  <a:cubicBezTo>
                    <a:pt x="23" y="2"/>
                    <a:pt x="22" y="2"/>
                    <a:pt x="21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13"/>
                    <a:pt x="18" y="21"/>
                    <a:pt x="20" y="33"/>
                  </a:cubicBezTo>
                  <a:cubicBezTo>
                    <a:pt x="20" y="36"/>
                    <a:pt x="19" y="41"/>
                    <a:pt x="18" y="41"/>
                  </a:cubicBezTo>
                  <a:cubicBezTo>
                    <a:pt x="16" y="45"/>
                    <a:pt x="13" y="43"/>
                    <a:pt x="10" y="43"/>
                  </a:cubicBezTo>
                  <a:cubicBezTo>
                    <a:pt x="7" y="42"/>
                    <a:pt x="5" y="39"/>
                    <a:pt x="5" y="33"/>
                  </a:cubicBezTo>
                  <a:cubicBezTo>
                    <a:pt x="5" y="32"/>
                    <a:pt x="5" y="32"/>
                    <a:pt x="6" y="31"/>
                  </a:cubicBezTo>
                  <a:cubicBezTo>
                    <a:pt x="5" y="27"/>
                    <a:pt x="6" y="24"/>
                    <a:pt x="6" y="21"/>
                  </a:cubicBezTo>
                  <a:cubicBezTo>
                    <a:pt x="6" y="14"/>
                    <a:pt x="11" y="11"/>
                    <a:pt x="7" y="0"/>
                  </a:cubicBezTo>
                  <a:cubicBezTo>
                    <a:pt x="6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3" y="44"/>
                    <a:pt x="25" y="7"/>
                    <a:pt x="23" y="4"/>
                  </a:cubicBezTo>
                </a:path>
              </a:pathLst>
            </a:custGeom>
            <a:solidFill>
              <a:srgbClr val="C7D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Rectangle 1575">
              <a:extLst>
                <a:ext uri="{FF2B5EF4-FFF2-40B4-BE49-F238E27FC236}">
                  <a16:creationId xmlns:a16="http://schemas.microsoft.com/office/drawing/2014/main" id="{5ECECDBA-A7A8-4653-B59C-8FEAAFCB3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54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1576">
              <a:extLst>
                <a:ext uri="{FF2B5EF4-FFF2-40B4-BE49-F238E27FC236}">
                  <a16:creationId xmlns:a16="http://schemas.microsoft.com/office/drawing/2014/main" id="{32E65056-11D8-4235-ABC1-2417DEAF9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1577">
              <a:extLst>
                <a:ext uri="{FF2B5EF4-FFF2-40B4-BE49-F238E27FC236}">
                  <a16:creationId xmlns:a16="http://schemas.microsoft.com/office/drawing/2014/main" id="{C2A534E6-DF68-4CCB-9FD9-69156DE1F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943599"/>
              <a:ext cx="258954" cy="19702"/>
            </a:xfrm>
            <a:custGeom>
              <a:avLst/>
              <a:gdLst>
                <a:gd name="T0" fmla="*/ 90 w 92"/>
                <a:gd name="T1" fmla="*/ 7 h 7"/>
                <a:gd name="T2" fmla="*/ 7 w 92"/>
                <a:gd name="T3" fmla="*/ 7 h 7"/>
                <a:gd name="T4" fmla="*/ 0 w 92"/>
                <a:gd name="T5" fmla="*/ 0 h 7"/>
                <a:gd name="T6" fmla="*/ 92 w 92"/>
                <a:gd name="T7" fmla="*/ 0 h 7"/>
                <a:gd name="T8" fmla="*/ 90 w 92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7">
                  <a:moveTo>
                    <a:pt x="90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92" y="0"/>
                  </a:lnTo>
                  <a:lnTo>
                    <a:pt x="90" y="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1578">
              <a:extLst>
                <a:ext uri="{FF2B5EF4-FFF2-40B4-BE49-F238E27FC236}">
                  <a16:creationId xmlns:a16="http://schemas.microsoft.com/office/drawing/2014/main" id="{3F9558F9-6E89-4A05-A5DE-B7BE1E69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Rectangle 1579">
              <a:extLst>
                <a:ext uri="{FF2B5EF4-FFF2-40B4-BE49-F238E27FC236}">
                  <a16:creationId xmlns:a16="http://schemas.microsoft.com/office/drawing/2014/main" id="{F0681E54-04BA-4E44-9B55-E80D2E4BA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2584" y="1472767"/>
              <a:ext cx="59110" cy="11259"/>
            </a:xfrm>
            <a:prstGeom prst="rect">
              <a:avLst/>
            </a:pr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580">
              <a:extLst>
                <a:ext uri="{FF2B5EF4-FFF2-40B4-BE49-F238E27FC236}">
                  <a16:creationId xmlns:a16="http://schemas.microsoft.com/office/drawing/2014/main" id="{3848DB35-098B-4E7E-9E7D-00E63B22B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581">
              <a:extLst>
                <a:ext uri="{FF2B5EF4-FFF2-40B4-BE49-F238E27FC236}">
                  <a16:creationId xmlns:a16="http://schemas.microsoft.com/office/drawing/2014/main" id="{A695D0F2-1FAC-4D8A-9AF3-AE8CCD46F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1444620"/>
              <a:ext cx="59110" cy="39406"/>
            </a:xfrm>
            <a:custGeom>
              <a:avLst/>
              <a:gdLst>
                <a:gd name="T0" fmla="*/ 0 w 9"/>
                <a:gd name="T1" fmla="*/ 4 h 6"/>
                <a:gd name="T2" fmla="*/ 3 w 9"/>
                <a:gd name="T3" fmla="*/ 0 h 6"/>
                <a:gd name="T4" fmla="*/ 9 w 9"/>
                <a:gd name="T5" fmla="*/ 4 h 6"/>
                <a:gd name="T6" fmla="*/ 0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0" y="4"/>
                  </a:moveTo>
                  <a:cubicBezTo>
                    <a:pt x="0" y="4"/>
                    <a:pt x="0" y="0"/>
                    <a:pt x="3" y="0"/>
                  </a:cubicBezTo>
                  <a:cubicBezTo>
                    <a:pt x="6" y="6"/>
                    <a:pt x="9" y="2"/>
                    <a:pt x="9" y="4"/>
                  </a:cubicBezTo>
                  <a:cubicBezTo>
                    <a:pt x="9" y="6"/>
                    <a:pt x="0" y="4"/>
                    <a:pt x="0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82">
              <a:extLst>
                <a:ext uri="{FF2B5EF4-FFF2-40B4-BE49-F238E27FC236}">
                  <a16:creationId xmlns:a16="http://schemas.microsoft.com/office/drawing/2014/main" id="{1FDD5E85-5087-4833-B17C-4FDDF0062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584" y="1444620"/>
              <a:ext cx="59110" cy="39406"/>
            </a:xfrm>
            <a:custGeom>
              <a:avLst/>
              <a:gdLst>
                <a:gd name="T0" fmla="*/ 9 w 9"/>
                <a:gd name="T1" fmla="*/ 4 h 6"/>
                <a:gd name="T2" fmla="*/ 6 w 9"/>
                <a:gd name="T3" fmla="*/ 0 h 6"/>
                <a:gd name="T4" fmla="*/ 0 w 9"/>
                <a:gd name="T5" fmla="*/ 4 h 6"/>
                <a:gd name="T6" fmla="*/ 9 w 9"/>
                <a:gd name="T7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6">
                  <a:moveTo>
                    <a:pt x="9" y="4"/>
                  </a:moveTo>
                  <a:cubicBezTo>
                    <a:pt x="9" y="4"/>
                    <a:pt x="9" y="0"/>
                    <a:pt x="6" y="0"/>
                  </a:cubicBezTo>
                  <a:cubicBezTo>
                    <a:pt x="8" y="6"/>
                    <a:pt x="0" y="2"/>
                    <a:pt x="0" y="4"/>
                  </a:cubicBezTo>
                  <a:cubicBezTo>
                    <a:pt x="0" y="6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0C0B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583">
              <a:extLst>
                <a:ext uri="{FF2B5EF4-FFF2-40B4-BE49-F238E27FC236}">
                  <a16:creationId xmlns:a16="http://schemas.microsoft.com/office/drawing/2014/main" id="{F7AFE092-D4A9-475F-AD5F-7C492C72F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9104" y="310288"/>
              <a:ext cx="273029" cy="306804"/>
            </a:xfrm>
            <a:custGeom>
              <a:avLst/>
              <a:gdLst>
                <a:gd name="T0" fmla="*/ 41 w 41"/>
                <a:gd name="T1" fmla="*/ 20 h 46"/>
                <a:gd name="T2" fmla="*/ 20 w 41"/>
                <a:gd name="T3" fmla="*/ 46 h 46"/>
                <a:gd name="T4" fmla="*/ 0 w 41"/>
                <a:gd name="T5" fmla="*/ 20 h 46"/>
                <a:gd name="T6" fmla="*/ 20 w 41"/>
                <a:gd name="T7" fmla="*/ 0 h 46"/>
                <a:gd name="T8" fmla="*/ 41 w 41"/>
                <a:gd name="T9" fmla="*/ 2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6">
                  <a:moveTo>
                    <a:pt x="41" y="20"/>
                  </a:moveTo>
                  <a:cubicBezTo>
                    <a:pt x="41" y="31"/>
                    <a:pt x="34" y="46"/>
                    <a:pt x="20" y="46"/>
                  </a:cubicBezTo>
                  <a:cubicBezTo>
                    <a:pt x="9" y="46"/>
                    <a:pt x="0" y="31"/>
                    <a:pt x="0" y="20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41" y="8"/>
                    <a:pt x="41" y="20"/>
                  </a:cubicBez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584">
              <a:extLst>
                <a:ext uri="{FF2B5EF4-FFF2-40B4-BE49-F238E27FC236}">
                  <a16:creationId xmlns:a16="http://schemas.microsoft.com/office/drawing/2014/main" id="{E9521AA3-A5CF-4C35-9E2F-90C6AE499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490430"/>
              <a:ext cx="42222" cy="87255"/>
            </a:xfrm>
            <a:custGeom>
              <a:avLst/>
              <a:gdLst>
                <a:gd name="T0" fmla="*/ 4 w 6"/>
                <a:gd name="T1" fmla="*/ 5 h 13"/>
                <a:gd name="T2" fmla="*/ 2 w 6"/>
                <a:gd name="T3" fmla="*/ 8 h 13"/>
                <a:gd name="T4" fmla="*/ 6 w 6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13">
                  <a:moveTo>
                    <a:pt x="4" y="5"/>
                  </a:moveTo>
                  <a:cubicBezTo>
                    <a:pt x="4" y="5"/>
                    <a:pt x="0" y="0"/>
                    <a:pt x="2" y="8"/>
                  </a:cubicBezTo>
                  <a:cubicBezTo>
                    <a:pt x="4" y="13"/>
                    <a:pt x="6" y="12"/>
                    <a:pt x="6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1585">
              <a:extLst>
                <a:ext uri="{FF2B5EF4-FFF2-40B4-BE49-F238E27FC236}">
                  <a16:creationId xmlns:a16="http://schemas.microsoft.com/office/drawing/2014/main" id="{E5CE90FB-2426-41E3-A9A5-8447FBD6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356" y="490430"/>
              <a:ext cx="33777" cy="87255"/>
            </a:xfrm>
            <a:custGeom>
              <a:avLst/>
              <a:gdLst>
                <a:gd name="T0" fmla="*/ 2 w 5"/>
                <a:gd name="T1" fmla="*/ 5 h 13"/>
                <a:gd name="T2" fmla="*/ 3 w 5"/>
                <a:gd name="T3" fmla="*/ 8 h 13"/>
                <a:gd name="T4" fmla="*/ 0 w 5"/>
                <a:gd name="T5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13">
                  <a:moveTo>
                    <a:pt x="2" y="5"/>
                  </a:moveTo>
                  <a:cubicBezTo>
                    <a:pt x="2" y="5"/>
                    <a:pt x="5" y="0"/>
                    <a:pt x="3" y="8"/>
                  </a:cubicBezTo>
                  <a:cubicBezTo>
                    <a:pt x="2" y="13"/>
                    <a:pt x="0" y="12"/>
                    <a:pt x="0" y="10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1586">
              <a:extLst>
                <a:ext uri="{FF2B5EF4-FFF2-40B4-BE49-F238E27FC236}">
                  <a16:creationId xmlns:a16="http://schemas.microsoft.com/office/drawing/2014/main" id="{A59D93BD-8BA3-46E2-AD57-946D899A2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60" y="645239"/>
              <a:ext cx="101330" cy="298361"/>
            </a:xfrm>
            <a:custGeom>
              <a:avLst/>
              <a:gdLst>
                <a:gd name="T0" fmla="*/ 14 w 15"/>
                <a:gd name="T1" fmla="*/ 0 h 45"/>
                <a:gd name="T2" fmla="*/ 3 w 15"/>
                <a:gd name="T3" fmla="*/ 3 h 45"/>
                <a:gd name="T4" fmla="*/ 1 w 15"/>
                <a:gd name="T5" fmla="*/ 32 h 45"/>
                <a:gd name="T6" fmla="*/ 2 w 15"/>
                <a:gd name="T7" fmla="*/ 45 h 45"/>
                <a:gd name="T8" fmla="*/ 12 w 15"/>
                <a:gd name="T9" fmla="*/ 45 h 45"/>
                <a:gd name="T10" fmla="*/ 12 w 15"/>
                <a:gd name="T11" fmla="*/ 45 h 45"/>
                <a:gd name="T12" fmla="*/ 10 w 15"/>
                <a:gd name="T13" fmla="*/ 45 h 45"/>
                <a:gd name="T14" fmla="*/ 10 w 15"/>
                <a:gd name="T15" fmla="*/ 4 h 45"/>
                <a:gd name="T16" fmla="*/ 14 w 15"/>
                <a:gd name="T17" fmla="*/ 1 h 45"/>
                <a:gd name="T18" fmla="*/ 15 w 15"/>
                <a:gd name="T19" fmla="*/ 0 h 45"/>
                <a:gd name="T20" fmla="*/ 14 w 15"/>
                <a:gd name="T2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" h="45">
                  <a:moveTo>
                    <a:pt x="14" y="0"/>
                  </a:moveTo>
                  <a:cubicBezTo>
                    <a:pt x="8" y="0"/>
                    <a:pt x="3" y="3"/>
                    <a:pt x="3" y="3"/>
                  </a:cubicBezTo>
                  <a:cubicBezTo>
                    <a:pt x="3" y="3"/>
                    <a:pt x="0" y="22"/>
                    <a:pt x="1" y="32"/>
                  </a:cubicBezTo>
                  <a:cubicBezTo>
                    <a:pt x="1" y="37"/>
                    <a:pt x="1" y="42"/>
                    <a:pt x="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5"/>
                    <a:pt x="8" y="8"/>
                    <a:pt x="10" y="4"/>
                  </a:cubicBezTo>
                  <a:cubicBezTo>
                    <a:pt x="11" y="3"/>
                    <a:pt x="13" y="1"/>
                    <a:pt x="14" y="1"/>
                  </a:cubicBezTo>
                  <a:cubicBezTo>
                    <a:pt x="15" y="1"/>
                    <a:pt x="15" y="0"/>
                    <a:pt x="15" y="0"/>
                  </a:cubicBezTo>
                  <a:cubicBezTo>
                    <a:pt x="14" y="0"/>
                    <a:pt x="14" y="0"/>
                    <a:pt x="14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1587">
              <a:extLst>
                <a:ext uri="{FF2B5EF4-FFF2-40B4-BE49-F238E27FC236}">
                  <a16:creationId xmlns:a16="http://schemas.microsoft.com/office/drawing/2014/main" id="{68FA9F48-A8BB-4456-A542-DDCF7045A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4139" y="650868"/>
              <a:ext cx="39406" cy="292731"/>
            </a:xfrm>
            <a:custGeom>
              <a:avLst/>
              <a:gdLst>
                <a:gd name="T0" fmla="*/ 6 w 6"/>
                <a:gd name="T1" fmla="*/ 0 h 44"/>
                <a:gd name="T2" fmla="*/ 2 w 6"/>
                <a:gd name="T3" fmla="*/ 3 h 44"/>
                <a:gd name="T4" fmla="*/ 2 w 6"/>
                <a:gd name="T5" fmla="*/ 44 h 44"/>
                <a:gd name="T6" fmla="*/ 4 w 6"/>
                <a:gd name="T7" fmla="*/ 44 h 44"/>
                <a:gd name="T8" fmla="*/ 4 w 6"/>
                <a:gd name="T9" fmla="*/ 43 h 44"/>
                <a:gd name="T10" fmla="*/ 6 w 6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44">
                  <a:moveTo>
                    <a:pt x="6" y="0"/>
                  </a:moveTo>
                  <a:cubicBezTo>
                    <a:pt x="5" y="0"/>
                    <a:pt x="3" y="2"/>
                    <a:pt x="2" y="3"/>
                  </a:cubicBezTo>
                  <a:cubicBezTo>
                    <a:pt x="0" y="7"/>
                    <a:pt x="2" y="44"/>
                    <a:pt x="2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44"/>
                    <a:pt x="4" y="43"/>
                    <a:pt x="4" y="43"/>
                  </a:cubicBezTo>
                  <a:cubicBezTo>
                    <a:pt x="3" y="36"/>
                    <a:pt x="6" y="3"/>
                    <a:pt x="6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1588">
              <a:extLst>
                <a:ext uri="{FF2B5EF4-FFF2-40B4-BE49-F238E27FC236}">
                  <a16:creationId xmlns:a16="http://schemas.microsoft.com/office/drawing/2014/main" id="{78258304-929C-4A28-B06A-7F845AE53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1011152"/>
              <a:ext cx="0" cy="5629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1589">
              <a:extLst>
                <a:ext uri="{FF2B5EF4-FFF2-40B4-BE49-F238E27FC236}">
                  <a16:creationId xmlns:a16="http://schemas.microsoft.com/office/drawing/2014/main" id="{46D427CB-C40D-43BC-99A6-2C4544C09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63303"/>
              <a:ext cx="73183" cy="53479"/>
            </a:xfrm>
            <a:custGeom>
              <a:avLst/>
              <a:gdLst>
                <a:gd name="T0" fmla="*/ 2 w 11"/>
                <a:gd name="T1" fmla="*/ 0 h 8"/>
                <a:gd name="T2" fmla="*/ 0 w 11"/>
                <a:gd name="T3" fmla="*/ 0 h 8"/>
                <a:gd name="T4" fmla="*/ 0 w 11"/>
                <a:gd name="T5" fmla="*/ 7 h 8"/>
                <a:gd name="T6" fmla="*/ 0 w 11"/>
                <a:gd name="T7" fmla="*/ 8 h 8"/>
                <a:gd name="T8" fmla="*/ 11 w 11"/>
                <a:gd name="T9" fmla="*/ 8 h 8"/>
                <a:gd name="T10" fmla="*/ 10 w 11"/>
                <a:gd name="T11" fmla="*/ 0 h 8"/>
                <a:gd name="T12" fmla="*/ 2 w 11"/>
                <a:gd name="T13" fmla="*/ 0 h 8"/>
                <a:gd name="T14" fmla="*/ 2 w 11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8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6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5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1590">
              <a:extLst>
                <a:ext uri="{FF2B5EF4-FFF2-40B4-BE49-F238E27FC236}">
                  <a16:creationId xmlns:a16="http://schemas.microsoft.com/office/drawing/2014/main" id="{2F992E73-501A-424E-864E-0813A556E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14074" cy="19702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0 w 2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1591">
              <a:extLst>
                <a:ext uri="{FF2B5EF4-FFF2-40B4-BE49-F238E27FC236}">
                  <a16:creationId xmlns:a16="http://schemas.microsoft.com/office/drawing/2014/main" id="{8070AD5C-162A-4064-A491-22DDD7654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4733" y="943599"/>
              <a:ext cx="67553" cy="19702"/>
            </a:xfrm>
            <a:custGeom>
              <a:avLst/>
              <a:gdLst>
                <a:gd name="T0" fmla="*/ 10 w 10"/>
                <a:gd name="T1" fmla="*/ 0 h 3"/>
                <a:gd name="T2" fmla="*/ 0 w 10"/>
                <a:gd name="T3" fmla="*/ 0 h 3"/>
                <a:gd name="T4" fmla="*/ 0 w 10"/>
                <a:gd name="T5" fmla="*/ 0 h 3"/>
                <a:gd name="T6" fmla="*/ 2 w 10"/>
                <a:gd name="T7" fmla="*/ 3 h 3"/>
                <a:gd name="T8" fmla="*/ 2 w 10"/>
                <a:gd name="T9" fmla="*/ 3 h 3"/>
                <a:gd name="T10" fmla="*/ 10 w 10"/>
                <a:gd name="T11" fmla="*/ 3 h 3"/>
                <a:gd name="T12" fmla="*/ 10 w 10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3">
                  <a:moveTo>
                    <a:pt x="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2"/>
                    <a:pt x="10" y="1"/>
                    <a:pt x="1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1592">
              <a:extLst>
                <a:ext uri="{FF2B5EF4-FFF2-40B4-BE49-F238E27FC236}">
                  <a16:creationId xmlns:a16="http://schemas.microsoft.com/office/drawing/2014/main" id="{A6FC5B0A-1A4A-4BFD-A4E7-E1A99A7E5D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4875" y="645239"/>
              <a:ext cx="73183" cy="19702"/>
            </a:xfrm>
            <a:custGeom>
              <a:avLst/>
              <a:gdLst>
                <a:gd name="T0" fmla="*/ 11 w 11"/>
                <a:gd name="T1" fmla="*/ 3 h 3"/>
                <a:gd name="T2" fmla="*/ 11 w 11"/>
                <a:gd name="T3" fmla="*/ 3 h 3"/>
                <a:gd name="T4" fmla="*/ 11 w 11"/>
                <a:gd name="T5" fmla="*/ 3 h 3"/>
                <a:gd name="T6" fmla="*/ 11 w 11"/>
                <a:gd name="T7" fmla="*/ 3 h 3"/>
                <a:gd name="T8" fmla="*/ 0 w 11"/>
                <a:gd name="T9" fmla="*/ 0 h 3"/>
                <a:gd name="T10" fmla="*/ 5 w 11"/>
                <a:gd name="T11" fmla="*/ 1 h 3"/>
                <a:gd name="T12" fmla="*/ 0 w 11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3">
                  <a:moveTo>
                    <a:pt x="11" y="3"/>
                  </a:move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moveTo>
                    <a:pt x="0" y="0"/>
                  </a:moveTo>
                  <a:cubicBezTo>
                    <a:pt x="2" y="1"/>
                    <a:pt x="4" y="1"/>
                    <a:pt x="5" y="1"/>
                  </a:cubicBez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1593">
              <a:extLst>
                <a:ext uri="{FF2B5EF4-FFF2-40B4-BE49-F238E27FC236}">
                  <a16:creationId xmlns:a16="http://schemas.microsoft.com/office/drawing/2014/main" id="{29F79568-F769-4B7A-AEE0-F5E649101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963303"/>
              <a:ext cx="78812" cy="53479"/>
            </a:xfrm>
            <a:custGeom>
              <a:avLst/>
              <a:gdLst>
                <a:gd name="T0" fmla="*/ 12 w 12"/>
                <a:gd name="T1" fmla="*/ 0 h 8"/>
                <a:gd name="T2" fmla="*/ 11 w 12"/>
                <a:gd name="T3" fmla="*/ 0 h 8"/>
                <a:gd name="T4" fmla="*/ 11 w 12"/>
                <a:gd name="T5" fmla="*/ 0 h 8"/>
                <a:gd name="T6" fmla="*/ 1 w 12"/>
                <a:gd name="T7" fmla="*/ 0 h 8"/>
                <a:gd name="T8" fmla="*/ 0 w 12"/>
                <a:gd name="T9" fmla="*/ 8 h 8"/>
                <a:gd name="T10" fmla="*/ 11 w 12"/>
                <a:gd name="T11" fmla="*/ 8 h 8"/>
                <a:gd name="T12" fmla="*/ 12 w 1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">
                  <a:moveTo>
                    <a:pt x="12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5"/>
                    <a:pt x="0" y="8"/>
                    <a:pt x="0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6"/>
                    <a:pt x="12" y="0"/>
                  </a:cubicBezTo>
                </a:path>
              </a:pathLst>
            </a:cu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1594">
              <a:extLst>
                <a:ext uri="{FF2B5EF4-FFF2-40B4-BE49-F238E27FC236}">
                  <a16:creationId xmlns:a16="http://schemas.microsoft.com/office/drawing/2014/main" id="{B2038F28-D03E-4D9A-AE35-B6CFF2E8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45239"/>
              <a:ext cx="92887" cy="318063"/>
            </a:xfrm>
            <a:custGeom>
              <a:avLst/>
              <a:gdLst>
                <a:gd name="T0" fmla="*/ 0 w 14"/>
                <a:gd name="T1" fmla="*/ 0 h 48"/>
                <a:gd name="T2" fmla="*/ 0 w 14"/>
                <a:gd name="T3" fmla="*/ 1 h 48"/>
                <a:gd name="T4" fmla="*/ 1 w 14"/>
                <a:gd name="T5" fmla="*/ 2 h 48"/>
                <a:gd name="T6" fmla="*/ 3 w 14"/>
                <a:gd name="T7" fmla="*/ 5 h 48"/>
                <a:gd name="T8" fmla="*/ 3 w 14"/>
                <a:gd name="T9" fmla="*/ 45 h 48"/>
                <a:gd name="T10" fmla="*/ 1 w 14"/>
                <a:gd name="T11" fmla="*/ 45 h 48"/>
                <a:gd name="T12" fmla="*/ 1 w 14"/>
                <a:gd name="T13" fmla="*/ 45 h 48"/>
                <a:gd name="T14" fmla="*/ 12 w 14"/>
                <a:gd name="T15" fmla="*/ 45 h 48"/>
                <a:gd name="T16" fmla="*/ 11 w 14"/>
                <a:gd name="T17" fmla="*/ 48 h 48"/>
                <a:gd name="T18" fmla="*/ 12 w 14"/>
                <a:gd name="T19" fmla="*/ 48 h 48"/>
                <a:gd name="T20" fmla="*/ 13 w 14"/>
                <a:gd name="T21" fmla="*/ 32 h 48"/>
                <a:gd name="T22" fmla="*/ 12 w 14"/>
                <a:gd name="T23" fmla="*/ 3 h 48"/>
                <a:gd name="T24" fmla="*/ 12 w 14"/>
                <a:gd name="T25" fmla="*/ 3 h 48"/>
                <a:gd name="T26" fmla="*/ 6 w 14"/>
                <a:gd name="T27" fmla="*/ 1 h 48"/>
                <a:gd name="T28" fmla="*/ 1 w 14"/>
                <a:gd name="T29" fmla="*/ 0 h 48"/>
                <a:gd name="T30" fmla="*/ 0 w 14"/>
                <a:gd name="T3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48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3"/>
                    <a:pt x="3" y="3"/>
                    <a:pt x="3" y="5"/>
                  </a:cubicBezTo>
                  <a:cubicBezTo>
                    <a:pt x="5" y="8"/>
                    <a:pt x="3" y="45"/>
                    <a:pt x="3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5"/>
                    <a:pt x="12" y="40"/>
                    <a:pt x="13" y="32"/>
                  </a:cubicBezTo>
                  <a:cubicBezTo>
                    <a:pt x="14" y="22"/>
                    <a:pt x="12" y="4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1" y="3"/>
                    <a:pt x="9" y="2"/>
                    <a:pt x="6" y="1"/>
                  </a:cubicBezTo>
                  <a:cubicBezTo>
                    <a:pt x="5" y="1"/>
                    <a:pt x="3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697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1595">
              <a:extLst>
                <a:ext uri="{FF2B5EF4-FFF2-40B4-BE49-F238E27FC236}">
                  <a16:creationId xmlns:a16="http://schemas.microsoft.com/office/drawing/2014/main" id="{D28A8BCC-E535-474E-94D1-0C694D696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50868"/>
              <a:ext cx="33777" cy="292731"/>
            </a:xfrm>
            <a:custGeom>
              <a:avLst/>
              <a:gdLst>
                <a:gd name="T0" fmla="*/ 0 w 5"/>
                <a:gd name="T1" fmla="*/ 0 h 44"/>
                <a:gd name="T2" fmla="*/ 1 w 5"/>
                <a:gd name="T3" fmla="*/ 43 h 44"/>
                <a:gd name="T4" fmla="*/ 1 w 5"/>
                <a:gd name="T5" fmla="*/ 44 h 44"/>
                <a:gd name="T6" fmla="*/ 3 w 5"/>
                <a:gd name="T7" fmla="*/ 44 h 44"/>
                <a:gd name="T8" fmla="*/ 3 w 5"/>
                <a:gd name="T9" fmla="*/ 4 h 44"/>
                <a:gd name="T10" fmla="*/ 1 w 5"/>
                <a:gd name="T11" fmla="*/ 1 h 44"/>
                <a:gd name="T12" fmla="*/ 0 w 5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4">
                  <a:moveTo>
                    <a:pt x="0" y="0"/>
                  </a:moveTo>
                  <a:cubicBezTo>
                    <a:pt x="1" y="6"/>
                    <a:pt x="3" y="36"/>
                    <a:pt x="1" y="43"/>
                  </a:cubicBezTo>
                  <a:cubicBezTo>
                    <a:pt x="1" y="43"/>
                    <a:pt x="1" y="44"/>
                    <a:pt x="1" y="4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3" y="44"/>
                    <a:pt x="5" y="7"/>
                    <a:pt x="3" y="4"/>
                  </a:cubicBezTo>
                  <a:cubicBezTo>
                    <a:pt x="3" y="2"/>
                    <a:pt x="2" y="2"/>
                    <a:pt x="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46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1596">
              <a:extLst>
                <a:ext uri="{FF2B5EF4-FFF2-40B4-BE49-F238E27FC236}">
                  <a16:creationId xmlns:a16="http://schemas.microsoft.com/office/drawing/2014/main" id="{22E346A2-F9A5-443D-A63E-B0701E692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4875" y="943599"/>
              <a:ext cx="73183" cy="19702"/>
            </a:xfrm>
            <a:custGeom>
              <a:avLst/>
              <a:gdLst>
                <a:gd name="T0" fmla="*/ 11 w 11"/>
                <a:gd name="T1" fmla="*/ 0 h 3"/>
                <a:gd name="T2" fmla="*/ 0 w 11"/>
                <a:gd name="T3" fmla="*/ 0 h 3"/>
                <a:gd name="T4" fmla="*/ 0 w 11"/>
                <a:gd name="T5" fmla="*/ 3 h 3"/>
                <a:gd name="T6" fmla="*/ 10 w 11"/>
                <a:gd name="T7" fmla="*/ 3 h 3"/>
                <a:gd name="T8" fmla="*/ 10 w 11"/>
                <a:gd name="T9" fmla="*/ 3 h 3"/>
                <a:gd name="T10" fmla="*/ 11 w 11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3">
                  <a:moveTo>
                    <a:pt x="1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1597">
              <a:extLst>
                <a:ext uri="{FF2B5EF4-FFF2-40B4-BE49-F238E27FC236}">
                  <a16:creationId xmlns:a16="http://schemas.microsoft.com/office/drawing/2014/main" id="{194D246C-9A06-4887-A054-3F984B52F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5031" y="645239"/>
              <a:ext cx="92887" cy="371543"/>
            </a:xfrm>
            <a:custGeom>
              <a:avLst/>
              <a:gdLst>
                <a:gd name="T0" fmla="*/ 14 w 14"/>
                <a:gd name="T1" fmla="*/ 0 h 56"/>
                <a:gd name="T2" fmla="*/ 12 w 14"/>
                <a:gd name="T3" fmla="*/ 43 h 56"/>
                <a:gd name="T4" fmla="*/ 13 w 14"/>
                <a:gd name="T5" fmla="*/ 56 h 56"/>
                <a:gd name="T6" fmla="*/ 2 w 14"/>
                <a:gd name="T7" fmla="*/ 55 h 56"/>
                <a:gd name="T8" fmla="*/ 1 w 14"/>
                <a:gd name="T9" fmla="*/ 31 h 56"/>
                <a:gd name="T10" fmla="*/ 3 w 14"/>
                <a:gd name="T11" fmla="*/ 3 h 56"/>
                <a:gd name="T12" fmla="*/ 14 w 14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6">
                  <a:moveTo>
                    <a:pt x="14" y="0"/>
                  </a:moveTo>
                  <a:cubicBezTo>
                    <a:pt x="14" y="0"/>
                    <a:pt x="11" y="35"/>
                    <a:pt x="12" y="43"/>
                  </a:cubicBezTo>
                  <a:cubicBezTo>
                    <a:pt x="13" y="50"/>
                    <a:pt x="13" y="56"/>
                    <a:pt x="13" y="56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2" y="55"/>
                    <a:pt x="2" y="51"/>
                    <a:pt x="1" y="31"/>
                  </a:cubicBezTo>
                  <a:cubicBezTo>
                    <a:pt x="0" y="21"/>
                    <a:pt x="3" y="3"/>
                    <a:pt x="3" y="3"/>
                  </a:cubicBezTo>
                  <a:cubicBezTo>
                    <a:pt x="3" y="3"/>
                    <a:pt x="8" y="0"/>
                    <a:pt x="1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1598">
              <a:extLst>
                <a:ext uri="{FF2B5EF4-FFF2-40B4-BE49-F238E27FC236}">
                  <a16:creationId xmlns:a16="http://schemas.microsoft.com/office/drawing/2014/main" id="{93D5F1E7-DE33-4784-A347-F99BB98C8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510" y="636795"/>
              <a:ext cx="53481" cy="174513"/>
            </a:xfrm>
            <a:custGeom>
              <a:avLst/>
              <a:gdLst>
                <a:gd name="T0" fmla="*/ 6 w 8"/>
                <a:gd name="T1" fmla="*/ 0 h 26"/>
                <a:gd name="T2" fmla="*/ 8 w 8"/>
                <a:gd name="T3" fmla="*/ 1 h 26"/>
                <a:gd name="T4" fmla="*/ 4 w 8"/>
                <a:gd name="T5" fmla="*/ 26 h 26"/>
                <a:gd name="T6" fmla="*/ 0 w 8"/>
                <a:gd name="T7" fmla="*/ 18 h 26"/>
                <a:gd name="T8" fmla="*/ 1 w 8"/>
                <a:gd name="T9" fmla="*/ 14 h 26"/>
                <a:gd name="T10" fmla="*/ 3 w 8"/>
                <a:gd name="T11" fmla="*/ 13 h 26"/>
                <a:gd name="T12" fmla="*/ 1 w 8"/>
                <a:gd name="T13" fmla="*/ 9 h 26"/>
                <a:gd name="T14" fmla="*/ 2 w 8"/>
                <a:gd name="T15" fmla="*/ 1 h 26"/>
                <a:gd name="T16" fmla="*/ 6 w 8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6">
                  <a:moveTo>
                    <a:pt x="6" y="0"/>
                  </a:moveTo>
                  <a:cubicBezTo>
                    <a:pt x="8" y="1"/>
                    <a:pt x="8" y="1"/>
                    <a:pt x="8" y="1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4" y="0"/>
                    <a:pt x="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" name="Freeform 1599">
              <a:extLst>
                <a:ext uri="{FF2B5EF4-FFF2-40B4-BE49-F238E27FC236}">
                  <a16:creationId xmlns:a16="http://schemas.microsoft.com/office/drawing/2014/main" id="{E407A7B4-7618-45C9-9CF9-F072C51BD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92887" cy="379987"/>
            </a:xfrm>
            <a:custGeom>
              <a:avLst/>
              <a:gdLst>
                <a:gd name="T0" fmla="*/ 0 w 14"/>
                <a:gd name="T1" fmla="*/ 0 h 57"/>
                <a:gd name="T2" fmla="*/ 2 w 14"/>
                <a:gd name="T3" fmla="*/ 44 h 57"/>
                <a:gd name="T4" fmla="*/ 1 w 14"/>
                <a:gd name="T5" fmla="*/ 57 h 57"/>
                <a:gd name="T6" fmla="*/ 12 w 14"/>
                <a:gd name="T7" fmla="*/ 56 h 57"/>
                <a:gd name="T8" fmla="*/ 13 w 14"/>
                <a:gd name="T9" fmla="*/ 32 h 57"/>
                <a:gd name="T10" fmla="*/ 11 w 14"/>
                <a:gd name="T11" fmla="*/ 3 h 57"/>
                <a:gd name="T12" fmla="*/ 0 w 14"/>
                <a:gd name="T13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57">
                  <a:moveTo>
                    <a:pt x="0" y="0"/>
                  </a:moveTo>
                  <a:cubicBezTo>
                    <a:pt x="0" y="0"/>
                    <a:pt x="3" y="36"/>
                    <a:pt x="2" y="44"/>
                  </a:cubicBezTo>
                  <a:cubicBezTo>
                    <a:pt x="1" y="51"/>
                    <a:pt x="1" y="57"/>
                    <a:pt x="1" y="57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2" y="56"/>
                    <a:pt x="12" y="52"/>
                    <a:pt x="13" y="32"/>
                  </a:cubicBezTo>
                  <a:cubicBezTo>
                    <a:pt x="14" y="22"/>
                    <a:pt x="11" y="3"/>
                    <a:pt x="11" y="3"/>
                  </a:cubicBezTo>
                  <a:cubicBezTo>
                    <a:pt x="11" y="3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5" name="Freeform 1600">
              <a:extLst>
                <a:ext uri="{FF2B5EF4-FFF2-40B4-BE49-F238E27FC236}">
                  <a16:creationId xmlns:a16="http://schemas.microsoft.com/office/drawing/2014/main" id="{0B57340A-E0D3-4A1C-8627-D7AEAF878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9246" y="636795"/>
              <a:ext cx="39406" cy="174513"/>
            </a:xfrm>
            <a:custGeom>
              <a:avLst/>
              <a:gdLst>
                <a:gd name="T0" fmla="*/ 1 w 6"/>
                <a:gd name="T1" fmla="*/ 0 h 26"/>
                <a:gd name="T2" fmla="*/ 0 w 6"/>
                <a:gd name="T3" fmla="*/ 0 h 26"/>
                <a:gd name="T4" fmla="*/ 2 w 6"/>
                <a:gd name="T5" fmla="*/ 26 h 26"/>
                <a:gd name="T6" fmla="*/ 6 w 6"/>
                <a:gd name="T7" fmla="*/ 17 h 26"/>
                <a:gd name="T8" fmla="*/ 5 w 6"/>
                <a:gd name="T9" fmla="*/ 14 h 26"/>
                <a:gd name="T10" fmla="*/ 3 w 6"/>
                <a:gd name="T11" fmla="*/ 13 h 26"/>
                <a:gd name="T12" fmla="*/ 5 w 6"/>
                <a:gd name="T13" fmla="*/ 9 h 26"/>
                <a:gd name="T14" fmla="*/ 4 w 6"/>
                <a:gd name="T15" fmla="*/ 1 h 26"/>
                <a:gd name="T16" fmla="*/ 1 w 6"/>
                <a:gd name="T17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26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1601">
              <a:extLst>
                <a:ext uri="{FF2B5EF4-FFF2-40B4-BE49-F238E27FC236}">
                  <a16:creationId xmlns:a16="http://schemas.microsoft.com/office/drawing/2014/main" id="{230B1AD0-8C22-4FE0-9F00-9FABBC76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45239"/>
              <a:ext cx="98516" cy="258954"/>
            </a:xfrm>
            <a:custGeom>
              <a:avLst/>
              <a:gdLst>
                <a:gd name="T0" fmla="*/ 5 w 15"/>
                <a:gd name="T1" fmla="*/ 2 h 39"/>
                <a:gd name="T2" fmla="*/ 3 w 15"/>
                <a:gd name="T3" fmla="*/ 21 h 39"/>
                <a:gd name="T4" fmla="*/ 0 w 15"/>
                <a:gd name="T5" fmla="*/ 29 h 39"/>
                <a:gd name="T6" fmla="*/ 9 w 15"/>
                <a:gd name="T7" fmla="*/ 39 h 39"/>
                <a:gd name="T8" fmla="*/ 5 w 15"/>
                <a:gd name="T9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39">
                  <a:moveTo>
                    <a:pt x="5" y="2"/>
                  </a:moveTo>
                  <a:cubicBezTo>
                    <a:pt x="5" y="2"/>
                    <a:pt x="6" y="13"/>
                    <a:pt x="3" y="21"/>
                  </a:cubicBezTo>
                  <a:cubicBezTo>
                    <a:pt x="1" y="25"/>
                    <a:pt x="0" y="29"/>
                    <a:pt x="0" y="29"/>
                  </a:cubicBezTo>
                  <a:cubicBezTo>
                    <a:pt x="0" y="29"/>
                    <a:pt x="5" y="39"/>
                    <a:pt x="9" y="39"/>
                  </a:cubicBezTo>
                  <a:cubicBezTo>
                    <a:pt x="13" y="38"/>
                    <a:pt x="15" y="0"/>
                    <a:pt x="5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1602">
              <a:extLst>
                <a:ext uri="{FF2B5EF4-FFF2-40B4-BE49-F238E27FC236}">
                  <a16:creationId xmlns:a16="http://schemas.microsoft.com/office/drawing/2014/main" id="{6D4B28F7-9AB6-498B-82B2-9D28DC813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205476" cy="87255"/>
            </a:xfrm>
            <a:custGeom>
              <a:avLst/>
              <a:gdLst>
                <a:gd name="T0" fmla="*/ 28 w 31"/>
                <a:gd name="T1" fmla="*/ 11 h 13"/>
                <a:gd name="T2" fmla="*/ 0 w 31"/>
                <a:gd name="T3" fmla="*/ 6 h 13"/>
                <a:gd name="T4" fmla="*/ 3 w 31"/>
                <a:gd name="T5" fmla="*/ 0 h 13"/>
                <a:gd name="T6" fmla="*/ 14 w 31"/>
                <a:gd name="T7" fmla="*/ 1 h 13"/>
                <a:gd name="T8" fmla="*/ 28 w 31"/>
                <a:gd name="T9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3">
                  <a:moveTo>
                    <a:pt x="28" y="11"/>
                  </a:moveTo>
                  <a:cubicBezTo>
                    <a:pt x="28" y="11"/>
                    <a:pt x="17" y="13"/>
                    <a:pt x="0" y="6"/>
                  </a:cubicBezTo>
                  <a:cubicBezTo>
                    <a:pt x="0" y="6"/>
                    <a:pt x="2" y="0"/>
                    <a:pt x="3" y="0"/>
                  </a:cubicBezTo>
                  <a:cubicBezTo>
                    <a:pt x="3" y="0"/>
                    <a:pt x="8" y="1"/>
                    <a:pt x="14" y="1"/>
                  </a:cubicBezTo>
                  <a:cubicBezTo>
                    <a:pt x="18" y="1"/>
                    <a:pt x="31" y="3"/>
                    <a:pt x="28" y="11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1603">
              <a:extLst>
                <a:ext uri="{FF2B5EF4-FFF2-40B4-BE49-F238E27FC236}">
                  <a16:creationId xmlns:a16="http://schemas.microsoft.com/office/drawing/2014/main" id="{0D0D54E6-9822-4AFD-9FB4-D9B2F33B6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652" y="656498"/>
              <a:ext cx="53481" cy="208289"/>
            </a:xfrm>
            <a:custGeom>
              <a:avLst/>
              <a:gdLst>
                <a:gd name="T0" fmla="*/ 3 w 8"/>
                <a:gd name="T1" fmla="*/ 31 h 31"/>
                <a:gd name="T2" fmla="*/ 4 w 8"/>
                <a:gd name="T3" fmla="*/ 30 h 31"/>
                <a:gd name="T4" fmla="*/ 4 w 8"/>
                <a:gd name="T5" fmla="*/ 30 h 31"/>
                <a:gd name="T6" fmla="*/ 5 w 8"/>
                <a:gd name="T7" fmla="*/ 19 h 31"/>
                <a:gd name="T8" fmla="*/ 6 w 8"/>
                <a:gd name="T9" fmla="*/ 1 h 31"/>
                <a:gd name="T10" fmla="*/ 6 w 8"/>
                <a:gd name="T11" fmla="*/ 0 h 31"/>
                <a:gd name="T12" fmla="*/ 5 w 8"/>
                <a:gd name="T13" fmla="*/ 0 h 31"/>
                <a:gd name="T14" fmla="*/ 3 w 8"/>
                <a:gd name="T15" fmla="*/ 19 h 31"/>
                <a:gd name="T16" fmla="*/ 0 w 8"/>
                <a:gd name="T17" fmla="*/ 27 h 31"/>
                <a:gd name="T18" fmla="*/ 2 w 8"/>
                <a:gd name="T19" fmla="*/ 31 h 31"/>
                <a:gd name="T20" fmla="*/ 3 w 8"/>
                <a:gd name="T2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" h="31">
                  <a:moveTo>
                    <a:pt x="3" y="31"/>
                  </a:moveTo>
                  <a:cubicBezTo>
                    <a:pt x="3" y="31"/>
                    <a:pt x="4" y="31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26"/>
                    <a:pt x="3" y="22"/>
                    <a:pt x="5" y="19"/>
                  </a:cubicBezTo>
                  <a:cubicBezTo>
                    <a:pt x="8" y="13"/>
                    <a:pt x="6" y="7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6" y="11"/>
                    <a:pt x="3" y="19"/>
                  </a:cubicBezTo>
                  <a:cubicBezTo>
                    <a:pt x="1" y="23"/>
                    <a:pt x="0" y="27"/>
                    <a:pt x="0" y="27"/>
                  </a:cubicBezTo>
                  <a:cubicBezTo>
                    <a:pt x="0" y="27"/>
                    <a:pt x="1" y="29"/>
                    <a:pt x="2" y="31"/>
                  </a:cubicBezTo>
                  <a:lnTo>
                    <a:pt x="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1604">
              <a:extLst>
                <a:ext uri="{FF2B5EF4-FFF2-40B4-BE49-F238E27FC236}">
                  <a16:creationId xmlns:a16="http://schemas.microsoft.com/office/drawing/2014/main" id="{76F14179-F486-4F3F-9059-0395027CB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1990" y="831010"/>
              <a:ext cx="151995" cy="59108"/>
            </a:xfrm>
            <a:custGeom>
              <a:avLst/>
              <a:gdLst>
                <a:gd name="T0" fmla="*/ 10 w 23"/>
                <a:gd name="T1" fmla="*/ 8 h 9"/>
                <a:gd name="T2" fmla="*/ 10 w 23"/>
                <a:gd name="T3" fmla="*/ 5 h 9"/>
                <a:gd name="T4" fmla="*/ 18 w 23"/>
                <a:gd name="T5" fmla="*/ 4 h 9"/>
                <a:gd name="T6" fmla="*/ 18 w 23"/>
                <a:gd name="T7" fmla="*/ 4 h 9"/>
                <a:gd name="T8" fmla="*/ 20 w 23"/>
                <a:gd name="T9" fmla="*/ 5 h 9"/>
                <a:gd name="T10" fmla="*/ 21 w 23"/>
                <a:gd name="T11" fmla="*/ 5 h 9"/>
                <a:gd name="T12" fmla="*/ 22 w 23"/>
                <a:gd name="T13" fmla="*/ 5 h 9"/>
                <a:gd name="T14" fmla="*/ 23 w 23"/>
                <a:gd name="T15" fmla="*/ 4 h 9"/>
                <a:gd name="T16" fmla="*/ 23 w 23"/>
                <a:gd name="T17" fmla="*/ 4 h 9"/>
                <a:gd name="T18" fmla="*/ 22 w 23"/>
                <a:gd name="T19" fmla="*/ 2 h 9"/>
                <a:gd name="T20" fmla="*/ 14 w 23"/>
                <a:gd name="T21" fmla="*/ 1 h 9"/>
                <a:gd name="T22" fmla="*/ 3 w 23"/>
                <a:gd name="T23" fmla="*/ 0 h 9"/>
                <a:gd name="T24" fmla="*/ 0 w 23"/>
                <a:gd name="T25" fmla="*/ 6 h 9"/>
                <a:gd name="T26" fmla="*/ 9 w 23"/>
                <a:gd name="T27" fmla="*/ 9 h 9"/>
                <a:gd name="T28" fmla="*/ 10 w 23"/>
                <a:gd name="T29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9">
                  <a:moveTo>
                    <a:pt x="10" y="8"/>
                  </a:moveTo>
                  <a:cubicBezTo>
                    <a:pt x="9" y="7"/>
                    <a:pt x="10" y="6"/>
                    <a:pt x="10" y="5"/>
                  </a:cubicBezTo>
                  <a:cubicBezTo>
                    <a:pt x="12" y="3"/>
                    <a:pt x="15" y="2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4"/>
                    <a:pt x="20" y="5"/>
                    <a:pt x="20" y="5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cubicBezTo>
                    <a:pt x="22" y="5"/>
                    <a:pt x="23" y="5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2" y="3"/>
                    <a:pt x="22" y="2"/>
                  </a:cubicBezTo>
                  <a:cubicBezTo>
                    <a:pt x="19" y="1"/>
                    <a:pt x="16" y="1"/>
                    <a:pt x="14" y="1"/>
                  </a:cubicBezTo>
                  <a:cubicBezTo>
                    <a:pt x="8" y="1"/>
                    <a:pt x="3" y="0"/>
                    <a:pt x="3" y="0"/>
                  </a:cubicBezTo>
                  <a:cubicBezTo>
                    <a:pt x="2" y="0"/>
                    <a:pt x="0" y="6"/>
                    <a:pt x="0" y="6"/>
                  </a:cubicBezTo>
                  <a:cubicBezTo>
                    <a:pt x="3" y="7"/>
                    <a:pt x="6" y="8"/>
                    <a:pt x="9" y="9"/>
                  </a:cubicBezTo>
                  <a:lnTo>
                    <a:pt x="10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5" name="Freeform 1605">
              <a:extLst>
                <a:ext uri="{FF2B5EF4-FFF2-40B4-BE49-F238E27FC236}">
                  <a16:creationId xmlns:a16="http://schemas.microsoft.com/office/drawing/2014/main" id="{A7073E32-8B96-4EB8-97F9-325FDCC7D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05679"/>
              <a:ext cx="81628" cy="25332"/>
            </a:xfrm>
            <a:custGeom>
              <a:avLst/>
              <a:gdLst>
                <a:gd name="T0" fmla="*/ 12 w 12"/>
                <a:gd name="T1" fmla="*/ 2 h 4"/>
                <a:gd name="T2" fmla="*/ 3 w 12"/>
                <a:gd name="T3" fmla="*/ 1 h 4"/>
                <a:gd name="T4" fmla="*/ 3 w 12"/>
                <a:gd name="T5" fmla="*/ 3 h 4"/>
                <a:gd name="T6" fmla="*/ 12 w 12"/>
                <a:gd name="T7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4">
                  <a:moveTo>
                    <a:pt x="12" y="2"/>
                  </a:moveTo>
                  <a:cubicBezTo>
                    <a:pt x="12" y="2"/>
                    <a:pt x="5" y="0"/>
                    <a:pt x="3" y="1"/>
                  </a:cubicBezTo>
                  <a:cubicBezTo>
                    <a:pt x="1" y="2"/>
                    <a:pt x="0" y="4"/>
                    <a:pt x="3" y="3"/>
                  </a:cubicBezTo>
                  <a:cubicBezTo>
                    <a:pt x="5" y="3"/>
                    <a:pt x="12" y="2"/>
                    <a:pt x="12" y="2"/>
                  </a:cubicBezTo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7" name="Freeform 1606">
              <a:extLst>
                <a:ext uri="{FF2B5EF4-FFF2-40B4-BE49-F238E27FC236}">
                  <a16:creationId xmlns:a16="http://schemas.microsoft.com/office/drawing/2014/main" id="{FD6A5F9E-30B9-4B64-8C16-B2EFDBBF7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180" y="645239"/>
              <a:ext cx="95701" cy="264584"/>
            </a:xfrm>
            <a:custGeom>
              <a:avLst/>
              <a:gdLst>
                <a:gd name="T0" fmla="*/ 11 w 14"/>
                <a:gd name="T1" fmla="*/ 2 h 40"/>
                <a:gd name="T2" fmla="*/ 11 w 14"/>
                <a:gd name="T3" fmla="*/ 16 h 40"/>
                <a:gd name="T4" fmla="*/ 14 w 14"/>
                <a:gd name="T5" fmla="*/ 31 h 40"/>
                <a:gd name="T6" fmla="*/ 5 w 14"/>
                <a:gd name="T7" fmla="*/ 38 h 40"/>
                <a:gd name="T8" fmla="*/ 11 w 1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0">
                  <a:moveTo>
                    <a:pt x="11" y="2"/>
                  </a:moveTo>
                  <a:cubicBezTo>
                    <a:pt x="11" y="2"/>
                    <a:pt x="9" y="9"/>
                    <a:pt x="11" y="16"/>
                  </a:cubicBezTo>
                  <a:cubicBezTo>
                    <a:pt x="13" y="22"/>
                    <a:pt x="14" y="31"/>
                    <a:pt x="14" y="31"/>
                  </a:cubicBezTo>
                  <a:cubicBezTo>
                    <a:pt x="14" y="31"/>
                    <a:pt x="8" y="40"/>
                    <a:pt x="5" y="38"/>
                  </a:cubicBezTo>
                  <a:cubicBezTo>
                    <a:pt x="1" y="37"/>
                    <a:pt x="0" y="0"/>
                    <a:pt x="11" y="2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9" name="Freeform 1607">
              <a:extLst>
                <a:ext uri="{FF2B5EF4-FFF2-40B4-BE49-F238E27FC236}">
                  <a16:creationId xmlns:a16="http://schemas.microsoft.com/office/drawing/2014/main" id="{6FBE8126-85AB-46C5-815A-F88E010E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1550" y="811308"/>
              <a:ext cx="247696" cy="112589"/>
            </a:xfrm>
            <a:custGeom>
              <a:avLst/>
              <a:gdLst>
                <a:gd name="T0" fmla="*/ 6 w 37"/>
                <a:gd name="T1" fmla="*/ 13 h 17"/>
                <a:gd name="T2" fmla="*/ 37 w 37"/>
                <a:gd name="T3" fmla="*/ 5 h 17"/>
                <a:gd name="T4" fmla="*/ 34 w 37"/>
                <a:gd name="T5" fmla="*/ 0 h 17"/>
                <a:gd name="T6" fmla="*/ 15 w 37"/>
                <a:gd name="T7" fmla="*/ 2 h 17"/>
                <a:gd name="T8" fmla="*/ 6 w 37"/>
                <a:gd name="T9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7">
                  <a:moveTo>
                    <a:pt x="6" y="13"/>
                  </a:moveTo>
                  <a:cubicBezTo>
                    <a:pt x="6" y="13"/>
                    <a:pt x="15" y="17"/>
                    <a:pt x="37" y="5"/>
                  </a:cubicBezTo>
                  <a:cubicBezTo>
                    <a:pt x="37" y="5"/>
                    <a:pt x="35" y="0"/>
                    <a:pt x="34" y="0"/>
                  </a:cubicBezTo>
                  <a:cubicBezTo>
                    <a:pt x="33" y="0"/>
                    <a:pt x="24" y="0"/>
                    <a:pt x="15" y="2"/>
                  </a:cubicBezTo>
                  <a:cubicBezTo>
                    <a:pt x="12" y="3"/>
                    <a:pt x="0" y="6"/>
                    <a:pt x="6" y="13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1" name="Freeform 1608">
              <a:extLst>
                <a:ext uri="{FF2B5EF4-FFF2-40B4-BE49-F238E27FC236}">
                  <a16:creationId xmlns:a16="http://schemas.microsoft.com/office/drawing/2014/main" id="{796FCEED-C9E3-4AFA-982B-381B6F3FF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956" y="656498"/>
              <a:ext cx="61924" cy="188585"/>
            </a:xfrm>
            <a:custGeom>
              <a:avLst/>
              <a:gdLst>
                <a:gd name="T0" fmla="*/ 3 w 9"/>
                <a:gd name="T1" fmla="*/ 1 h 28"/>
                <a:gd name="T2" fmla="*/ 3 w 9"/>
                <a:gd name="T3" fmla="*/ 16 h 28"/>
                <a:gd name="T4" fmla="*/ 6 w 9"/>
                <a:gd name="T5" fmla="*/ 23 h 28"/>
                <a:gd name="T6" fmla="*/ 6 w 9"/>
                <a:gd name="T7" fmla="*/ 28 h 28"/>
                <a:gd name="T8" fmla="*/ 9 w 9"/>
                <a:gd name="T9" fmla="*/ 27 h 28"/>
                <a:gd name="T10" fmla="*/ 6 w 9"/>
                <a:gd name="T11" fmla="*/ 14 h 28"/>
                <a:gd name="T12" fmla="*/ 6 w 9"/>
                <a:gd name="T13" fmla="*/ 0 h 28"/>
                <a:gd name="T14" fmla="*/ 3 w 9"/>
                <a:gd name="T15" fmla="*/ 0 h 28"/>
                <a:gd name="T16" fmla="*/ 3 w 9"/>
                <a:gd name="T17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28">
                  <a:moveTo>
                    <a:pt x="3" y="1"/>
                  </a:moveTo>
                  <a:cubicBezTo>
                    <a:pt x="2" y="5"/>
                    <a:pt x="0" y="11"/>
                    <a:pt x="3" y="16"/>
                  </a:cubicBezTo>
                  <a:cubicBezTo>
                    <a:pt x="4" y="18"/>
                    <a:pt x="6" y="20"/>
                    <a:pt x="6" y="23"/>
                  </a:cubicBezTo>
                  <a:cubicBezTo>
                    <a:pt x="6" y="25"/>
                    <a:pt x="6" y="26"/>
                    <a:pt x="6" y="28"/>
                  </a:cubicBezTo>
                  <a:cubicBezTo>
                    <a:pt x="7" y="28"/>
                    <a:pt x="8" y="27"/>
                    <a:pt x="9" y="27"/>
                  </a:cubicBezTo>
                  <a:cubicBezTo>
                    <a:pt x="8" y="24"/>
                    <a:pt x="8" y="19"/>
                    <a:pt x="6" y="14"/>
                  </a:cubicBezTo>
                  <a:cubicBezTo>
                    <a:pt x="4" y="7"/>
                    <a:pt x="6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lnTo>
                    <a:pt x="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3" name="Freeform 1609">
              <a:extLst>
                <a:ext uri="{FF2B5EF4-FFF2-40B4-BE49-F238E27FC236}">
                  <a16:creationId xmlns:a16="http://schemas.microsoft.com/office/drawing/2014/main" id="{D17DEB5C-1962-4F0B-B719-327F91E1CE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0362" y="811308"/>
              <a:ext cx="168883" cy="39406"/>
            </a:xfrm>
            <a:custGeom>
              <a:avLst/>
              <a:gdLst>
                <a:gd name="T0" fmla="*/ 0 w 25"/>
                <a:gd name="T1" fmla="*/ 5 h 6"/>
                <a:gd name="T2" fmla="*/ 20 w 25"/>
                <a:gd name="T3" fmla="*/ 1 h 6"/>
                <a:gd name="T4" fmla="*/ 23 w 25"/>
                <a:gd name="T5" fmla="*/ 6 h 6"/>
                <a:gd name="T6" fmla="*/ 25 w 25"/>
                <a:gd name="T7" fmla="*/ 5 h 6"/>
                <a:gd name="T8" fmla="*/ 22 w 25"/>
                <a:gd name="T9" fmla="*/ 0 h 6"/>
                <a:gd name="T10" fmla="*/ 3 w 25"/>
                <a:gd name="T11" fmla="*/ 2 h 6"/>
                <a:gd name="T12" fmla="*/ 0 w 25"/>
                <a:gd name="T13" fmla="*/ 3 h 6"/>
                <a:gd name="T14" fmla="*/ 0 w 25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" h="6">
                  <a:moveTo>
                    <a:pt x="0" y="5"/>
                  </a:moveTo>
                  <a:cubicBezTo>
                    <a:pt x="6" y="2"/>
                    <a:pt x="15" y="2"/>
                    <a:pt x="20" y="1"/>
                  </a:cubicBezTo>
                  <a:cubicBezTo>
                    <a:pt x="22" y="1"/>
                    <a:pt x="23" y="4"/>
                    <a:pt x="23" y="6"/>
                  </a:cubicBezTo>
                  <a:cubicBezTo>
                    <a:pt x="24" y="6"/>
                    <a:pt x="24" y="5"/>
                    <a:pt x="25" y="5"/>
                  </a:cubicBezTo>
                  <a:cubicBezTo>
                    <a:pt x="25" y="5"/>
                    <a:pt x="23" y="0"/>
                    <a:pt x="22" y="0"/>
                  </a:cubicBezTo>
                  <a:cubicBezTo>
                    <a:pt x="21" y="0"/>
                    <a:pt x="12" y="0"/>
                    <a:pt x="3" y="2"/>
                  </a:cubicBezTo>
                  <a:cubicBezTo>
                    <a:pt x="3" y="2"/>
                    <a:pt x="1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" name="Freeform 1610">
              <a:extLst>
                <a:ext uri="{FF2B5EF4-FFF2-40B4-BE49-F238E27FC236}">
                  <a16:creationId xmlns:a16="http://schemas.microsoft.com/office/drawing/2014/main" id="{570D8DAF-8F44-4DC1-9EE5-4DB52BD5D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544" y="805679"/>
              <a:ext cx="64739" cy="45036"/>
            </a:xfrm>
            <a:custGeom>
              <a:avLst/>
              <a:gdLst>
                <a:gd name="T0" fmla="*/ 0 w 10"/>
                <a:gd name="T1" fmla="*/ 1 h 7"/>
                <a:gd name="T2" fmla="*/ 10 w 10"/>
                <a:gd name="T3" fmla="*/ 2 h 7"/>
                <a:gd name="T4" fmla="*/ 9 w 10"/>
                <a:gd name="T5" fmla="*/ 5 h 7"/>
                <a:gd name="T6" fmla="*/ 3 w 10"/>
                <a:gd name="T7" fmla="*/ 6 h 7"/>
                <a:gd name="T8" fmla="*/ 0 w 10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7">
                  <a:moveTo>
                    <a:pt x="0" y="1"/>
                  </a:moveTo>
                  <a:cubicBezTo>
                    <a:pt x="0" y="1"/>
                    <a:pt x="7" y="0"/>
                    <a:pt x="10" y="2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5"/>
                    <a:pt x="5" y="7"/>
                    <a:pt x="3" y="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FB2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Rectangle 1611">
              <a:extLst>
                <a:ext uri="{FF2B5EF4-FFF2-40B4-BE49-F238E27FC236}">
                  <a16:creationId xmlns:a16="http://schemas.microsoft.com/office/drawing/2014/main" id="{AD06F6A4-A45D-4FBC-B95F-F5D67122E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1990" y="631166"/>
              <a:ext cx="78812" cy="19702"/>
            </a:xfrm>
            <a:prstGeom prst="rect">
              <a:avLst/>
            </a:prstGeom>
            <a:solidFill>
              <a:srgbClr val="C5C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613">
              <a:extLst>
                <a:ext uri="{FF2B5EF4-FFF2-40B4-BE49-F238E27FC236}">
                  <a16:creationId xmlns:a16="http://schemas.microsoft.com/office/drawing/2014/main" id="{D711B959-8CED-48E1-BD27-B62A95A1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1395" y="631166"/>
              <a:ext cx="47851" cy="19702"/>
            </a:xfrm>
            <a:custGeom>
              <a:avLst/>
              <a:gdLst>
                <a:gd name="T0" fmla="*/ 0 w 7"/>
                <a:gd name="T1" fmla="*/ 0 h 3"/>
                <a:gd name="T2" fmla="*/ 2 w 7"/>
                <a:gd name="T3" fmla="*/ 3 h 3"/>
                <a:gd name="T4" fmla="*/ 7 w 7"/>
                <a:gd name="T5" fmla="*/ 3 h 3"/>
                <a:gd name="T6" fmla="*/ 7 w 7"/>
                <a:gd name="T7" fmla="*/ 0 h 3"/>
                <a:gd name="T8" fmla="*/ 0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0"/>
                    <a:pt x="3" y="2"/>
                    <a:pt x="2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1" name="Freeform 1614">
              <a:extLst>
                <a:ext uri="{FF2B5EF4-FFF2-40B4-BE49-F238E27FC236}">
                  <a16:creationId xmlns:a16="http://schemas.microsoft.com/office/drawing/2014/main" id="{9CB661DD-AB71-4600-9D0B-68EDE3180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5765" y="650870"/>
              <a:ext cx="19704" cy="14073"/>
            </a:xfrm>
            <a:custGeom>
              <a:avLst/>
              <a:gdLst>
                <a:gd name="T0" fmla="*/ 0 w 7"/>
                <a:gd name="T1" fmla="*/ 0 h 5"/>
                <a:gd name="T2" fmla="*/ 7 w 7"/>
                <a:gd name="T3" fmla="*/ 0 h 5"/>
                <a:gd name="T4" fmla="*/ 4 w 7"/>
                <a:gd name="T5" fmla="*/ 5 h 5"/>
                <a:gd name="T6" fmla="*/ 0 w 7"/>
                <a:gd name="T7" fmla="*/ 5 h 5"/>
                <a:gd name="T8" fmla="*/ 0 w 7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lnTo>
                    <a:pt x="7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3" name="Freeform 1615">
              <a:extLst>
                <a:ext uri="{FF2B5EF4-FFF2-40B4-BE49-F238E27FC236}">
                  <a16:creationId xmlns:a16="http://schemas.microsoft.com/office/drawing/2014/main" id="{D77BAA93-F12A-4114-AE8C-38D8A47A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28147" cy="14073"/>
            </a:xfrm>
            <a:custGeom>
              <a:avLst/>
              <a:gdLst>
                <a:gd name="T0" fmla="*/ 4 w 4"/>
                <a:gd name="T1" fmla="*/ 2 h 2"/>
                <a:gd name="T2" fmla="*/ 4 w 4"/>
                <a:gd name="T3" fmla="*/ 0 h 2"/>
                <a:gd name="T4" fmla="*/ 1 w 4"/>
                <a:gd name="T5" fmla="*/ 0 h 2"/>
                <a:gd name="T6" fmla="*/ 1 w 4"/>
                <a:gd name="T7" fmla="*/ 2 h 2"/>
                <a:gd name="T8" fmla="*/ 4 w 4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4" y="2"/>
                    <a:pt x="4" y="1"/>
                    <a:pt x="4" y="0"/>
                  </a:cubicBezTo>
                  <a:cubicBezTo>
                    <a:pt x="3" y="0"/>
                    <a:pt x="1" y="0"/>
                    <a:pt x="1" y="0"/>
                  </a:cubicBezTo>
                  <a:cubicBezTo>
                    <a:pt x="1" y="1"/>
                    <a:pt x="0" y="2"/>
                    <a:pt x="1" y="2"/>
                  </a:cubicBezTo>
                  <a:cubicBezTo>
                    <a:pt x="1" y="2"/>
                    <a:pt x="4" y="2"/>
                    <a:pt x="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5" name="Freeform 1616">
              <a:extLst>
                <a:ext uri="{FF2B5EF4-FFF2-40B4-BE49-F238E27FC236}">
                  <a16:creationId xmlns:a16="http://schemas.microsoft.com/office/drawing/2014/main" id="{1611050C-5B00-471D-BD65-26777C753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32291"/>
            </a:xfrm>
            <a:custGeom>
              <a:avLst/>
              <a:gdLst>
                <a:gd name="T0" fmla="*/ 14 w 14"/>
                <a:gd name="T1" fmla="*/ 47 h 47"/>
                <a:gd name="T2" fmla="*/ 0 w 14"/>
                <a:gd name="T3" fmla="*/ 47 h 47"/>
                <a:gd name="T4" fmla="*/ 5 w 14"/>
                <a:gd name="T5" fmla="*/ 0 h 47"/>
                <a:gd name="T6" fmla="*/ 9 w 14"/>
                <a:gd name="T7" fmla="*/ 0 h 47"/>
                <a:gd name="T8" fmla="*/ 14 w 14"/>
                <a:gd name="T9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47">
                  <a:moveTo>
                    <a:pt x="14" y="47"/>
                  </a:moveTo>
                  <a:lnTo>
                    <a:pt x="0" y="47"/>
                  </a:lnTo>
                  <a:lnTo>
                    <a:pt x="5" y="0"/>
                  </a:lnTo>
                  <a:lnTo>
                    <a:pt x="9" y="0"/>
                  </a:lnTo>
                  <a:lnTo>
                    <a:pt x="14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Freeform 1617">
              <a:extLst>
                <a:ext uri="{FF2B5EF4-FFF2-40B4-BE49-F238E27FC236}">
                  <a16:creationId xmlns:a16="http://schemas.microsoft.com/office/drawing/2014/main" id="{12D65836-9EC3-4E76-AA45-FE9D1291E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4073"/>
            </a:xfrm>
            <a:custGeom>
              <a:avLst/>
              <a:gdLst>
                <a:gd name="T0" fmla="*/ 2 w 14"/>
                <a:gd name="T1" fmla="*/ 5 h 5"/>
                <a:gd name="T2" fmla="*/ 0 w 14"/>
                <a:gd name="T3" fmla="*/ 0 h 5"/>
                <a:gd name="T4" fmla="*/ 14 w 14"/>
                <a:gd name="T5" fmla="*/ 0 h 5"/>
                <a:gd name="T6" fmla="*/ 12 w 14"/>
                <a:gd name="T7" fmla="*/ 5 h 5"/>
                <a:gd name="T8" fmla="*/ 2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2" y="5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2" y="5"/>
                  </a:lnTo>
                  <a:lnTo>
                    <a:pt x="2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Freeform 1618">
              <a:extLst>
                <a:ext uri="{FF2B5EF4-FFF2-40B4-BE49-F238E27FC236}">
                  <a16:creationId xmlns:a16="http://schemas.microsoft.com/office/drawing/2014/main" id="{8410B92F-6A34-4A80-95C1-7BC387CE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5469" y="636795"/>
              <a:ext cx="5629" cy="14073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2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Freeform 1619">
              <a:extLst>
                <a:ext uri="{FF2B5EF4-FFF2-40B4-BE49-F238E27FC236}">
                  <a16:creationId xmlns:a16="http://schemas.microsoft.com/office/drawing/2014/main" id="{4DC5F6E7-C0CB-4686-9018-475442C2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7322" y="636795"/>
              <a:ext cx="8445" cy="14073"/>
            </a:xfrm>
            <a:custGeom>
              <a:avLst/>
              <a:gdLst>
                <a:gd name="T0" fmla="*/ 0 w 1"/>
                <a:gd name="T1" fmla="*/ 2 h 2"/>
                <a:gd name="T2" fmla="*/ 0 w 1"/>
                <a:gd name="T3" fmla="*/ 2 h 2"/>
                <a:gd name="T4" fmla="*/ 1 w 1"/>
                <a:gd name="T5" fmla="*/ 0 h 2"/>
                <a:gd name="T6" fmla="*/ 1 w 1"/>
                <a:gd name="T7" fmla="*/ 0 h 2"/>
                <a:gd name="T8" fmla="*/ 0 w 1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3" name="Freeform 1620">
              <a:extLst>
                <a:ext uri="{FF2B5EF4-FFF2-40B4-BE49-F238E27FC236}">
                  <a16:creationId xmlns:a16="http://schemas.microsoft.com/office/drawing/2014/main" id="{78F7B544-628E-45DC-85C9-1B7503E6C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545" y="631166"/>
              <a:ext cx="47851" cy="19702"/>
            </a:xfrm>
            <a:custGeom>
              <a:avLst/>
              <a:gdLst>
                <a:gd name="T0" fmla="*/ 7 w 7"/>
                <a:gd name="T1" fmla="*/ 0 h 3"/>
                <a:gd name="T2" fmla="*/ 5 w 7"/>
                <a:gd name="T3" fmla="*/ 3 h 3"/>
                <a:gd name="T4" fmla="*/ 1 w 7"/>
                <a:gd name="T5" fmla="*/ 3 h 3"/>
                <a:gd name="T6" fmla="*/ 1 w 7"/>
                <a:gd name="T7" fmla="*/ 0 h 3"/>
                <a:gd name="T8" fmla="*/ 7 w 7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cubicBezTo>
                    <a:pt x="7" y="0"/>
                    <a:pt x="5" y="1"/>
                    <a:pt x="5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0" y="1"/>
                    <a:pt x="1" y="0"/>
                  </a:cubicBezTo>
                  <a:cubicBezTo>
                    <a:pt x="1" y="0"/>
                    <a:pt x="6" y="0"/>
                    <a:pt x="7" y="0"/>
                  </a:cubicBezTo>
                  <a:close/>
                </a:path>
              </a:pathLst>
            </a:custGeom>
            <a:solidFill>
              <a:srgbClr val="E5EA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5" name="Freeform 1621">
              <a:extLst>
                <a:ext uri="{FF2B5EF4-FFF2-40B4-BE49-F238E27FC236}">
                  <a16:creationId xmlns:a16="http://schemas.microsoft.com/office/drawing/2014/main" id="{9283FDDF-EC13-4823-9486-9E92997A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8058" y="783161"/>
              <a:ext cx="39406" cy="126662"/>
            </a:xfrm>
            <a:custGeom>
              <a:avLst/>
              <a:gdLst>
                <a:gd name="T0" fmla="*/ 6 w 6"/>
                <a:gd name="T1" fmla="*/ 0 h 19"/>
                <a:gd name="T2" fmla="*/ 4 w 6"/>
                <a:gd name="T3" fmla="*/ 17 h 19"/>
                <a:gd name="T4" fmla="*/ 1 w 6"/>
                <a:gd name="T5" fmla="*/ 11 h 19"/>
                <a:gd name="T6" fmla="*/ 3 w 6"/>
                <a:gd name="T7" fmla="*/ 15 h 19"/>
                <a:gd name="T8" fmla="*/ 4 w 6"/>
                <a:gd name="T9" fmla="*/ 5 h 19"/>
                <a:gd name="T10" fmla="*/ 6 w 6"/>
                <a:gd name="T1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9">
                  <a:moveTo>
                    <a:pt x="6" y="0"/>
                  </a:moveTo>
                  <a:cubicBezTo>
                    <a:pt x="6" y="0"/>
                    <a:pt x="5" y="16"/>
                    <a:pt x="4" y="17"/>
                  </a:cubicBezTo>
                  <a:cubicBezTo>
                    <a:pt x="2" y="18"/>
                    <a:pt x="3" y="13"/>
                    <a:pt x="1" y="11"/>
                  </a:cubicBezTo>
                  <a:cubicBezTo>
                    <a:pt x="0" y="8"/>
                    <a:pt x="2" y="11"/>
                    <a:pt x="3" y="15"/>
                  </a:cubicBezTo>
                  <a:cubicBezTo>
                    <a:pt x="3" y="19"/>
                    <a:pt x="4" y="11"/>
                    <a:pt x="4" y="5"/>
                  </a:cubicBezTo>
                  <a:cubicBezTo>
                    <a:pt x="3" y="0"/>
                    <a:pt x="5" y="12"/>
                    <a:pt x="6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7" name="Freeform 1622">
              <a:extLst>
                <a:ext uri="{FF2B5EF4-FFF2-40B4-BE49-F238E27FC236}">
                  <a16:creationId xmlns:a16="http://schemas.microsoft.com/office/drawing/2014/main" id="{D1C17168-E678-40E1-9103-5B0765B71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252" y="791606"/>
              <a:ext cx="39406" cy="118218"/>
            </a:xfrm>
            <a:custGeom>
              <a:avLst/>
              <a:gdLst>
                <a:gd name="T0" fmla="*/ 0 w 6"/>
                <a:gd name="T1" fmla="*/ 0 h 18"/>
                <a:gd name="T2" fmla="*/ 2 w 6"/>
                <a:gd name="T3" fmla="*/ 16 h 18"/>
                <a:gd name="T4" fmla="*/ 5 w 6"/>
                <a:gd name="T5" fmla="*/ 10 h 18"/>
                <a:gd name="T6" fmla="*/ 3 w 6"/>
                <a:gd name="T7" fmla="*/ 14 h 18"/>
                <a:gd name="T8" fmla="*/ 2 w 6"/>
                <a:gd name="T9" fmla="*/ 5 h 18"/>
                <a:gd name="T10" fmla="*/ 0 w 6"/>
                <a:gd name="T11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0"/>
                  </a:moveTo>
                  <a:cubicBezTo>
                    <a:pt x="0" y="0"/>
                    <a:pt x="1" y="15"/>
                    <a:pt x="2" y="16"/>
                  </a:cubicBezTo>
                  <a:cubicBezTo>
                    <a:pt x="4" y="17"/>
                    <a:pt x="3" y="13"/>
                    <a:pt x="5" y="10"/>
                  </a:cubicBezTo>
                  <a:cubicBezTo>
                    <a:pt x="6" y="8"/>
                    <a:pt x="4" y="10"/>
                    <a:pt x="3" y="14"/>
                  </a:cubicBezTo>
                  <a:cubicBezTo>
                    <a:pt x="3" y="18"/>
                    <a:pt x="2" y="10"/>
                    <a:pt x="2" y="5"/>
                  </a:cubicBezTo>
                  <a:cubicBezTo>
                    <a:pt x="3" y="0"/>
                    <a:pt x="1" y="11"/>
                    <a:pt x="0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1623">
              <a:extLst>
                <a:ext uri="{FF2B5EF4-FFF2-40B4-BE49-F238E27FC236}">
                  <a16:creationId xmlns:a16="http://schemas.microsoft.com/office/drawing/2014/main" id="{10E59D2D-4FDA-49FD-9A9E-1B092B793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1624">
              <a:extLst>
                <a:ext uri="{FF2B5EF4-FFF2-40B4-BE49-F238E27FC236}">
                  <a16:creationId xmlns:a16="http://schemas.microsoft.com/office/drawing/2014/main" id="{C6FC17E9-35E2-4C0F-9048-DD8359E33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782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3" name="Freeform 1625">
              <a:extLst>
                <a:ext uri="{FF2B5EF4-FFF2-40B4-BE49-F238E27FC236}">
                  <a16:creationId xmlns:a16="http://schemas.microsoft.com/office/drawing/2014/main" id="{0BB37B49-7B30-4A5F-B032-28AA27807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6345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5" name="Freeform 1626">
              <a:extLst>
                <a:ext uri="{FF2B5EF4-FFF2-40B4-BE49-F238E27FC236}">
                  <a16:creationId xmlns:a16="http://schemas.microsoft.com/office/drawing/2014/main" id="{893932E8-0CDF-43D4-8FD5-B85E9966C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1902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7" name="Freeform 1627">
              <a:extLst>
                <a:ext uri="{FF2B5EF4-FFF2-40B4-BE49-F238E27FC236}">
                  <a16:creationId xmlns:a16="http://schemas.microsoft.com/office/drawing/2014/main" id="{951F426E-0B83-4C35-983B-4DEDB8F6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9" name="Freeform 1628">
              <a:extLst>
                <a:ext uri="{FF2B5EF4-FFF2-40B4-BE49-F238E27FC236}">
                  <a16:creationId xmlns:a16="http://schemas.microsoft.com/office/drawing/2014/main" id="{24FCA1B6-58CB-49B8-A89F-ED3053230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77531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1" name="Freeform 1629">
              <a:extLst>
                <a:ext uri="{FF2B5EF4-FFF2-40B4-BE49-F238E27FC236}">
                  <a16:creationId xmlns:a16="http://schemas.microsoft.com/office/drawing/2014/main" id="{B01C94DA-00ED-4DA8-801B-65CB877E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8316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3" name="Freeform 1630">
              <a:extLst>
                <a:ext uri="{FF2B5EF4-FFF2-40B4-BE49-F238E27FC236}">
                  <a16:creationId xmlns:a16="http://schemas.microsoft.com/office/drawing/2014/main" id="{5C292C82-CA06-4EE4-B328-15471C453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5" name="Freeform 1631">
              <a:extLst>
                <a:ext uri="{FF2B5EF4-FFF2-40B4-BE49-F238E27FC236}">
                  <a16:creationId xmlns:a16="http://schemas.microsoft.com/office/drawing/2014/main" id="{1163D7F2-DAF5-4281-85DD-E43B2D3F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160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632">
              <a:extLst>
                <a:ext uri="{FF2B5EF4-FFF2-40B4-BE49-F238E27FC236}">
                  <a16:creationId xmlns:a16="http://schemas.microsoft.com/office/drawing/2014/main" id="{C771C5C1-A699-4F30-BAD5-759FDED1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9723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9" name="Freeform 1633">
              <a:extLst>
                <a:ext uri="{FF2B5EF4-FFF2-40B4-BE49-F238E27FC236}">
                  <a16:creationId xmlns:a16="http://schemas.microsoft.com/office/drawing/2014/main" id="{12BEF2BB-8F4D-4213-84D1-99462C751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1" name="Freeform 1634">
              <a:extLst>
                <a:ext uri="{FF2B5EF4-FFF2-40B4-BE49-F238E27FC236}">
                  <a16:creationId xmlns:a16="http://schemas.microsoft.com/office/drawing/2014/main" id="{C68C8829-29C2-4B75-A17A-A98500413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0567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3" name="Freeform 1635">
              <a:extLst>
                <a:ext uri="{FF2B5EF4-FFF2-40B4-BE49-F238E27FC236}">
                  <a16:creationId xmlns:a16="http://schemas.microsoft.com/office/drawing/2014/main" id="{FE763EA6-1348-4CD0-9E82-9472CCC2D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811308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5" name="Freeform 1636">
              <a:extLst>
                <a:ext uri="{FF2B5EF4-FFF2-40B4-BE49-F238E27FC236}">
                  <a16:creationId xmlns:a16="http://schemas.microsoft.com/office/drawing/2014/main" id="{D83010C5-D180-497E-BF1F-B75AF3417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9978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7" name="Freeform 1637">
              <a:extLst>
                <a:ext uri="{FF2B5EF4-FFF2-40B4-BE49-F238E27FC236}">
                  <a16:creationId xmlns:a16="http://schemas.microsoft.com/office/drawing/2014/main" id="{FE106D15-93C4-4509-9089-0A2A46993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1842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" name="Freeform 1638">
              <a:extLst>
                <a:ext uri="{FF2B5EF4-FFF2-40B4-BE49-F238E27FC236}">
                  <a16:creationId xmlns:a16="http://schemas.microsoft.com/office/drawing/2014/main" id="{5ADEFE92-C4E9-46A6-B7BE-B99A41D6D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1" name="Freeform 1639">
              <a:extLst>
                <a:ext uri="{FF2B5EF4-FFF2-40B4-BE49-F238E27FC236}">
                  <a16:creationId xmlns:a16="http://schemas.microsoft.com/office/drawing/2014/main" id="{54594B0F-CD3F-4802-85A6-1722498AD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4053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3" name="Freeform 1640">
              <a:extLst>
                <a:ext uri="{FF2B5EF4-FFF2-40B4-BE49-F238E27FC236}">
                  <a16:creationId xmlns:a16="http://schemas.microsoft.com/office/drawing/2014/main" id="{5FC6F957-0FD2-4CC8-94AB-3B5D65353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29682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5" name="Freeform 1641">
              <a:extLst>
                <a:ext uri="{FF2B5EF4-FFF2-40B4-BE49-F238E27FC236}">
                  <a16:creationId xmlns:a16="http://schemas.microsoft.com/office/drawing/2014/main" id="{4828CB8B-9517-4DD2-ACF4-543ADA3F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7" name="Freeform 1642">
              <a:extLst>
                <a:ext uri="{FF2B5EF4-FFF2-40B4-BE49-F238E27FC236}">
                  <a16:creationId xmlns:a16="http://schemas.microsoft.com/office/drawing/2014/main" id="{CD3CDF09-86C6-4B12-B85A-3CDEB8EA6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3812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9" name="Freeform 1643">
              <a:extLst>
                <a:ext uri="{FF2B5EF4-FFF2-40B4-BE49-F238E27FC236}">
                  <a16:creationId xmlns:a16="http://schemas.microsoft.com/office/drawing/2014/main" id="{F191CBE6-D48F-4EEE-9EBE-86E289F34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4375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1" name="Freeform 1644">
              <a:extLst>
                <a:ext uri="{FF2B5EF4-FFF2-40B4-BE49-F238E27FC236}">
                  <a16:creationId xmlns:a16="http://schemas.microsoft.com/office/drawing/2014/main" id="{8DCC7DF3-05D4-46E4-82A4-7C3C4B3C4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5220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3" name="Freeform 1645">
              <a:extLst>
                <a:ext uri="{FF2B5EF4-FFF2-40B4-BE49-F238E27FC236}">
                  <a16:creationId xmlns:a16="http://schemas.microsoft.com/office/drawing/2014/main" id="{22772597-F832-4E3E-8E62-681FB92E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5" name="Freeform 1646">
              <a:extLst>
                <a:ext uri="{FF2B5EF4-FFF2-40B4-BE49-F238E27FC236}">
                  <a16:creationId xmlns:a16="http://schemas.microsoft.com/office/drawing/2014/main" id="{A0E4F2AF-BE0D-423B-A3E6-9A232B0F4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0572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7" name="Freeform 1647">
              <a:extLst>
                <a:ext uri="{FF2B5EF4-FFF2-40B4-BE49-F238E27FC236}">
                  <a16:creationId xmlns:a16="http://schemas.microsoft.com/office/drawing/2014/main" id="{628ED8D3-2B19-416C-8F2E-5A01851B5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76201"/>
              <a:ext cx="39406" cy="22518"/>
            </a:xfrm>
            <a:custGeom>
              <a:avLst/>
              <a:gdLst>
                <a:gd name="T0" fmla="*/ 0 w 14"/>
                <a:gd name="T1" fmla="*/ 5 h 8"/>
                <a:gd name="T2" fmla="*/ 14 w 14"/>
                <a:gd name="T3" fmla="*/ 0 h 8"/>
                <a:gd name="T4" fmla="*/ 14 w 14"/>
                <a:gd name="T5" fmla="*/ 0 h 8"/>
                <a:gd name="T6" fmla="*/ 0 w 14"/>
                <a:gd name="T7" fmla="*/ 8 h 8"/>
                <a:gd name="T8" fmla="*/ 0 w 14"/>
                <a:gd name="T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8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9" name="Freeform 1648">
              <a:extLst>
                <a:ext uri="{FF2B5EF4-FFF2-40B4-BE49-F238E27FC236}">
                  <a16:creationId xmlns:a16="http://schemas.microsoft.com/office/drawing/2014/main" id="{78FB4473-525B-4035-A9E7-E0AAE4185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1" name="Freeform 1649">
              <a:extLst>
                <a:ext uri="{FF2B5EF4-FFF2-40B4-BE49-F238E27FC236}">
                  <a16:creationId xmlns:a16="http://schemas.microsoft.com/office/drawing/2014/main" id="{1690AD27-AC13-48ED-A7FF-036C325C9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84647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3" name="Freeform 1650">
              <a:extLst>
                <a:ext uri="{FF2B5EF4-FFF2-40B4-BE49-F238E27FC236}">
                  <a16:creationId xmlns:a16="http://schemas.microsoft.com/office/drawing/2014/main" id="{604E0EBA-3FFD-4956-8044-F9AE44ABE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027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5" name="Freeform 1651">
              <a:extLst>
                <a:ext uri="{FF2B5EF4-FFF2-40B4-BE49-F238E27FC236}">
                  <a16:creationId xmlns:a16="http://schemas.microsoft.com/office/drawing/2014/main" id="{88CA8CA2-AA41-44E7-BBB0-D45D4148B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98719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7" name="Freeform 1652">
              <a:extLst>
                <a:ext uri="{FF2B5EF4-FFF2-40B4-BE49-F238E27FC236}">
                  <a16:creationId xmlns:a16="http://schemas.microsoft.com/office/drawing/2014/main" id="{4C7717D4-D363-4896-8AAC-E38BAF048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9" name="Freeform 1653">
              <a:extLst>
                <a:ext uri="{FF2B5EF4-FFF2-40B4-BE49-F238E27FC236}">
                  <a16:creationId xmlns:a16="http://schemas.microsoft.com/office/drawing/2014/main" id="{B589FC56-3A45-426C-9F2C-8A34D980A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70434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1" name="Freeform 1654">
              <a:extLst>
                <a:ext uri="{FF2B5EF4-FFF2-40B4-BE49-F238E27FC236}">
                  <a16:creationId xmlns:a16="http://schemas.microsoft.com/office/drawing/2014/main" id="{087B52AB-EC27-4DB3-826C-FB241CFCE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25536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3" name="Freeform 1655">
              <a:extLst>
                <a:ext uri="{FF2B5EF4-FFF2-40B4-BE49-F238E27FC236}">
                  <a16:creationId xmlns:a16="http://schemas.microsoft.com/office/drawing/2014/main" id="{D0C15A53-20A3-498C-A4E0-00B4E6486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5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" name="Freeform 1656">
              <a:extLst>
                <a:ext uri="{FF2B5EF4-FFF2-40B4-BE49-F238E27FC236}">
                  <a16:creationId xmlns:a16="http://schemas.microsoft.com/office/drawing/2014/main" id="{F1778A12-19B7-4C05-A4A2-FEDB6791E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1166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7" name="Freeform 1657">
              <a:extLst>
                <a:ext uri="{FF2B5EF4-FFF2-40B4-BE49-F238E27FC236}">
                  <a16:creationId xmlns:a16="http://schemas.microsoft.com/office/drawing/2014/main" id="{BF8DF9C9-A281-4574-BDE8-4A494C420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36795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9" name="Freeform 1658">
              <a:extLst>
                <a:ext uri="{FF2B5EF4-FFF2-40B4-BE49-F238E27FC236}">
                  <a16:creationId xmlns:a16="http://schemas.microsoft.com/office/drawing/2014/main" id="{1BD0945C-7658-48CF-B91E-F677C9DC0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45240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1" name="Freeform 1659">
              <a:extLst>
                <a:ext uri="{FF2B5EF4-FFF2-40B4-BE49-F238E27FC236}">
                  <a16:creationId xmlns:a16="http://schemas.microsoft.com/office/drawing/2014/main" id="{7ECF8421-FE35-4F81-B098-081865EE6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4073"/>
            </a:xfrm>
            <a:custGeom>
              <a:avLst/>
              <a:gdLst>
                <a:gd name="T0" fmla="*/ 0 w 14"/>
                <a:gd name="T1" fmla="*/ 5 h 5"/>
                <a:gd name="T2" fmla="*/ 14 w 14"/>
                <a:gd name="T3" fmla="*/ 0 h 5"/>
                <a:gd name="T4" fmla="*/ 14 w 14"/>
                <a:gd name="T5" fmla="*/ 0 h 5"/>
                <a:gd name="T6" fmla="*/ 0 w 14"/>
                <a:gd name="T7" fmla="*/ 5 h 5"/>
                <a:gd name="T8" fmla="*/ 0 w 1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5">
                  <a:moveTo>
                    <a:pt x="0" y="5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3" name="Freeform 1660">
              <a:extLst>
                <a:ext uri="{FF2B5EF4-FFF2-40B4-BE49-F238E27FC236}">
                  <a16:creationId xmlns:a16="http://schemas.microsoft.com/office/drawing/2014/main" id="{82DB3B86-C02B-40FC-BA2C-DAC1491C5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0870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2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5" name="Freeform 1661">
              <a:extLst>
                <a:ext uri="{FF2B5EF4-FFF2-40B4-BE49-F238E27FC236}">
                  <a16:creationId xmlns:a16="http://schemas.microsoft.com/office/drawing/2014/main" id="{CC220CDD-89F1-463C-AA5C-2AC67DD03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56499"/>
              <a:ext cx="39406" cy="19702"/>
            </a:xfrm>
            <a:custGeom>
              <a:avLst/>
              <a:gdLst>
                <a:gd name="T0" fmla="*/ 0 w 14"/>
                <a:gd name="T1" fmla="*/ 7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7" name="Freeform 1662">
              <a:extLst>
                <a:ext uri="{FF2B5EF4-FFF2-40B4-BE49-F238E27FC236}">
                  <a16:creationId xmlns:a16="http://schemas.microsoft.com/office/drawing/2014/main" id="{E4220331-C559-4F4B-A813-898A03459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1692" y="664943"/>
              <a:ext cx="39406" cy="19702"/>
            </a:xfrm>
            <a:custGeom>
              <a:avLst/>
              <a:gdLst>
                <a:gd name="T0" fmla="*/ 0 w 14"/>
                <a:gd name="T1" fmla="*/ 4 h 7"/>
                <a:gd name="T2" fmla="*/ 14 w 14"/>
                <a:gd name="T3" fmla="*/ 0 h 7"/>
                <a:gd name="T4" fmla="*/ 14 w 14"/>
                <a:gd name="T5" fmla="*/ 0 h 7"/>
                <a:gd name="T6" fmla="*/ 0 w 14"/>
                <a:gd name="T7" fmla="*/ 7 h 7"/>
                <a:gd name="T8" fmla="*/ 0 w 14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7">
                  <a:moveTo>
                    <a:pt x="0" y="4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0" y="7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9" name="Freeform 1663">
              <a:extLst>
                <a:ext uri="{FF2B5EF4-FFF2-40B4-BE49-F238E27FC236}">
                  <a16:creationId xmlns:a16="http://schemas.microsoft.com/office/drawing/2014/main" id="{C7832132-0272-42EC-9511-1C91D4C91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0658" y="296215"/>
              <a:ext cx="295547" cy="261768"/>
            </a:xfrm>
            <a:custGeom>
              <a:avLst/>
              <a:gdLst>
                <a:gd name="T0" fmla="*/ 10 w 44"/>
                <a:gd name="T1" fmla="*/ 22 h 39"/>
                <a:gd name="T2" fmla="*/ 12 w 44"/>
                <a:gd name="T3" fmla="*/ 22 h 39"/>
                <a:gd name="T4" fmla="*/ 12 w 44"/>
                <a:gd name="T5" fmla="*/ 22 h 39"/>
                <a:gd name="T6" fmla="*/ 13 w 44"/>
                <a:gd name="T7" fmla="*/ 23 h 39"/>
                <a:gd name="T8" fmla="*/ 13 w 44"/>
                <a:gd name="T9" fmla="*/ 22 h 39"/>
                <a:gd name="T10" fmla="*/ 15 w 44"/>
                <a:gd name="T11" fmla="*/ 23 h 39"/>
                <a:gd name="T12" fmla="*/ 16 w 44"/>
                <a:gd name="T13" fmla="*/ 22 h 39"/>
                <a:gd name="T14" fmla="*/ 18 w 44"/>
                <a:gd name="T15" fmla="*/ 24 h 39"/>
                <a:gd name="T16" fmla="*/ 19 w 44"/>
                <a:gd name="T17" fmla="*/ 22 h 39"/>
                <a:gd name="T18" fmla="*/ 21 w 44"/>
                <a:gd name="T19" fmla="*/ 23 h 39"/>
                <a:gd name="T20" fmla="*/ 22 w 44"/>
                <a:gd name="T21" fmla="*/ 22 h 39"/>
                <a:gd name="T22" fmla="*/ 23 w 44"/>
                <a:gd name="T23" fmla="*/ 24 h 39"/>
                <a:gd name="T24" fmla="*/ 24 w 44"/>
                <a:gd name="T25" fmla="*/ 22 h 39"/>
                <a:gd name="T26" fmla="*/ 25 w 44"/>
                <a:gd name="T27" fmla="*/ 24 h 39"/>
                <a:gd name="T28" fmla="*/ 27 w 44"/>
                <a:gd name="T29" fmla="*/ 23 h 39"/>
                <a:gd name="T30" fmla="*/ 28 w 44"/>
                <a:gd name="T31" fmla="*/ 23 h 39"/>
                <a:gd name="T32" fmla="*/ 29 w 44"/>
                <a:gd name="T33" fmla="*/ 22 h 39"/>
                <a:gd name="T34" fmla="*/ 30 w 44"/>
                <a:gd name="T35" fmla="*/ 23 h 39"/>
                <a:gd name="T36" fmla="*/ 32 w 44"/>
                <a:gd name="T37" fmla="*/ 22 h 39"/>
                <a:gd name="T38" fmla="*/ 34 w 44"/>
                <a:gd name="T39" fmla="*/ 22 h 39"/>
                <a:gd name="T40" fmla="*/ 38 w 44"/>
                <a:gd name="T41" fmla="*/ 34 h 39"/>
                <a:gd name="T42" fmla="*/ 41 w 44"/>
                <a:gd name="T43" fmla="*/ 29 h 39"/>
                <a:gd name="T44" fmla="*/ 29 w 44"/>
                <a:gd name="T45" fmla="*/ 2 h 39"/>
                <a:gd name="T46" fmla="*/ 19 w 44"/>
                <a:gd name="T47" fmla="*/ 0 h 39"/>
                <a:gd name="T48" fmla="*/ 20 w 44"/>
                <a:gd name="T49" fmla="*/ 1 h 39"/>
                <a:gd name="T50" fmla="*/ 14 w 44"/>
                <a:gd name="T51" fmla="*/ 1 h 39"/>
                <a:gd name="T52" fmla="*/ 15 w 44"/>
                <a:gd name="T53" fmla="*/ 1 h 39"/>
                <a:gd name="T54" fmla="*/ 12 w 44"/>
                <a:gd name="T55" fmla="*/ 2 h 39"/>
                <a:gd name="T56" fmla="*/ 10 w 44"/>
                <a:gd name="T57" fmla="*/ 2 h 39"/>
                <a:gd name="T58" fmla="*/ 7 w 44"/>
                <a:gd name="T59" fmla="*/ 6 h 39"/>
                <a:gd name="T60" fmla="*/ 6 w 44"/>
                <a:gd name="T61" fmla="*/ 6 h 39"/>
                <a:gd name="T62" fmla="*/ 6 w 44"/>
                <a:gd name="T63" fmla="*/ 7 h 39"/>
                <a:gd name="T64" fmla="*/ 0 w 44"/>
                <a:gd name="T65" fmla="*/ 19 h 39"/>
                <a:gd name="T66" fmla="*/ 4 w 44"/>
                <a:gd name="T67" fmla="*/ 35 h 39"/>
                <a:gd name="T68" fmla="*/ 6 w 44"/>
                <a:gd name="T69" fmla="*/ 33 h 39"/>
                <a:gd name="T70" fmla="*/ 10 w 44"/>
                <a:gd name="T71" fmla="*/ 2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39">
                  <a:moveTo>
                    <a:pt x="10" y="22"/>
                  </a:move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22"/>
                    <a:pt x="13" y="24"/>
                    <a:pt x="13" y="23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4" y="22"/>
                    <a:pt x="15" y="24"/>
                    <a:pt x="15" y="23"/>
                  </a:cubicBezTo>
                  <a:cubicBezTo>
                    <a:pt x="15" y="23"/>
                    <a:pt x="16" y="22"/>
                    <a:pt x="16" y="22"/>
                  </a:cubicBezTo>
                  <a:cubicBezTo>
                    <a:pt x="16" y="23"/>
                    <a:pt x="18" y="24"/>
                    <a:pt x="18" y="24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23"/>
                    <a:pt x="21" y="24"/>
                    <a:pt x="21" y="23"/>
                  </a:cubicBezTo>
                  <a:cubicBezTo>
                    <a:pt x="21" y="23"/>
                    <a:pt x="21" y="22"/>
                    <a:pt x="22" y="22"/>
                  </a:cubicBezTo>
                  <a:cubicBezTo>
                    <a:pt x="23" y="23"/>
                    <a:pt x="23" y="24"/>
                    <a:pt x="23" y="2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6" y="23"/>
                    <a:pt x="27" y="23"/>
                  </a:cubicBezTo>
                  <a:cubicBezTo>
                    <a:pt x="27" y="22"/>
                    <a:pt x="28" y="22"/>
                    <a:pt x="28" y="23"/>
                  </a:cubicBezTo>
                  <a:cubicBezTo>
                    <a:pt x="28" y="25"/>
                    <a:pt x="29" y="23"/>
                    <a:pt x="29" y="22"/>
                  </a:cubicBezTo>
                  <a:cubicBezTo>
                    <a:pt x="30" y="21"/>
                    <a:pt x="30" y="23"/>
                    <a:pt x="30" y="23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9" y="31"/>
                    <a:pt x="38" y="34"/>
                  </a:cubicBezTo>
                  <a:cubicBezTo>
                    <a:pt x="37" y="37"/>
                    <a:pt x="39" y="36"/>
                    <a:pt x="41" y="29"/>
                  </a:cubicBezTo>
                  <a:cubicBezTo>
                    <a:pt x="42" y="21"/>
                    <a:pt x="44" y="6"/>
                    <a:pt x="29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7"/>
                    <a:pt x="0" y="14"/>
                    <a:pt x="0" y="19"/>
                  </a:cubicBezTo>
                  <a:cubicBezTo>
                    <a:pt x="0" y="24"/>
                    <a:pt x="2" y="31"/>
                    <a:pt x="4" y="35"/>
                  </a:cubicBezTo>
                  <a:cubicBezTo>
                    <a:pt x="7" y="39"/>
                    <a:pt x="6" y="35"/>
                    <a:pt x="6" y="33"/>
                  </a:cubicBezTo>
                  <a:cubicBezTo>
                    <a:pt x="7" y="28"/>
                    <a:pt x="9" y="22"/>
                    <a:pt x="10" y="22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1" name="Freeform 1664">
              <a:extLst>
                <a:ext uri="{FF2B5EF4-FFF2-40B4-BE49-F238E27FC236}">
                  <a16:creationId xmlns:a16="http://schemas.microsoft.com/office/drawing/2014/main" id="{848F4570-F999-47A5-822F-BAF74A21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8806" y="369398"/>
              <a:ext cx="239252" cy="188585"/>
            </a:xfrm>
            <a:custGeom>
              <a:avLst/>
              <a:gdLst>
                <a:gd name="T0" fmla="*/ 34 w 36"/>
                <a:gd name="T1" fmla="*/ 15 h 28"/>
                <a:gd name="T2" fmla="*/ 33 w 36"/>
                <a:gd name="T3" fmla="*/ 13 h 28"/>
                <a:gd name="T4" fmla="*/ 33 w 36"/>
                <a:gd name="T5" fmla="*/ 12 h 28"/>
                <a:gd name="T6" fmla="*/ 32 w 36"/>
                <a:gd name="T7" fmla="*/ 8 h 28"/>
                <a:gd name="T8" fmla="*/ 32 w 36"/>
                <a:gd name="T9" fmla="*/ 2 h 28"/>
                <a:gd name="T10" fmla="*/ 32 w 36"/>
                <a:gd name="T11" fmla="*/ 0 h 28"/>
                <a:gd name="T12" fmla="*/ 24 w 36"/>
                <a:gd name="T13" fmla="*/ 9 h 28"/>
                <a:gd name="T14" fmla="*/ 18 w 36"/>
                <a:gd name="T15" fmla="*/ 4 h 28"/>
                <a:gd name="T16" fmla="*/ 13 w 36"/>
                <a:gd name="T17" fmla="*/ 10 h 28"/>
                <a:gd name="T18" fmla="*/ 7 w 36"/>
                <a:gd name="T19" fmla="*/ 5 h 28"/>
                <a:gd name="T20" fmla="*/ 2 w 36"/>
                <a:gd name="T21" fmla="*/ 10 h 28"/>
                <a:gd name="T22" fmla="*/ 1 w 36"/>
                <a:gd name="T23" fmla="*/ 9 h 28"/>
                <a:gd name="T24" fmla="*/ 1 w 36"/>
                <a:gd name="T25" fmla="*/ 24 h 28"/>
                <a:gd name="T26" fmla="*/ 1 w 36"/>
                <a:gd name="T27" fmla="*/ 25 h 28"/>
                <a:gd name="T28" fmla="*/ 2 w 36"/>
                <a:gd name="T29" fmla="*/ 22 h 28"/>
                <a:gd name="T30" fmla="*/ 6 w 36"/>
                <a:gd name="T31" fmla="*/ 11 h 28"/>
                <a:gd name="T32" fmla="*/ 8 w 36"/>
                <a:gd name="T33" fmla="*/ 11 h 28"/>
                <a:gd name="T34" fmla="*/ 8 w 36"/>
                <a:gd name="T35" fmla="*/ 11 h 28"/>
                <a:gd name="T36" fmla="*/ 9 w 36"/>
                <a:gd name="T37" fmla="*/ 12 h 28"/>
                <a:gd name="T38" fmla="*/ 9 w 36"/>
                <a:gd name="T39" fmla="*/ 11 h 28"/>
                <a:gd name="T40" fmla="*/ 11 w 36"/>
                <a:gd name="T41" fmla="*/ 12 h 28"/>
                <a:gd name="T42" fmla="*/ 12 w 36"/>
                <a:gd name="T43" fmla="*/ 11 h 28"/>
                <a:gd name="T44" fmla="*/ 14 w 36"/>
                <a:gd name="T45" fmla="*/ 13 h 28"/>
                <a:gd name="T46" fmla="*/ 15 w 36"/>
                <a:gd name="T47" fmla="*/ 11 h 28"/>
                <a:gd name="T48" fmla="*/ 17 w 36"/>
                <a:gd name="T49" fmla="*/ 12 h 28"/>
                <a:gd name="T50" fmla="*/ 18 w 36"/>
                <a:gd name="T51" fmla="*/ 11 h 28"/>
                <a:gd name="T52" fmla="*/ 19 w 36"/>
                <a:gd name="T53" fmla="*/ 13 h 28"/>
                <a:gd name="T54" fmla="*/ 20 w 36"/>
                <a:gd name="T55" fmla="*/ 11 h 28"/>
                <a:gd name="T56" fmla="*/ 21 w 36"/>
                <a:gd name="T57" fmla="*/ 13 h 28"/>
                <a:gd name="T58" fmla="*/ 23 w 36"/>
                <a:gd name="T59" fmla="*/ 12 h 28"/>
                <a:gd name="T60" fmla="*/ 24 w 36"/>
                <a:gd name="T61" fmla="*/ 12 h 28"/>
                <a:gd name="T62" fmla="*/ 25 w 36"/>
                <a:gd name="T63" fmla="*/ 11 h 28"/>
                <a:gd name="T64" fmla="*/ 26 w 36"/>
                <a:gd name="T65" fmla="*/ 12 h 28"/>
                <a:gd name="T66" fmla="*/ 28 w 36"/>
                <a:gd name="T67" fmla="*/ 11 h 28"/>
                <a:gd name="T68" fmla="*/ 30 w 36"/>
                <a:gd name="T69" fmla="*/ 11 h 28"/>
                <a:gd name="T70" fmla="*/ 34 w 36"/>
                <a:gd name="T71" fmla="*/ 23 h 28"/>
                <a:gd name="T72" fmla="*/ 36 w 36"/>
                <a:gd name="T73" fmla="*/ 19 h 28"/>
                <a:gd name="T74" fmla="*/ 34 w 36"/>
                <a:gd name="T75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" h="28">
                  <a:moveTo>
                    <a:pt x="34" y="15"/>
                  </a:moveTo>
                  <a:cubicBezTo>
                    <a:pt x="34" y="14"/>
                    <a:pt x="34" y="13"/>
                    <a:pt x="33" y="13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3" y="11"/>
                    <a:pt x="32" y="9"/>
                    <a:pt x="32" y="8"/>
                  </a:cubicBezTo>
                  <a:cubicBezTo>
                    <a:pt x="32" y="6"/>
                    <a:pt x="32" y="4"/>
                    <a:pt x="32" y="2"/>
                  </a:cubicBezTo>
                  <a:cubicBezTo>
                    <a:pt x="32" y="1"/>
                    <a:pt x="32" y="1"/>
                    <a:pt x="32" y="0"/>
                  </a:cubicBezTo>
                  <a:cubicBezTo>
                    <a:pt x="31" y="5"/>
                    <a:pt x="28" y="8"/>
                    <a:pt x="24" y="9"/>
                  </a:cubicBezTo>
                  <a:cubicBezTo>
                    <a:pt x="20" y="10"/>
                    <a:pt x="19" y="7"/>
                    <a:pt x="18" y="4"/>
                  </a:cubicBezTo>
                  <a:cubicBezTo>
                    <a:pt x="17" y="7"/>
                    <a:pt x="15" y="10"/>
                    <a:pt x="13" y="10"/>
                  </a:cubicBezTo>
                  <a:cubicBezTo>
                    <a:pt x="10" y="10"/>
                    <a:pt x="9" y="8"/>
                    <a:pt x="7" y="5"/>
                  </a:cubicBezTo>
                  <a:cubicBezTo>
                    <a:pt x="6" y="8"/>
                    <a:pt x="5" y="10"/>
                    <a:pt x="2" y="1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13"/>
                    <a:pt x="1" y="18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3" y="28"/>
                    <a:pt x="2" y="24"/>
                    <a:pt x="2" y="22"/>
                  </a:cubicBezTo>
                  <a:cubicBezTo>
                    <a:pt x="3" y="17"/>
                    <a:pt x="5" y="11"/>
                    <a:pt x="6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9" y="13"/>
                    <a:pt x="9" y="12"/>
                  </a:cubicBezTo>
                  <a:cubicBezTo>
                    <a:pt x="9" y="12"/>
                    <a:pt x="9" y="11"/>
                    <a:pt x="9" y="11"/>
                  </a:cubicBezTo>
                  <a:cubicBezTo>
                    <a:pt x="10" y="11"/>
                    <a:pt x="11" y="13"/>
                    <a:pt x="11" y="12"/>
                  </a:cubicBezTo>
                  <a:cubicBezTo>
                    <a:pt x="11" y="12"/>
                    <a:pt x="12" y="11"/>
                    <a:pt x="12" y="11"/>
                  </a:cubicBezTo>
                  <a:cubicBezTo>
                    <a:pt x="12" y="12"/>
                    <a:pt x="14" y="13"/>
                    <a:pt x="14" y="13"/>
                  </a:cubicBezTo>
                  <a:cubicBezTo>
                    <a:pt x="14" y="12"/>
                    <a:pt x="14" y="11"/>
                    <a:pt x="15" y="11"/>
                  </a:cubicBezTo>
                  <a:cubicBezTo>
                    <a:pt x="15" y="12"/>
                    <a:pt x="17" y="13"/>
                    <a:pt x="17" y="12"/>
                  </a:cubicBezTo>
                  <a:cubicBezTo>
                    <a:pt x="17" y="12"/>
                    <a:pt x="17" y="11"/>
                    <a:pt x="18" y="11"/>
                  </a:cubicBezTo>
                  <a:cubicBezTo>
                    <a:pt x="19" y="12"/>
                    <a:pt x="19" y="13"/>
                    <a:pt x="19" y="13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3"/>
                    <a:pt x="22" y="12"/>
                    <a:pt x="23" y="12"/>
                  </a:cubicBezTo>
                  <a:cubicBezTo>
                    <a:pt x="23" y="11"/>
                    <a:pt x="24" y="11"/>
                    <a:pt x="24" y="12"/>
                  </a:cubicBezTo>
                  <a:cubicBezTo>
                    <a:pt x="24" y="14"/>
                    <a:pt x="25" y="12"/>
                    <a:pt x="25" y="11"/>
                  </a:cubicBezTo>
                  <a:cubicBezTo>
                    <a:pt x="26" y="10"/>
                    <a:pt x="26" y="12"/>
                    <a:pt x="26" y="12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5" y="20"/>
                    <a:pt x="34" y="23"/>
                  </a:cubicBezTo>
                  <a:cubicBezTo>
                    <a:pt x="33" y="26"/>
                    <a:pt x="35" y="25"/>
                    <a:pt x="36" y="19"/>
                  </a:cubicBezTo>
                  <a:cubicBezTo>
                    <a:pt x="35" y="18"/>
                    <a:pt x="35" y="16"/>
                    <a:pt x="34" y="15"/>
                  </a:cubicBezTo>
                  <a:close/>
                </a:path>
              </a:pathLst>
            </a:custGeom>
            <a:solidFill>
              <a:srgbClr val="16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3" name="Rectangle 1665">
              <a:extLst>
                <a:ext uri="{FF2B5EF4-FFF2-40B4-BE49-F238E27FC236}">
                  <a16:creationId xmlns:a16="http://schemas.microsoft.com/office/drawing/2014/main" id="{A8740861-34E7-482E-89E2-5576DB73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6063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5" name="Rectangle 1666">
              <a:extLst>
                <a:ext uri="{FF2B5EF4-FFF2-40B4-BE49-F238E27FC236}">
                  <a16:creationId xmlns:a16="http://schemas.microsoft.com/office/drawing/2014/main" id="{D3495459-8FB5-46C7-A258-1B592D4C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7916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7" name="Rectangle 1667">
              <a:extLst>
                <a:ext uri="{FF2B5EF4-FFF2-40B4-BE49-F238E27FC236}">
                  <a16:creationId xmlns:a16="http://schemas.microsoft.com/office/drawing/2014/main" id="{99DE6C89-1459-46D3-B33A-5B2F28A6C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801" y="937971"/>
              <a:ext cx="8445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9" name="Rectangle 1668">
              <a:extLst>
                <a:ext uri="{FF2B5EF4-FFF2-40B4-BE49-F238E27FC236}">
                  <a16:creationId xmlns:a16="http://schemas.microsoft.com/office/drawing/2014/main" id="{B8DEF164-217F-4D05-A2B8-6C6DDF619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469" y="937971"/>
              <a:ext cx="5629" cy="33777"/>
            </a:xfrm>
            <a:prstGeom prst="rect">
              <a:avLst/>
            </a:pr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612100" y="1068311"/>
            <a:ext cx="10559426" cy="390369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80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铝电解电容</a:t>
            </a:r>
            <a:endParaRPr lang="en-US" altLang="zh-CN" sz="80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6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寿命</a:t>
            </a:r>
            <a:endParaRPr lang="en-US" altLang="zh-CN" sz="96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52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06736A-2C88-42A0-8731-F42C1147D0D4}"/>
              </a:ext>
            </a:extLst>
          </p:cNvPr>
          <p:cNvSpPr txBox="1"/>
          <p:nvPr/>
        </p:nvSpPr>
        <p:spPr>
          <a:xfrm>
            <a:off x="1788621" y="1143490"/>
            <a:ext cx="8224140" cy="2444002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“温度每升高</a:t>
            </a:r>
            <a:r>
              <a:rPr lang="en-US" altLang="zh-CN" sz="54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</a:t>
            </a:r>
            <a:r>
              <a:rPr lang="zh-CN" altLang="en-US" sz="54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度</a:t>
            </a: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，铝电解电容寿命</a:t>
            </a:r>
            <a:r>
              <a:rPr lang="zh-CN" altLang="en-US" sz="54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下降一倍</a:t>
            </a: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96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06736A-2C88-42A0-8731-F42C1147D0D4}"/>
              </a:ext>
            </a:extLst>
          </p:cNvPr>
          <p:cNvSpPr txBox="1"/>
          <p:nvPr/>
        </p:nvSpPr>
        <p:spPr>
          <a:xfrm>
            <a:off x="1788621" y="1143490"/>
            <a:ext cx="8224140" cy="2444002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“温度每升高</a:t>
            </a:r>
            <a:r>
              <a:rPr lang="en-US" altLang="zh-CN" sz="54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</a:t>
            </a:r>
            <a:r>
              <a:rPr lang="zh-CN" altLang="en-US" sz="54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度</a:t>
            </a: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，铝电解电容寿命</a:t>
            </a:r>
            <a:r>
              <a:rPr lang="zh-CN" altLang="en-US" sz="54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下降一倍</a:t>
            </a:r>
            <a:r>
              <a:rPr lang="zh-CN" altLang="en-US" sz="54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</a:t>
            </a:r>
            <a:endParaRPr lang="en-US" altLang="zh-CN" sz="5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C57064-B0CE-420D-A6D4-8112C5F6C7CA}"/>
              </a:ext>
            </a:extLst>
          </p:cNvPr>
          <p:cNvSpPr txBox="1"/>
          <p:nvPr/>
        </p:nvSpPr>
        <p:spPr>
          <a:xfrm>
            <a:off x="1673212" y="3975466"/>
            <a:ext cx="8224140" cy="1565878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dirty="0">
                <a:solidFill>
                  <a:srgbClr val="FFC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电解液</a:t>
            </a:r>
            <a:endParaRPr lang="en-US" altLang="zh-CN" sz="7200" dirty="0">
              <a:solidFill>
                <a:srgbClr val="FFC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4046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17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35C972E-2BF5-4B86-92AF-E4FE2DCAC5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6" y="352925"/>
            <a:ext cx="6438605" cy="50828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0024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35C972E-2BF5-4B86-92AF-E4FE2DCAC5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6" y="352925"/>
            <a:ext cx="6438605" cy="50828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A561051-ABDF-4374-BE81-1604AF5B3C35}"/>
              </a:ext>
            </a:extLst>
          </p:cNvPr>
          <p:cNvSpPr txBox="1"/>
          <p:nvPr/>
        </p:nvSpPr>
        <p:spPr>
          <a:xfrm>
            <a:off x="6678368" y="2205160"/>
            <a:ext cx="2488935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rgbClr val="FFC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温度</a:t>
            </a:r>
            <a:endParaRPr lang="en-US" altLang="zh-CN" sz="5400" dirty="0">
              <a:solidFill>
                <a:srgbClr val="FFC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7325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35C972E-2BF5-4B86-92AF-E4FE2DCAC5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6" y="352925"/>
            <a:ext cx="6438605" cy="50828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A561051-ABDF-4374-BE81-1604AF5B3C35}"/>
              </a:ext>
            </a:extLst>
          </p:cNvPr>
          <p:cNvSpPr txBox="1"/>
          <p:nvPr/>
        </p:nvSpPr>
        <p:spPr>
          <a:xfrm>
            <a:off x="6678368" y="2205160"/>
            <a:ext cx="2488935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rgbClr val="FFC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温度</a:t>
            </a:r>
            <a:endParaRPr lang="en-US" altLang="zh-CN" sz="5400" dirty="0">
              <a:solidFill>
                <a:srgbClr val="FFC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DC769E1-B4E2-4449-B114-E990CD3091B7}"/>
              </a:ext>
            </a:extLst>
          </p:cNvPr>
          <p:cNvSpPr/>
          <p:nvPr/>
        </p:nvSpPr>
        <p:spPr>
          <a:xfrm rot="19972672">
            <a:off x="8731836" y="2356167"/>
            <a:ext cx="833019" cy="3906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38352B-2554-4EEC-B6A3-0EB801FD162D}"/>
              </a:ext>
            </a:extLst>
          </p:cNvPr>
          <p:cNvSpPr txBox="1"/>
          <p:nvPr/>
        </p:nvSpPr>
        <p:spPr>
          <a:xfrm>
            <a:off x="8481692" y="1813338"/>
            <a:ext cx="4503608" cy="910955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环境温度</a:t>
            </a:r>
            <a:endParaRPr lang="en-US" altLang="zh-CN" sz="40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2703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35C972E-2BF5-4B86-92AF-E4FE2DCAC5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6" y="352925"/>
            <a:ext cx="6438605" cy="50828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A561051-ABDF-4374-BE81-1604AF5B3C35}"/>
              </a:ext>
            </a:extLst>
          </p:cNvPr>
          <p:cNvSpPr txBox="1"/>
          <p:nvPr/>
        </p:nvSpPr>
        <p:spPr>
          <a:xfrm>
            <a:off x="6678368" y="2205160"/>
            <a:ext cx="2488935" cy="1197507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dirty="0">
                <a:solidFill>
                  <a:srgbClr val="FFC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温度</a:t>
            </a:r>
            <a:endParaRPr lang="en-US" altLang="zh-CN" sz="5400" dirty="0">
              <a:solidFill>
                <a:srgbClr val="FFC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DC769E1-B4E2-4449-B114-E990CD3091B7}"/>
              </a:ext>
            </a:extLst>
          </p:cNvPr>
          <p:cNvSpPr/>
          <p:nvPr/>
        </p:nvSpPr>
        <p:spPr>
          <a:xfrm rot="19972672">
            <a:off x="8731836" y="2356167"/>
            <a:ext cx="833019" cy="3906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F1ECC43A-B675-4A51-9951-F81030A0F129}"/>
              </a:ext>
            </a:extLst>
          </p:cNvPr>
          <p:cNvSpPr/>
          <p:nvPr/>
        </p:nvSpPr>
        <p:spPr>
          <a:xfrm rot="1155282">
            <a:off x="8748220" y="3149861"/>
            <a:ext cx="833019" cy="3906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38352B-2554-4EEC-B6A3-0EB801FD162D}"/>
              </a:ext>
            </a:extLst>
          </p:cNvPr>
          <p:cNvSpPr txBox="1"/>
          <p:nvPr/>
        </p:nvSpPr>
        <p:spPr>
          <a:xfrm>
            <a:off x="8481692" y="1813338"/>
            <a:ext cx="4503608" cy="910955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环境温度</a:t>
            </a:r>
            <a:endParaRPr lang="en-US" altLang="zh-CN" sz="40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ED609EC-3B65-41E9-B091-D26BC3728262}"/>
              </a:ext>
            </a:extLst>
          </p:cNvPr>
          <p:cNvSpPr txBox="1"/>
          <p:nvPr/>
        </p:nvSpPr>
        <p:spPr>
          <a:xfrm>
            <a:off x="8519997" y="2915191"/>
            <a:ext cx="4426997" cy="910955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纹波电流</a:t>
            </a:r>
            <a:endParaRPr lang="en-US" altLang="zh-CN" sz="4000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017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901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A45AD02-8103-4BCE-BD23-A03ACF2F118C}"/>
              </a:ext>
            </a:extLst>
          </p:cNvPr>
          <p:cNvSpPr txBox="1"/>
          <p:nvPr/>
        </p:nvSpPr>
        <p:spPr>
          <a:xfrm>
            <a:off x="1063471" y="964992"/>
            <a:ext cx="10065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标称</a:t>
            </a:r>
            <a:r>
              <a:rPr lang="en-US" altLang="zh-CN" sz="3600" dirty="0">
                <a:solidFill>
                  <a:srgbClr val="FFFF00"/>
                </a:solidFill>
              </a:rPr>
              <a:t>105℃</a:t>
            </a:r>
            <a:r>
              <a:rPr lang="zh-CN" altLang="en-US" sz="3600" dirty="0">
                <a:solidFill>
                  <a:srgbClr val="FFFF00"/>
                </a:solidFill>
              </a:rPr>
              <a:t>，</a:t>
            </a:r>
            <a:r>
              <a:rPr lang="en-US" altLang="zh-CN" sz="3600" dirty="0">
                <a:solidFill>
                  <a:srgbClr val="FFFF00"/>
                </a:solidFill>
              </a:rPr>
              <a:t>2000h</a:t>
            </a:r>
            <a:r>
              <a:rPr lang="zh-CN" altLang="en-US" sz="3600" dirty="0">
                <a:solidFill>
                  <a:schemeClr val="bg1"/>
                </a:solidFill>
              </a:rPr>
              <a:t>的铝电解电容，在</a:t>
            </a:r>
            <a:r>
              <a:rPr lang="en-US" altLang="zh-CN" sz="3600" dirty="0">
                <a:solidFill>
                  <a:srgbClr val="FFFF00"/>
                </a:solidFill>
              </a:rPr>
              <a:t>65℃</a:t>
            </a:r>
            <a:r>
              <a:rPr lang="zh-CN" altLang="en-US" sz="3600" dirty="0">
                <a:solidFill>
                  <a:schemeClr val="bg1"/>
                </a:solidFill>
              </a:rPr>
              <a:t>下寿命？</a:t>
            </a:r>
          </a:p>
        </p:txBody>
      </p:sp>
    </p:spTree>
    <p:extLst>
      <p:ext uri="{BB962C8B-B14F-4D97-AF65-F5344CB8AC3E}">
        <p14:creationId xmlns:p14="http://schemas.microsoft.com/office/powerpoint/2010/main" val="609003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A45AD02-8103-4BCE-BD23-A03ACF2F118C}"/>
              </a:ext>
            </a:extLst>
          </p:cNvPr>
          <p:cNvSpPr txBox="1"/>
          <p:nvPr/>
        </p:nvSpPr>
        <p:spPr>
          <a:xfrm>
            <a:off x="1063471" y="964992"/>
            <a:ext cx="10065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标称</a:t>
            </a:r>
            <a:r>
              <a:rPr lang="en-US" altLang="zh-CN" sz="3600" dirty="0">
                <a:solidFill>
                  <a:srgbClr val="FFFF00"/>
                </a:solidFill>
              </a:rPr>
              <a:t>105℃</a:t>
            </a:r>
            <a:r>
              <a:rPr lang="zh-CN" altLang="en-US" sz="3600" dirty="0">
                <a:solidFill>
                  <a:srgbClr val="FFFF00"/>
                </a:solidFill>
              </a:rPr>
              <a:t>，</a:t>
            </a:r>
            <a:r>
              <a:rPr lang="en-US" altLang="zh-CN" sz="3600" dirty="0">
                <a:solidFill>
                  <a:srgbClr val="FFFF00"/>
                </a:solidFill>
              </a:rPr>
              <a:t>2000h</a:t>
            </a:r>
            <a:r>
              <a:rPr lang="zh-CN" altLang="en-US" sz="3600" dirty="0">
                <a:solidFill>
                  <a:schemeClr val="bg1"/>
                </a:solidFill>
              </a:rPr>
              <a:t>的铝电解电容，在</a:t>
            </a:r>
            <a:r>
              <a:rPr lang="en-US" altLang="zh-CN" sz="3600" dirty="0">
                <a:solidFill>
                  <a:srgbClr val="FFFF00"/>
                </a:solidFill>
              </a:rPr>
              <a:t>65℃</a:t>
            </a:r>
            <a:r>
              <a:rPr lang="zh-CN" altLang="en-US" sz="3600" dirty="0">
                <a:solidFill>
                  <a:schemeClr val="bg1"/>
                </a:solidFill>
              </a:rPr>
              <a:t>下寿命？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DEC17C-3ED3-44AD-8809-43891E46787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117" y="1873206"/>
            <a:ext cx="6353766" cy="22992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1476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A45AD02-8103-4BCE-BD23-A03ACF2F118C}"/>
              </a:ext>
            </a:extLst>
          </p:cNvPr>
          <p:cNvSpPr txBox="1"/>
          <p:nvPr/>
        </p:nvSpPr>
        <p:spPr>
          <a:xfrm>
            <a:off x="1063471" y="964992"/>
            <a:ext cx="10065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标称</a:t>
            </a:r>
            <a:r>
              <a:rPr lang="en-US" altLang="zh-CN" sz="3600" dirty="0">
                <a:solidFill>
                  <a:srgbClr val="FFFF00"/>
                </a:solidFill>
              </a:rPr>
              <a:t>105℃</a:t>
            </a:r>
            <a:r>
              <a:rPr lang="zh-CN" altLang="en-US" sz="3600" dirty="0">
                <a:solidFill>
                  <a:srgbClr val="FFFF00"/>
                </a:solidFill>
              </a:rPr>
              <a:t>，</a:t>
            </a:r>
            <a:r>
              <a:rPr lang="en-US" altLang="zh-CN" sz="3600" dirty="0">
                <a:solidFill>
                  <a:srgbClr val="FFFF00"/>
                </a:solidFill>
              </a:rPr>
              <a:t>2000h</a:t>
            </a:r>
            <a:r>
              <a:rPr lang="zh-CN" altLang="en-US" sz="3600" dirty="0">
                <a:solidFill>
                  <a:schemeClr val="bg1"/>
                </a:solidFill>
              </a:rPr>
              <a:t>的铝电解电容，在</a:t>
            </a:r>
            <a:r>
              <a:rPr lang="en-US" altLang="zh-CN" sz="3600" dirty="0">
                <a:solidFill>
                  <a:srgbClr val="FFFF00"/>
                </a:solidFill>
              </a:rPr>
              <a:t>65℃</a:t>
            </a:r>
            <a:r>
              <a:rPr lang="zh-CN" altLang="en-US" sz="3600" dirty="0">
                <a:solidFill>
                  <a:schemeClr val="bg1"/>
                </a:solidFill>
              </a:rPr>
              <a:t>下寿命？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DEC17C-3ED3-44AD-8809-43891E46787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117" y="1873206"/>
            <a:ext cx="6353766" cy="229929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BD1E1AF-AC5B-4E69-80A6-0F7042BFEB7B}"/>
              </a:ext>
            </a:extLst>
          </p:cNvPr>
          <p:cNvSpPr txBox="1"/>
          <p:nvPr/>
        </p:nvSpPr>
        <p:spPr>
          <a:xfrm>
            <a:off x="2088842" y="4345611"/>
            <a:ext cx="80143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4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一般铝电解电容寿命不超过</a:t>
            </a:r>
            <a:r>
              <a:rPr lang="en-US" altLang="zh-CN" sz="4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sz="4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endParaRPr lang="zh-CN" altLang="en-US" sz="4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87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A45AD02-8103-4BCE-BD23-A03ACF2F118C}"/>
              </a:ext>
            </a:extLst>
          </p:cNvPr>
          <p:cNvSpPr txBox="1"/>
          <p:nvPr/>
        </p:nvSpPr>
        <p:spPr>
          <a:xfrm>
            <a:off x="1063471" y="964992"/>
            <a:ext cx="10065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标称</a:t>
            </a:r>
            <a:r>
              <a:rPr lang="en-US" altLang="zh-CN" sz="3600" dirty="0">
                <a:solidFill>
                  <a:srgbClr val="FFFF00"/>
                </a:solidFill>
              </a:rPr>
              <a:t>105℃</a:t>
            </a:r>
            <a:r>
              <a:rPr lang="zh-CN" altLang="en-US" sz="3600" dirty="0">
                <a:solidFill>
                  <a:srgbClr val="FFFF00"/>
                </a:solidFill>
              </a:rPr>
              <a:t>，</a:t>
            </a:r>
            <a:r>
              <a:rPr lang="en-US" altLang="zh-CN" sz="3600" dirty="0">
                <a:solidFill>
                  <a:srgbClr val="FFFF00"/>
                </a:solidFill>
              </a:rPr>
              <a:t>2000h</a:t>
            </a:r>
            <a:r>
              <a:rPr lang="zh-CN" altLang="en-US" sz="3600" dirty="0">
                <a:solidFill>
                  <a:schemeClr val="bg1"/>
                </a:solidFill>
              </a:rPr>
              <a:t>的铝电解电容，在</a:t>
            </a:r>
            <a:r>
              <a:rPr lang="en-US" altLang="zh-CN" sz="3600" dirty="0">
                <a:solidFill>
                  <a:srgbClr val="FFFF00"/>
                </a:solidFill>
              </a:rPr>
              <a:t>65℃</a:t>
            </a:r>
            <a:r>
              <a:rPr lang="zh-CN" altLang="en-US" sz="3600" dirty="0">
                <a:solidFill>
                  <a:schemeClr val="bg1"/>
                </a:solidFill>
              </a:rPr>
              <a:t>下寿命？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DEC17C-3ED3-44AD-8809-43891E46787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117" y="1873206"/>
            <a:ext cx="6353766" cy="229929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BD1E1AF-AC5B-4E69-80A6-0F7042BFEB7B}"/>
              </a:ext>
            </a:extLst>
          </p:cNvPr>
          <p:cNvSpPr txBox="1"/>
          <p:nvPr/>
        </p:nvSpPr>
        <p:spPr>
          <a:xfrm>
            <a:off x="2088842" y="4345611"/>
            <a:ext cx="80143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4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一般铝电解电容寿命不超过</a:t>
            </a:r>
            <a:r>
              <a:rPr lang="en-US" altLang="zh-CN" sz="4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sz="48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endParaRPr lang="zh-CN" altLang="en-US" sz="4000" dirty="0">
              <a:solidFill>
                <a:srgbClr val="FFFF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C0547F-A900-42FD-B4AB-6DEC1ED16969}"/>
              </a:ext>
            </a:extLst>
          </p:cNvPr>
          <p:cNvSpPr txBox="1"/>
          <p:nvPr/>
        </p:nvSpPr>
        <p:spPr>
          <a:xfrm>
            <a:off x="4203734" y="5395882"/>
            <a:ext cx="71994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hlinkClick r:id="rId3"/>
              </a:rPr>
              <a:t>https://www.cn-nichicon.com/products/lifetime/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B17C9BE-0F4F-4CCF-94DE-39316782BC78}"/>
              </a:ext>
            </a:extLst>
          </p:cNvPr>
          <p:cNvSpPr txBox="1"/>
          <p:nvPr/>
        </p:nvSpPr>
        <p:spPr>
          <a:xfrm>
            <a:off x="1449650" y="5346195"/>
            <a:ext cx="94672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在线计算寿命</a:t>
            </a:r>
            <a:r>
              <a:rPr lang="en-US" altLang="zh-CN" sz="3200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en-US"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21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513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F767F3B-3540-4911-B31B-AC5DFCA9B0E1}"/>
              </a:ext>
            </a:extLst>
          </p:cNvPr>
          <p:cNvSpPr txBox="1"/>
          <p:nvPr/>
        </p:nvSpPr>
        <p:spPr>
          <a:xfrm>
            <a:off x="5533007" y="1012197"/>
            <a:ext cx="1125985" cy="829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</a:rPr>
              <a:t>总结</a:t>
            </a:r>
            <a:endParaRPr lang="en-US" altLang="zh-CN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26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B818608-48A7-4FF7-9EE5-D3F043DCC9CF}"/>
              </a:ext>
            </a:extLst>
          </p:cNvPr>
          <p:cNvSpPr txBox="1"/>
          <p:nvPr/>
        </p:nvSpPr>
        <p:spPr>
          <a:xfrm>
            <a:off x="1390834" y="2377302"/>
            <a:ext cx="9410330" cy="1051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一，在</a:t>
            </a:r>
            <a:r>
              <a:rPr lang="en-US" altLang="zh-CN" sz="2400" dirty="0">
                <a:solidFill>
                  <a:schemeClr val="bg1"/>
                </a:solidFill>
              </a:rPr>
              <a:t>40℃</a:t>
            </a:r>
            <a:r>
              <a:rPr lang="zh-CN" altLang="en-US" sz="2400" dirty="0">
                <a:solidFill>
                  <a:schemeClr val="bg1"/>
                </a:solidFill>
              </a:rPr>
              <a:t>以上时，温度每升高</a:t>
            </a:r>
            <a:r>
              <a:rPr lang="en-US" altLang="zh-CN" sz="2400" dirty="0">
                <a:solidFill>
                  <a:schemeClr val="bg1"/>
                </a:solidFill>
              </a:rPr>
              <a:t>10℃</a:t>
            </a:r>
            <a:r>
              <a:rPr lang="zh-CN" altLang="en-US" sz="2400" dirty="0">
                <a:solidFill>
                  <a:schemeClr val="bg1"/>
                </a:solidFill>
              </a:rPr>
              <a:t>，铝电解电容寿命减小</a:t>
            </a:r>
            <a:r>
              <a:rPr lang="en-US" altLang="zh-CN" sz="24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倍</a:t>
            </a:r>
          </a:p>
          <a:p>
            <a:pPr indent="457200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二，纹波电流也对铝电解电容寿命有影响，不要超规格使用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767F3B-3540-4911-B31B-AC5DFCA9B0E1}"/>
              </a:ext>
            </a:extLst>
          </p:cNvPr>
          <p:cNvSpPr txBox="1"/>
          <p:nvPr/>
        </p:nvSpPr>
        <p:spPr>
          <a:xfrm>
            <a:off x="5533007" y="1012197"/>
            <a:ext cx="1125985" cy="829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FF00"/>
                </a:solidFill>
              </a:rPr>
              <a:t>总结</a:t>
            </a:r>
            <a:endParaRPr lang="en-US" altLang="zh-CN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480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</TotalTime>
  <Words>176</Words>
  <Application>Microsoft Office PowerPoint</Application>
  <PresentationFormat>宽屏</PresentationFormat>
  <Paragraphs>23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等线</vt:lpstr>
      <vt:lpstr>等线 Light</vt:lpstr>
      <vt:lpstr>微软雅黑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203</cp:revision>
  <dcterms:created xsi:type="dcterms:W3CDTF">2020-06-10T12:57:46Z</dcterms:created>
  <dcterms:modified xsi:type="dcterms:W3CDTF">2020-07-28T12:56:30Z</dcterms:modified>
</cp:coreProperties>
</file>