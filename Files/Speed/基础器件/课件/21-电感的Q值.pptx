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96" r:id="rId2"/>
    <p:sldId id="299" r:id="rId3"/>
    <p:sldId id="300" r:id="rId4"/>
    <p:sldId id="301" r:id="rId5"/>
    <p:sldId id="305" r:id="rId6"/>
    <p:sldId id="306" r:id="rId7"/>
    <p:sldId id="307" r:id="rId8"/>
    <p:sldId id="303" r:id="rId9"/>
    <p:sldId id="304" r:id="rId10"/>
    <p:sldId id="30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4F0D"/>
    <a:srgbClr val="1DF10D"/>
    <a:srgbClr val="1105F9"/>
    <a:srgbClr val="7030A0"/>
    <a:srgbClr val="C55A11"/>
    <a:srgbClr val="E6E6E6"/>
    <a:srgbClr val="F3F3F3"/>
    <a:srgbClr val="FFFFFF"/>
    <a:srgbClr val="B4B4B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1" autoAdjust="0"/>
    <p:restoredTop sz="91129" autoAdjust="0"/>
  </p:normalViewPr>
  <p:slideViewPr>
    <p:cSldViewPr snapToGrid="0">
      <p:cViewPr>
        <p:scale>
          <a:sx n="66" d="100"/>
          <a:sy n="66" d="100"/>
        </p:scale>
        <p:origin x="576" y="912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639" y="1543657"/>
            <a:ext cx="408489" cy="43330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99862" y="437270"/>
            <a:ext cx="239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515807" y="1560254"/>
            <a:ext cx="4717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DCDC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电路电感选型不考虑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15807" y="2116610"/>
            <a:ext cx="39837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功率电感的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值曲线是怎么样的？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515807" y="2714458"/>
            <a:ext cx="4753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值在自谐振频率处是最大的吗？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15807" y="3279112"/>
            <a:ext cx="321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值是越大越好吗？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638" y="2100013"/>
            <a:ext cx="408489" cy="43330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493" y="2697861"/>
            <a:ext cx="408489" cy="43330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492" y="3262515"/>
            <a:ext cx="408489" cy="4333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3219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657"/>
    </mc:Choice>
    <mc:Fallback>
      <p:transition spd="slow" advTm="116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9862" y="437270"/>
            <a:ext cx="239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值定义</a:t>
            </a:r>
          </a:p>
        </p:txBody>
      </p:sp>
      <p:sp>
        <p:nvSpPr>
          <p:cNvPr id="4" name="矩形 3"/>
          <p:cNvSpPr/>
          <p:nvPr/>
        </p:nvSpPr>
        <p:spPr>
          <a:xfrm>
            <a:off x="1585965" y="1349550"/>
            <a:ext cx="89648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值定义：电感的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值也叫作品质因数，其为无功功率除以有功功率。简单理解的话，就是在一个信号周期内，无功功率为电感存储的能量，有功功率为电感消耗的能量，两者比值即为品质因数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289529" y="3293016"/>
                <a:ext cx="1805110" cy="7384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0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zh-CN" altLang="en-US" sz="2000" b="0" i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b="1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b="0" i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无功功率</m:t>
                          </m:r>
                        </m:num>
                        <m:den>
                          <m:r>
                            <a:rPr lang="zh-CN" altLang="en-US" sz="2000" b="1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有功功率</m:t>
                          </m:r>
                        </m:den>
                      </m:f>
                    </m:oMath>
                  </m:oMathPara>
                </a14:m>
                <a:endParaRPr lang="zh-CN" altLang="en-US" sz="2000" b="1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529" y="3293016"/>
                <a:ext cx="1805110" cy="7384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2023955" y="4312960"/>
            <a:ext cx="37273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值主要衡量的是损耗情况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23955" y="4877342"/>
            <a:ext cx="24449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值越高，损耗越小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0936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22"/>
    </mc:Choice>
    <mc:Fallback>
      <p:transition spd="slow" advTm="120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9862" y="437270"/>
            <a:ext cx="239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404733" y="1740227"/>
                <a:ext cx="1683794" cy="4753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000" i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zh-CN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000" i="0">
                              <a:latin typeface="Cambria Math" panose="02040503050406030204" pitchFamily="18" charset="0"/>
                            </a:rPr>
                            <m:t>自谐振</m:t>
                          </m:r>
                        </m:sub>
                      </m:sSub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733" y="1740227"/>
                <a:ext cx="1683794" cy="475323"/>
              </a:xfrm>
              <a:prstGeom prst="rect">
                <a:avLst/>
              </a:prstGeom>
              <a:blipFill rotWithShape="0"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6260550" y="1597944"/>
                <a:ext cx="2526717" cy="7598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00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zh-CN" altLang="en-US" sz="2000" i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无功功率</m:t>
                          </m:r>
                        </m:num>
                        <m:den>
                          <m:r>
                            <a:rPr lang="zh-CN" altLang="en-US" sz="200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有功功率</m:t>
                          </m:r>
                        </m:den>
                      </m:f>
                      <m:r>
                        <a:rPr lang="zh-CN" altLang="en-US" sz="2000" i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sz="20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zh-CN" altLang="en-US" sz="2000" i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550" y="1597944"/>
                <a:ext cx="2526717" cy="75988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右箭头 4"/>
          <p:cNvSpPr/>
          <p:nvPr/>
        </p:nvSpPr>
        <p:spPr>
          <a:xfrm>
            <a:off x="5545777" y="1902525"/>
            <a:ext cx="257524" cy="15072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404733" y="3826669"/>
                <a:ext cx="51308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sz="2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733" y="3826669"/>
                <a:ext cx="513089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左大括号 9"/>
          <p:cNvSpPr/>
          <p:nvPr/>
        </p:nvSpPr>
        <p:spPr>
          <a:xfrm>
            <a:off x="3931669" y="3214749"/>
            <a:ext cx="485394" cy="1623951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443254" y="2987978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线圈电阻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左大括号 12"/>
          <p:cNvSpPr/>
          <p:nvPr/>
        </p:nvSpPr>
        <p:spPr>
          <a:xfrm>
            <a:off x="5737472" y="2812708"/>
            <a:ext cx="224367" cy="750650"/>
          </a:xfrm>
          <a:prstGeom prst="leftBrace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045469" y="2612653"/>
            <a:ext cx="21748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直流导通电阻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Rdc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45469" y="3343185"/>
            <a:ext cx="21595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交流导通电阻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Rac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17063" y="3814039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磁滞损耗</a:t>
            </a:r>
          </a:p>
        </p:txBody>
      </p:sp>
      <p:sp>
        <p:nvSpPr>
          <p:cNvPr id="17" name="矩形 16"/>
          <p:cNvSpPr/>
          <p:nvPr/>
        </p:nvSpPr>
        <p:spPr>
          <a:xfrm>
            <a:off x="4381544" y="4640100"/>
            <a:ext cx="12105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涡流损耗</a:t>
            </a:r>
          </a:p>
        </p:txBody>
      </p:sp>
      <p:sp>
        <p:nvSpPr>
          <p:cNvPr id="19" name="矩形 18"/>
          <p:cNvSpPr/>
          <p:nvPr/>
        </p:nvSpPr>
        <p:spPr>
          <a:xfrm>
            <a:off x="4488830" y="5466161"/>
            <a:ext cx="3214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电感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值通常为几十至一百</a:t>
            </a:r>
            <a:endParaRPr lang="zh-CN" altLang="en-US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2030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915"/>
    </mc:Choice>
    <mc:Fallback>
      <p:transition spd="slow" advTm="20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7" grpId="0"/>
      <p:bldP spid="10" grpId="0" animBg="1"/>
      <p:bldP spid="12" grpId="0"/>
      <p:bldP spid="13" grpId="0" animBg="1"/>
      <p:bldP spid="14" grpId="0"/>
      <p:bldP spid="15" grpId="0"/>
      <p:bldP spid="16" grpId="0"/>
      <p:bldP spid="1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61081" y="437270"/>
            <a:ext cx="6669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功率电感为什么不考虑</a:t>
            </a:r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值？</a:t>
            </a:r>
          </a:p>
        </p:txBody>
      </p:sp>
      <p:grpSp>
        <p:nvGrpSpPr>
          <p:cNvPr id="221" name="组合 220"/>
          <p:cNvGrpSpPr/>
          <p:nvPr/>
        </p:nvGrpSpPr>
        <p:grpSpPr>
          <a:xfrm>
            <a:off x="8235090" y="2399550"/>
            <a:ext cx="1664351" cy="2200982"/>
            <a:chOff x="8235090" y="2399550"/>
            <a:chExt cx="1664351" cy="2200982"/>
          </a:xfrm>
        </p:grpSpPr>
        <p:cxnSp>
          <p:nvCxnSpPr>
            <p:cNvPr id="206" name="直接连接符 205"/>
            <p:cNvCxnSpPr/>
            <p:nvPr/>
          </p:nvCxnSpPr>
          <p:spPr>
            <a:xfrm>
              <a:off x="8278144" y="2399550"/>
              <a:ext cx="1000195" cy="0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8235090" y="4600532"/>
              <a:ext cx="1000195" cy="0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8" name="组合 207"/>
            <p:cNvGrpSpPr/>
            <p:nvPr/>
          </p:nvGrpSpPr>
          <p:grpSpPr>
            <a:xfrm rot="5400000">
              <a:off x="8908091" y="3459499"/>
              <a:ext cx="781978" cy="178290"/>
              <a:chOff x="3691527" y="2073335"/>
              <a:chExt cx="498875" cy="113743"/>
            </a:xfrm>
          </p:grpSpPr>
          <p:cxnSp>
            <p:nvCxnSpPr>
              <p:cNvPr id="209" name="直接连接符 208"/>
              <p:cNvCxnSpPr/>
              <p:nvPr/>
            </p:nvCxnSpPr>
            <p:spPr>
              <a:xfrm>
                <a:off x="3691527" y="2132867"/>
                <a:ext cx="110728" cy="0"/>
              </a:xfrm>
              <a:prstGeom prst="line">
                <a:avLst/>
              </a:prstGeom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/>
              <p:cNvCxnSpPr/>
              <p:nvPr/>
            </p:nvCxnSpPr>
            <p:spPr>
              <a:xfrm>
                <a:off x="4079674" y="2132868"/>
                <a:ext cx="110728" cy="0"/>
              </a:xfrm>
              <a:prstGeom prst="line">
                <a:avLst/>
              </a:prstGeom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矩形 210"/>
              <p:cNvSpPr/>
              <p:nvPr/>
            </p:nvSpPr>
            <p:spPr>
              <a:xfrm>
                <a:off x="3802255" y="2073335"/>
                <a:ext cx="277419" cy="113743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212" name="直接连接符 211"/>
            <p:cNvCxnSpPr/>
            <p:nvPr/>
          </p:nvCxnSpPr>
          <p:spPr>
            <a:xfrm flipV="1">
              <a:off x="9294908" y="2399550"/>
              <a:ext cx="0" cy="758106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flipV="1">
              <a:off x="9294908" y="3939635"/>
              <a:ext cx="0" cy="660896"/>
            </a:xfrm>
            <a:prstGeom prst="line">
              <a:avLst/>
            </a:prstGeom>
            <a:ln w="1270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/>
                <p:cNvSpPr txBox="1"/>
                <p:nvPr/>
              </p:nvSpPr>
              <p:spPr>
                <a:xfrm>
                  <a:off x="9511925" y="3346387"/>
                  <a:ext cx="387516" cy="3859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solidFill>
                                  <a:srgbClr val="C55A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rgbClr val="C55A1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rgbClr val="C55A1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>
                    <a:solidFill>
                      <a:srgbClr val="C55A11"/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925" y="3346387"/>
                  <a:ext cx="387516" cy="385947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2" name="组合 221"/>
          <p:cNvGrpSpPr/>
          <p:nvPr/>
        </p:nvGrpSpPr>
        <p:grpSpPr>
          <a:xfrm>
            <a:off x="6371069" y="1716611"/>
            <a:ext cx="434817" cy="385947"/>
            <a:chOff x="6371069" y="1716611"/>
            <a:chExt cx="434817" cy="385947"/>
          </a:xfrm>
        </p:grpSpPr>
        <p:cxnSp>
          <p:nvCxnSpPr>
            <p:cNvPr id="215" name="直接箭头连接符 214"/>
            <p:cNvCxnSpPr/>
            <p:nvPr/>
          </p:nvCxnSpPr>
          <p:spPr>
            <a:xfrm>
              <a:off x="6371069" y="2026777"/>
              <a:ext cx="434817" cy="0"/>
            </a:xfrm>
            <a:prstGeom prst="straightConnector1">
              <a:avLst/>
            </a:prstGeom>
            <a:ln w="12700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6" name="文本框 215"/>
                <p:cNvSpPr txBox="1"/>
                <p:nvPr/>
              </p:nvSpPr>
              <p:spPr>
                <a:xfrm>
                  <a:off x="6480260" y="1716611"/>
                  <a:ext cx="206240" cy="3859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solidFill>
                              <a:srgbClr val="C55A1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1600" dirty="0">
                    <a:solidFill>
                      <a:srgbClr val="C55A11"/>
                    </a:solidFill>
                  </a:endParaRPr>
                </a:p>
              </p:txBody>
            </p:sp>
          </mc:Choice>
          <mc:Fallback xmlns="">
            <p:sp>
              <p:nvSpPr>
                <p:cNvPr id="216" name="文本框 2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260" y="1716611"/>
                  <a:ext cx="206240" cy="385947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941" r="-29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0" name="组合 219"/>
          <p:cNvGrpSpPr/>
          <p:nvPr/>
        </p:nvGrpSpPr>
        <p:grpSpPr>
          <a:xfrm>
            <a:off x="2292560" y="2120411"/>
            <a:ext cx="6153634" cy="3183126"/>
            <a:chOff x="2292560" y="2120411"/>
            <a:chExt cx="6153634" cy="3183126"/>
          </a:xfrm>
        </p:grpSpPr>
        <p:grpSp>
          <p:nvGrpSpPr>
            <p:cNvPr id="110" name="组合 109"/>
            <p:cNvGrpSpPr/>
            <p:nvPr/>
          </p:nvGrpSpPr>
          <p:grpSpPr>
            <a:xfrm>
              <a:off x="2292560" y="2120411"/>
              <a:ext cx="6153634" cy="2517730"/>
              <a:chOff x="4451095" y="1309415"/>
              <a:chExt cx="3925805" cy="1606224"/>
            </a:xfrm>
          </p:grpSpPr>
          <p:grpSp>
            <p:nvGrpSpPr>
              <p:cNvPr id="111" name="组合 110"/>
              <p:cNvGrpSpPr/>
              <p:nvPr/>
            </p:nvGrpSpPr>
            <p:grpSpPr>
              <a:xfrm rot="16200000">
                <a:off x="5621031" y="1272323"/>
                <a:ext cx="406829" cy="481013"/>
                <a:chOff x="2503546" y="2345531"/>
                <a:chExt cx="406829" cy="481013"/>
              </a:xfrm>
            </p:grpSpPr>
            <p:grpSp>
              <p:nvGrpSpPr>
                <p:cNvPr id="186" name="组合 185"/>
                <p:cNvGrpSpPr/>
                <p:nvPr/>
              </p:nvGrpSpPr>
              <p:grpSpPr>
                <a:xfrm>
                  <a:off x="2780682" y="2465183"/>
                  <a:ext cx="75437" cy="229195"/>
                  <a:chOff x="3043238" y="995887"/>
                  <a:chExt cx="196850" cy="598074"/>
                </a:xfrm>
              </p:grpSpPr>
              <p:sp>
                <p:nvSpPr>
                  <p:cNvPr id="202" name="等腰三角形 201"/>
                  <p:cNvSpPr/>
                  <p:nvPr/>
                </p:nvSpPr>
                <p:spPr>
                  <a:xfrm>
                    <a:off x="3045101" y="1250496"/>
                    <a:ext cx="193399" cy="153581"/>
                  </a:xfrm>
                  <a:prstGeom prst="triangl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03" name="直接连接符 202"/>
                  <p:cNvCxnSpPr/>
                  <p:nvPr/>
                </p:nvCxnSpPr>
                <p:spPr>
                  <a:xfrm>
                    <a:off x="3043238" y="1245734"/>
                    <a:ext cx="196850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4" name="直接连接符 203"/>
                  <p:cNvCxnSpPr>
                    <a:endCxn id="202" idx="0"/>
                  </p:cNvCxnSpPr>
                  <p:nvPr/>
                </p:nvCxnSpPr>
                <p:spPr>
                  <a:xfrm>
                    <a:off x="3138624" y="995887"/>
                    <a:ext cx="3178" cy="25461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5" name="直接连接符 204"/>
                  <p:cNvCxnSpPr/>
                  <p:nvPr/>
                </p:nvCxnSpPr>
                <p:spPr>
                  <a:xfrm>
                    <a:off x="3138624" y="1404076"/>
                    <a:ext cx="0" cy="18988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87" name="直接连接符 186"/>
                <p:cNvCxnSpPr/>
                <p:nvPr/>
              </p:nvCxnSpPr>
              <p:spPr>
                <a:xfrm flipH="1">
                  <a:off x="2732294" y="2471245"/>
                  <a:ext cx="84942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直接连接符 187"/>
                <p:cNvCxnSpPr/>
                <p:nvPr/>
              </p:nvCxnSpPr>
              <p:spPr>
                <a:xfrm flipH="1">
                  <a:off x="2738925" y="2694378"/>
                  <a:ext cx="84942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直接连接符 188"/>
                <p:cNvCxnSpPr/>
                <p:nvPr/>
              </p:nvCxnSpPr>
              <p:spPr>
                <a:xfrm>
                  <a:off x="2732294" y="2582659"/>
                  <a:ext cx="4250" cy="24388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直接连接符 189"/>
                <p:cNvCxnSpPr/>
                <p:nvPr/>
              </p:nvCxnSpPr>
              <p:spPr>
                <a:xfrm>
                  <a:off x="2731781" y="2345531"/>
                  <a:ext cx="0" cy="168438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直接连接符 190"/>
                <p:cNvCxnSpPr/>
                <p:nvPr/>
              </p:nvCxnSpPr>
              <p:spPr>
                <a:xfrm flipH="1">
                  <a:off x="2664968" y="2513969"/>
                  <a:ext cx="73957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/>
                <p:cNvCxnSpPr/>
                <p:nvPr/>
              </p:nvCxnSpPr>
              <p:spPr>
                <a:xfrm flipH="1">
                  <a:off x="2503546" y="2683772"/>
                  <a:ext cx="126356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直接连接符 192"/>
                <p:cNvCxnSpPr/>
                <p:nvPr/>
              </p:nvCxnSpPr>
              <p:spPr>
                <a:xfrm>
                  <a:off x="2631769" y="2475205"/>
                  <a:ext cx="0" cy="213598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/>
                <p:cNvCxnSpPr/>
                <p:nvPr/>
              </p:nvCxnSpPr>
              <p:spPr>
                <a:xfrm>
                  <a:off x="2664968" y="2487253"/>
                  <a:ext cx="0" cy="4662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/>
                <p:cNvCxnSpPr/>
                <p:nvPr/>
              </p:nvCxnSpPr>
              <p:spPr>
                <a:xfrm>
                  <a:off x="2664968" y="2558693"/>
                  <a:ext cx="0" cy="4662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连接符 195"/>
                <p:cNvCxnSpPr/>
                <p:nvPr/>
              </p:nvCxnSpPr>
              <p:spPr>
                <a:xfrm>
                  <a:off x="2664968" y="2627750"/>
                  <a:ext cx="0" cy="4662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接连接符 196"/>
                <p:cNvCxnSpPr/>
                <p:nvPr/>
              </p:nvCxnSpPr>
              <p:spPr>
                <a:xfrm flipH="1">
                  <a:off x="2662587" y="2582004"/>
                  <a:ext cx="73957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连接符 197"/>
                <p:cNvCxnSpPr/>
                <p:nvPr/>
              </p:nvCxnSpPr>
              <p:spPr>
                <a:xfrm flipH="1">
                  <a:off x="2669219" y="2653232"/>
                  <a:ext cx="62562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连接符 198"/>
                <p:cNvCxnSpPr/>
                <p:nvPr/>
              </p:nvCxnSpPr>
              <p:spPr>
                <a:xfrm flipH="1">
                  <a:off x="2666391" y="2557306"/>
                  <a:ext cx="40523" cy="2474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连接符 199"/>
                <p:cNvCxnSpPr/>
                <p:nvPr/>
              </p:nvCxnSpPr>
              <p:spPr>
                <a:xfrm flipH="1" flipV="1">
                  <a:off x="2666391" y="2578373"/>
                  <a:ext cx="40523" cy="2504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椭圆 200"/>
                <p:cNvSpPr/>
                <p:nvPr/>
              </p:nvSpPr>
              <p:spPr>
                <a:xfrm>
                  <a:off x="2548425" y="2405292"/>
                  <a:ext cx="361950" cy="361950"/>
                </a:xfrm>
                <a:prstGeom prst="ellipse">
                  <a:avLst/>
                </a:prstGeom>
                <a:solidFill>
                  <a:schemeClr val="accent1">
                    <a:alpha val="1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2" name="组合 111"/>
              <p:cNvGrpSpPr/>
              <p:nvPr/>
            </p:nvGrpSpPr>
            <p:grpSpPr>
              <a:xfrm>
                <a:off x="6182932" y="2032235"/>
                <a:ext cx="406829" cy="481013"/>
                <a:chOff x="2503546" y="2345531"/>
                <a:chExt cx="406829" cy="481013"/>
              </a:xfrm>
            </p:grpSpPr>
            <p:grpSp>
              <p:nvGrpSpPr>
                <p:cNvPr id="166" name="组合 165"/>
                <p:cNvGrpSpPr/>
                <p:nvPr/>
              </p:nvGrpSpPr>
              <p:grpSpPr>
                <a:xfrm>
                  <a:off x="2780682" y="2465183"/>
                  <a:ext cx="75437" cy="229195"/>
                  <a:chOff x="3043238" y="995887"/>
                  <a:chExt cx="196850" cy="598074"/>
                </a:xfrm>
              </p:grpSpPr>
              <p:sp>
                <p:nvSpPr>
                  <p:cNvPr id="182" name="等腰三角形 181"/>
                  <p:cNvSpPr/>
                  <p:nvPr/>
                </p:nvSpPr>
                <p:spPr>
                  <a:xfrm>
                    <a:off x="3045101" y="1250496"/>
                    <a:ext cx="193399" cy="153581"/>
                  </a:xfrm>
                  <a:prstGeom prst="triangle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83" name="直接连接符 182"/>
                  <p:cNvCxnSpPr/>
                  <p:nvPr/>
                </p:nvCxnSpPr>
                <p:spPr>
                  <a:xfrm>
                    <a:off x="3043238" y="1245734"/>
                    <a:ext cx="196850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4" name="直接连接符 183"/>
                  <p:cNvCxnSpPr>
                    <a:endCxn id="182" idx="0"/>
                  </p:cNvCxnSpPr>
                  <p:nvPr/>
                </p:nvCxnSpPr>
                <p:spPr>
                  <a:xfrm>
                    <a:off x="3138624" y="995887"/>
                    <a:ext cx="3178" cy="25461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5" name="直接连接符 184"/>
                  <p:cNvCxnSpPr/>
                  <p:nvPr/>
                </p:nvCxnSpPr>
                <p:spPr>
                  <a:xfrm>
                    <a:off x="3138624" y="1404076"/>
                    <a:ext cx="0" cy="18988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7" name="直接连接符 166"/>
                <p:cNvCxnSpPr/>
                <p:nvPr/>
              </p:nvCxnSpPr>
              <p:spPr>
                <a:xfrm flipH="1">
                  <a:off x="2732294" y="2471245"/>
                  <a:ext cx="84942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接连接符 167"/>
                <p:cNvCxnSpPr/>
                <p:nvPr/>
              </p:nvCxnSpPr>
              <p:spPr>
                <a:xfrm flipH="1">
                  <a:off x="2738925" y="2694378"/>
                  <a:ext cx="84942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连接符 168"/>
                <p:cNvCxnSpPr/>
                <p:nvPr/>
              </p:nvCxnSpPr>
              <p:spPr>
                <a:xfrm>
                  <a:off x="2732294" y="2582659"/>
                  <a:ext cx="4250" cy="24388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连接符 169"/>
                <p:cNvCxnSpPr/>
                <p:nvPr/>
              </p:nvCxnSpPr>
              <p:spPr>
                <a:xfrm>
                  <a:off x="2731781" y="2345531"/>
                  <a:ext cx="0" cy="168438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直接连接符 170"/>
                <p:cNvCxnSpPr/>
                <p:nvPr/>
              </p:nvCxnSpPr>
              <p:spPr>
                <a:xfrm flipH="1">
                  <a:off x="2664968" y="2513969"/>
                  <a:ext cx="73957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直接连接符 171"/>
                <p:cNvCxnSpPr/>
                <p:nvPr/>
              </p:nvCxnSpPr>
              <p:spPr>
                <a:xfrm flipH="1">
                  <a:off x="2503546" y="2683772"/>
                  <a:ext cx="126356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接连接符 172"/>
                <p:cNvCxnSpPr/>
                <p:nvPr/>
              </p:nvCxnSpPr>
              <p:spPr>
                <a:xfrm>
                  <a:off x="2631769" y="2475205"/>
                  <a:ext cx="0" cy="213598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连接符 173"/>
                <p:cNvCxnSpPr/>
                <p:nvPr/>
              </p:nvCxnSpPr>
              <p:spPr>
                <a:xfrm>
                  <a:off x="2664968" y="2487253"/>
                  <a:ext cx="0" cy="4662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接连接符 174"/>
                <p:cNvCxnSpPr/>
                <p:nvPr/>
              </p:nvCxnSpPr>
              <p:spPr>
                <a:xfrm>
                  <a:off x="2664968" y="2558693"/>
                  <a:ext cx="0" cy="4662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/>
                <p:cNvCxnSpPr/>
                <p:nvPr/>
              </p:nvCxnSpPr>
              <p:spPr>
                <a:xfrm>
                  <a:off x="2664968" y="2627750"/>
                  <a:ext cx="0" cy="46622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直接连接符 176"/>
                <p:cNvCxnSpPr/>
                <p:nvPr/>
              </p:nvCxnSpPr>
              <p:spPr>
                <a:xfrm flipH="1">
                  <a:off x="2662587" y="2582004"/>
                  <a:ext cx="73957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直接连接符 177"/>
                <p:cNvCxnSpPr/>
                <p:nvPr/>
              </p:nvCxnSpPr>
              <p:spPr>
                <a:xfrm flipH="1">
                  <a:off x="2669219" y="2653232"/>
                  <a:ext cx="62562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直接连接符 178"/>
                <p:cNvCxnSpPr/>
                <p:nvPr/>
              </p:nvCxnSpPr>
              <p:spPr>
                <a:xfrm flipH="1">
                  <a:off x="2666391" y="2557306"/>
                  <a:ext cx="40523" cy="24745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直接连接符 179"/>
                <p:cNvCxnSpPr/>
                <p:nvPr/>
              </p:nvCxnSpPr>
              <p:spPr>
                <a:xfrm flipH="1" flipV="1">
                  <a:off x="2666391" y="2578373"/>
                  <a:ext cx="40523" cy="2504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1" name="椭圆 180"/>
                <p:cNvSpPr/>
                <p:nvPr/>
              </p:nvSpPr>
              <p:spPr>
                <a:xfrm>
                  <a:off x="2548425" y="2405292"/>
                  <a:ext cx="361950" cy="361950"/>
                </a:xfrm>
                <a:prstGeom prst="ellipse">
                  <a:avLst/>
                </a:prstGeom>
                <a:solidFill>
                  <a:schemeClr val="accent1">
                    <a:alpha val="1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3" name="组合 112"/>
              <p:cNvGrpSpPr/>
              <p:nvPr/>
            </p:nvGrpSpPr>
            <p:grpSpPr>
              <a:xfrm>
                <a:off x="6639327" y="1431273"/>
                <a:ext cx="862013" cy="73756"/>
                <a:chOff x="1493467" y="1883870"/>
                <a:chExt cx="862013" cy="73756"/>
              </a:xfrm>
            </p:grpSpPr>
            <p:sp>
              <p:nvSpPr>
                <p:cNvPr id="160" name="任意多边形 159"/>
                <p:cNvSpPr/>
                <p:nvPr/>
              </p:nvSpPr>
              <p:spPr>
                <a:xfrm>
                  <a:off x="1761358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1" name="任意多边形 160"/>
                <p:cNvSpPr/>
                <p:nvPr/>
              </p:nvSpPr>
              <p:spPr>
                <a:xfrm>
                  <a:off x="1925664" y="1883870"/>
                  <a:ext cx="164306" cy="73756"/>
                </a:xfrm>
                <a:custGeom>
                  <a:avLst/>
                  <a:gdLst>
                    <a:gd name="connsiteX0" fmla="*/ 82153 w 164306"/>
                    <a:gd name="connsiteY0" fmla="*/ 0 h 73756"/>
                    <a:gd name="connsiteX1" fmla="*/ 164306 w 164306"/>
                    <a:gd name="connsiteY1" fmla="*/ 71438 h 73756"/>
                    <a:gd name="connsiteX2" fmla="*/ 163202 w 164306"/>
                    <a:gd name="connsiteY2" fmla="*/ 73756 h 73756"/>
                    <a:gd name="connsiteX3" fmla="*/ 1104 w 164306"/>
                    <a:gd name="connsiteY3" fmla="*/ 73756 h 73756"/>
                    <a:gd name="connsiteX4" fmla="*/ 0 w 164306"/>
                    <a:gd name="connsiteY4" fmla="*/ 71438 h 73756"/>
                    <a:gd name="connsiteX5" fmla="*/ 82153 w 164306"/>
                    <a:gd name="connsiteY5" fmla="*/ 0 h 737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6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2" y="73756"/>
                      </a:lnTo>
                      <a:lnTo>
                        <a:pt x="1104" y="73756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2" name="任意多边形 161"/>
                <p:cNvSpPr/>
                <p:nvPr/>
              </p:nvSpPr>
              <p:spPr>
                <a:xfrm>
                  <a:off x="2085208" y="1883870"/>
                  <a:ext cx="164306" cy="73755"/>
                </a:xfrm>
                <a:custGeom>
                  <a:avLst/>
                  <a:gdLst>
                    <a:gd name="connsiteX0" fmla="*/ 82153 w 164306"/>
                    <a:gd name="connsiteY0" fmla="*/ 0 h 73755"/>
                    <a:gd name="connsiteX1" fmla="*/ 164306 w 164306"/>
                    <a:gd name="connsiteY1" fmla="*/ 71438 h 73755"/>
                    <a:gd name="connsiteX2" fmla="*/ 163203 w 164306"/>
                    <a:gd name="connsiteY2" fmla="*/ 73755 h 73755"/>
                    <a:gd name="connsiteX3" fmla="*/ 1104 w 164306"/>
                    <a:gd name="connsiteY3" fmla="*/ 73755 h 73755"/>
                    <a:gd name="connsiteX4" fmla="*/ 0 w 164306"/>
                    <a:gd name="connsiteY4" fmla="*/ 71438 h 73755"/>
                    <a:gd name="connsiteX5" fmla="*/ 82153 w 164306"/>
                    <a:gd name="connsiteY5" fmla="*/ 0 h 737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5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5"/>
                      </a:lnTo>
                      <a:lnTo>
                        <a:pt x="1104" y="73755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3" name="任意多边形 162"/>
                <p:cNvSpPr/>
                <p:nvPr/>
              </p:nvSpPr>
              <p:spPr>
                <a:xfrm>
                  <a:off x="1601814" y="1883870"/>
                  <a:ext cx="164306" cy="73754"/>
                </a:xfrm>
                <a:custGeom>
                  <a:avLst/>
                  <a:gdLst>
                    <a:gd name="connsiteX0" fmla="*/ 82153 w 164306"/>
                    <a:gd name="connsiteY0" fmla="*/ 0 h 73754"/>
                    <a:gd name="connsiteX1" fmla="*/ 164306 w 164306"/>
                    <a:gd name="connsiteY1" fmla="*/ 71438 h 73754"/>
                    <a:gd name="connsiteX2" fmla="*/ 163203 w 164306"/>
                    <a:gd name="connsiteY2" fmla="*/ 73754 h 73754"/>
                    <a:gd name="connsiteX3" fmla="*/ 1103 w 164306"/>
                    <a:gd name="connsiteY3" fmla="*/ 73754 h 73754"/>
                    <a:gd name="connsiteX4" fmla="*/ 0 w 164306"/>
                    <a:gd name="connsiteY4" fmla="*/ 71438 h 73754"/>
                    <a:gd name="connsiteX5" fmla="*/ 82153 w 164306"/>
                    <a:gd name="connsiteY5" fmla="*/ 0 h 73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4306" h="73754">
                      <a:moveTo>
                        <a:pt x="82153" y="0"/>
                      </a:moveTo>
                      <a:cubicBezTo>
                        <a:pt x="127525" y="0"/>
                        <a:pt x="164306" y="31984"/>
                        <a:pt x="164306" y="71438"/>
                      </a:cubicBezTo>
                      <a:lnTo>
                        <a:pt x="163203" y="73754"/>
                      </a:lnTo>
                      <a:lnTo>
                        <a:pt x="1103" y="73754"/>
                      </a:lnTo>
                      <a:lnTo>
                        <a:pt x="0" y="71438"/>
                      </a:lnTo>
                      <a:cubicBezTo>
                        <a:pt x="0" y="31984"/>
                        <a:pt x="36781" y="0"/>
                        <a:pt x="82153" y="0"/>
                      </a:cubicBezTo>
                      <a:close/>
                    </a:path>
                  </a:pathLst>
                </a:custGeom>
                <a:noFill/>
                <a:ln>
                  <a:gradFill>
                    <a:gsLst>
                      <a:gs pos="0">
                        <a:schemeClr val="accent1"/>
                      </a:gs>
                      <a:gs pos="79000">
                        <a:schemeClr val="bg1">
                          <a:alpha val="0"/>
                        </a:schemeClr>
                      </a:gs>
                      <a:gs pos="70000">
                        <a:schemeClr val="accent1"/>
                      </a:gs>
                    </a:gsLst>
                    <a:lin ang="54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64" name="直接连接符 163"/>
                <p:cNvCxnSpPr/>
                <p:nvPr/>
              </p:nvCxnSpPr>
              <p:spPr>
                <a:xfrm>
                  <a:off x="1493467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直接连接符 164"/>
                <p:cNvCxnSpPr/>
                <p:nvPr/>
              </p:nvCxnSpPr>
              <p:spPr>
                <a:xfrm>
                  <a:off x="2244752" y="1936195"/>
                  <a:ext cx="110728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组合 113"/>
              <p:cNvGrpSpPr/>
              <p:nvPr/>
            </p:nvGrpSpPr>
            <p:grpSpPr>
              <a:xfrm rot="5400000">
                <a:off x="4825668" y="2074588"/>
                <a:ext cx="411164" cy="291983"/>
                <a:chOff x="5612081" y="2321455"/>
                <a:chExt cx="411164" cy="291983"/>
              </a:xfrm>
            </p:grpSpPr>
            <p:cxnSp>
              <p:nvCxnSpPr>
                <p:cNvPr id="155" name="直接连接符 154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矩形 158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15" name="组合 114"/>
              <p:cNvGrpSpPr/>
              <p:nvPr/>
            </p:nvGrpSpPr>
            <p:grpSpPr>
              <a:xfrm rot="5400000">
                <a:off x="7578240" y="2098020"/>
                <a:ext cx="411164" cy="291983"/>
                <a:chOff x="5612081" y="2321455"/>
                <a:chExt cx="411164" cy="291983"/>
              </a:xfrm>
            </p:grpSpPr>
            <p:cxnSp>
              <p:nvCxnSpPr>
                <p:cNvPr id="150" name="直接连接符 149"/>
                <p:cNvCxnSpPr/>
                <p:nvPr/>
              </p:nvCxnSpPr>
              <p:spPr>
                <a:xfrm>
                  <a:off x="5768451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直接连接符 150"/>
                <p:cNvCxnSpPr/>
                <p:nvPr/>
              </p:nvCxnSpPr>
              <p:spPr>
                <a:xfrm>
                  <a:off x="5866876" y="2321455"/>
                  <a:ext cx="0" cy="291983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连接符 151"/>
                <p:cNvCxnSpPr/>
                <p:nvPr/>
              </p:nvCxnSpPr>
              <p:spPr>
                <a:xfrm flipH="1">
                  <a:off x="5866876" y="2462684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连接符 152"/>
                <p:cNvCxnSpPr/>
                <p:nvPr/>
              </p:nvCxnSpPr>
              <p:spPr>
                <a:xfrm flipH="1">
                  <a:off x="5612081" y="2461773"/>
                  <a:ext cx="156369" cy="1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4" name="矩形 153"/>
                <p:cNvSpPr/>
                <p:nvPr/>
              </p:nvSpPr>
              <p:spPr>
                <a:xfrm>
                  <a:off x="5768450" y="2321455"/>
                  <a:ext cx="98426" cy="291983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16" name="椭圆 115"/>
              <p:cNvSpPr/>
              <p:nvPr/>
            </p:nvSpPr>
            <p:spPr>
              <a:xfrm>
                <a:off x="4573610" y="2850744"/>
                <a:ext cx="64895" cy="64895"/>
              </a:xfrm>
              <a:prstGeom prst="ellipse">
                <a:avLst/>
              </a:prstGeom>
              <a:noFill/>
              <a:ln>
                <a:solidFill>
                  <a:srgbClr val="5B9BD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8138596" y="2850744"/>
                <a:ext cx="64895" cy="64895"/>
              </a:xfrm>
              <a:prstGeom prst="ellipse">
                <a:avLst/>
              </a:prstGeom>
              <a:noFill/>
              <a:ln>
                <a:solidFill>
                  <a:srgbClr val="5B9BD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18" name="直接连接符 117"/>
              <p:cNvCxnSpPr>
                <a:stCxn id="116" idx="6"/>
                <a:endCxn id="117" idx="2"/>
              </p:cNvCxnSpPr>
              <p:nvPr/>
            </p:nvCxnSpPr>
            <p:spPr>
              <a:xfrm>
                <a:off x="4638505" y="2883192"/>
                <a:ext cx="3500091" cy="0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椭圆 118"/>
              <p:cNvSpPr/>
              <p:nvPr/>
            </p:nvSpPr>
            <p:spPr>
              <a:xfrm>
                <a:off x="8138596" y="1451150"/>
                <a:ext cx="64895" cy="64895"/>
              </a:xfrm>
              <a:prstGeom prst="ellipse">
                <a:avLst/>
              </a:prstGeom>
              <a:noFill/>
              <a:ln>
                <a:solidFill>
                  <a:srgbClr val="5B9BD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20" name="直接连接符 119"/>
              <p:cNvCxnSpPr>
                <a:endCxn id="119" idx="2"/>
              </p:cNvCxnSpPr>
              <p:nvPr/>
            </p:nvCxnSpPr>
            <p:spPr>
              <a:xfrm>
                <a:off x="7501340" y="1483598"/>
                <a:ext cx="637256" cy="0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椭圆 120"/>
              <p:cNvSpPr/>
              <p:nvPr/>
            </p:nvSpPr>
            <p:spPr>
              <a:xfrm>
                <a:off x="4573610" y="1455912"/>
                <a:ext cx="64895" cy="64895"/>
              </a:xfrm>
              <a:prstGeom prst="ellipse">
                <a:avLst/>
              </a:prstGeom>
              <a:noFill/>
              <a:ln>
                <a:solidFill>
                  <a:srgbClr val="5B9BD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122" name="直接连接符 121"/>
              <p:cNvCxnSpPr>
                <a:stCxn id="121" idx="6"/>
              </p:cNvCxnSpPr>
              <p:nvPr/>
            </p:nvCxnSpPr>
            <p:spPr>
              <a:xfrm>
                <a:off x="4638505" y="1488360"/>
                <a:ext cx="945434" cy="0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>
                <a:off x="6062180" y="1483790"/>
                <a:ext cx="577147" cy="0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 flipH="1">
                <a:off x="5035472" y="1481622"/>
                <a:ext cx="3005" cy="554038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/>
              <p:cNvCxnSpPr/>
              <p:nvPr/>
            </p:nvCxnSpPr>
            <p:spPr>
              <a:xfrm flipH="1">
                <a:off x="5034255" y="2417707"/>
                <a:ext cx="1" cy="465484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/>
              <p:nvPr/>
            </p:nvCxnSpPr>
            <p:spPr>
              <a:xfrm flipH="1">
                <a:off x="6414747" y="2501863"/>
                <a:ext cx="1" cy="381328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/>
              <p:cNvCxnSpPr/>
              <p:nvPr/>
            </p:nvCxnSpPr>
            <p:spPr>
              <a:xfrm flipH="1">
                <a:off x="6409539" y="1485500"/>
                <a:ext cx="6960" cy="550115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接连接符 127"/>
              <p:cNvCxnSpPr/>
              <p:nvPr/>
            </p:nvCxnSpPr>
            <p:spPr>
              <a:xfrm>
                <a:off x="7790742" y="1479469"/>
                <a:ext cx="0" cy="562861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/>
              <p:cNvCxnSpPr/>
              <p:nvPr/>
            </p:nvCxnSpPr>
            <p:spPr>
              <a:xfrm flipH="1">
                <a:off x="7788989" y="2426162"/>
                <a:ext cx="1" cy="465484"/>
              </a:xfrm>
              <a:prstGeom prst="line">
                <a:avLst/>
              </a:prstGeom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0" name="组合 129"/>
              <p:cNvGrpSpPr/>
              <p:nvPr/>
            </p:nvGrpSpPr>
            <p:grpSpPr>
              <a:xfrm>
                <a:off x="5629925" y="1993359"/>
                <a:ext cx="419293" cy="170228"/>
                <a:chOff x="5472347" y="2035980"/>
                <a:chExt cx="548655" cy="222747"/>
              </a:xfrm>
            </p:grpSpPr>
            <p:cxnSp>
              <p:nvCxnSpPr>
                <p:cNvPr id="141" name="直接连接符 140"/>
                <p:cNvCxnSpPr/>
                <p:nvPr/>
              </p:nvCxnSpPr>
              <p:spPr>
                <a:xfrm>
                  <a:off x="5583939" y="2035980"/>
                  <a:ext cx="0" cy="2227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/>
                <p:cNvCxnSpPr/>
                <p:nvPr/>
              </p:nvCxnSpPr>
              <p:spPr>
                <a:xfrm>
                  <a:off x="5693553" y="2035980"/>
                  <a:ext cx="0" cy="2227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/>
              </p:nvCxnSpPr>
              <p:spPr>
                <a:xfrm>
                  <a:off x="5803167" y="2035980"/>
                  <a:ext cx="0" cy="2227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/>
              </p:nvCxnSpPr>
              <p:spPr>
                <a:xfrm>
                  <a:off x="5912780" y="2035980"/>
                  <a:ext cx="0" cy="22274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连接符 144"/>
                <p:cNvCxnSpPr/>
                <p:nvPr/>
              </p:nvCxnSpPr>
              <p:spPr>
                <a:xfrm>
                  <a:off x="5582950" y="2040742"/>
                  <a:ext cx="11060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连接符 145"/>
                <p:cNvCxnSpPr/>
                <p:nvPr/>
              </p:nvCxnSpPr>
              <p:spPr>
                <a:xfrm>
                  <a:off x="5804716" y="2039960"/>
                  <a:ext cx="11060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连接符 146"/>
                <p:cNvCxnSpPr/>
                <p:nvPr/>
              </p:nvCxnSpPr>
              <p:spPr>
                <a:xfrm>
                  <a:off x="5910399" y="2251631"/>
                  <a:ext cx="11060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/>
                <p:cNvCxnSpPr/>
                <p:nvPr/>
              </p:nvCxnSpPr>
              <p:spPr>
                <a:xfrm>
                  <a:off x="5472347" y="2251631"/>
                  <a:ext cx="11060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/>
              </p:nvCxnSpPr>
              <p:spPr>
                <a:xfrm>
                  <a:off x="5695580" y="2251631"/>
                  <a:ext cx="110603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130"/>
                  <p:cNvSpPr txBox="1"/>
                  <p:nvPr/>
                </p:nvSpPr>
                <p:spPr>
                  <a:xfrm>
                    <a:off x="4451095" y="2070999"/>
                    <a:ext cx="30925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1" name="文本框 1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51095" y="2070999"/>
                    <a:ext cx="309252" cy="246221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131"/>
                  <p:cNvSpPr txBox="1"/>
                  <p:nvPr/>
                </p:nvSpPr>
                <p:spPr>
                  <a:xfrm>
                    <a:off x="7965185" y="2081832"/>
                    <a:ext cx="411715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2" name="文本框 1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5185" y="2081832"/>
                    <a:ext cx="411715" cy="246221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3" name="组合 132"/>
              <p:cNvGrpSpPr/>
              <p:nvPr/>
            </p:nvGrpSpPr>
            <p:grpSpPr>
              <a:xfrm>
                <a:off x="4547331" y="1624013"/>
                <a:ext cx="96802" cy="96993"/>
                <a:chOff x="4547331" y="1624013"/>
                <a:chExt cx="96802" cy="96993"/>
              </a:xfrm>
            </p:grpSpPr>
            <p:cxnSp>
              <p:nvCxnSpPr>
                <p:cNvPr id="139" name="直接连接符 138"/>
                <p:cNvCxnSpPr/>
                <p:nvPr/>
              </p:nvCxnSpPr>
              <p:spPr>
                <a:xfrm>
                  <a:off x="4547331" y="1671365"/>
                  <a:ext cx="968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/>
                <p:cNvCxnSpPr/>
                <p:nvPr/>
              </p:nvCxnSpPr>
              <p:spPr>
                <a:xfrm>
                  <a:off x="4595732" y="1624013"/>
                  <a:ext cx="0" cy="9699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4" name="直接连接符 133"/>
              <p:cNvCxnSpPr/>
              <p:nvPr/>
            </p:nvCxnSpPr>
            <p:spPr>
              <a:xfrm>
                <a:off x="4541703" y="2766740"/>
                <a:ext cx="968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5" name="组合 134"/>
              <p:cNvGrpSpPr/>
              <p:nvPr/>
            </p:nvGrpSpPr>
            <p:grpSpPr>
              <a:xfrm>
                <a:off x="8125176" y="1624013"/>
                <a:ext cx="96802" cy="96993"/>
                <a:chOff x="4547331" y="1624013"/>
                <a:chExt cx="96802" cy="96993"/>
              </a:xfrm>
            </p:grpSpPr>
            <p:cxnSp>
              <p:nvCxnSpPr>
                <p:cNvPr id="137" name="直接连接符 136"/>
                <p:cNvCxnSpPr/>
                <p:nvPr/>
              </p:nvCxnSpPr>
              <p:spPr>
                <a:xfrm>
                  <a:off x="4547331" y="1671365"/>
                  <a:ext cx="968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/>
                <p:cNvCxnSpPr/>
                <p:nvPr/>
              </p:nvCxnSpPr>
              <p:spPr>
                <a:xfrm>
                  <a:off x="4595732" y="1624013"/>
                  <a:ext cx="0" cy="96993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6" name="直接连接符 135"/>
              <p:cNvCxnSpPr/>
              <p:nvPr/>
            </p:nvCxnSpPr>
            <p:spPr>
              <a:xfrm>
                <a:off x="8119548" y="2766740"/>
                <a:ext cx="9680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文本框 216"/>
            <p:cNvSpPr txBox="1"/>
            <p:nvPr/>
          </p:nvSpPr>
          <p:spPr>
            <a:xfrm>
              <a:off x="5014037" y="4724615"/>
              <a:ext cx="1839785" cy="5789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Buck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拓扑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42191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35"/>
    </mc:Choice>
    <mc:Fallback>
      <p:transition spd="slow" advTm="77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4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61081" y="437270"/>
            <a:ext cx="6669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功率电感为什么不考虑</a:t>
            </a:r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92560" y="1716611"/>
            <a:ext cx="7606881" cy="3586926"/>
            <a:chOff x="2292560" y="1716611"/>
            <a:chExt cx="7606881" cy="3586926"/>
          </a:xfrm>
        </p:grpSpPr>
        <p:grpSp>
          <p:nvGrpSpPr>
            <p:cNvPr id="221" name="组合 220"/>
            <p:cNvGrpSpPr/>
            <p:nvPr/>
          </p:nvGrpSpPr>
          <p:grpSpPr>
            <a:xfrm>
              <a:off x="8235090" y="2399550"/>
              <a:ext cx="1664351" cy="2200982"/>
              <a:chOff x="8235090" y="2399550"/>
              <a:chExt cx="1664351" cy="2200982"/>
            </a:xfrm>
          </p:grpSpPr>
          <p:cxnSp>
            <p:nvCxnSpPr>
              <p:cNvPr id="206" name="直接连接符 205"/>
              <p:cNvCxnSpPr/>
              <p:nvPr/>
            </p:nvCxnSpPr>
            <p:spPr>
              <a:xfrm>
                <a:off x="8278144" y="2399550"/>
                <a:ext cx="1000195" cy="0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 206"/>
              <p:cNvCxnSpPr/>
              <p:nvPr/>
            </p:nvCxnSpPr>
            <p:spPr>
              <a:xfrm>
                <a:off x="8235090" y="4600532"/>
                <a:ext cx="1000195" cy="0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8" name="组合 207"/>
              <p:cNvGrpSpPr/>
              <p:nvPr/>
            </p:nvGrpSpPr>
            <p:grpSpPr>
              <a:xfrm rot="5400000">
                <a:off x="8908091" y="3459499"/>
                <a:ext cx="781978" cy="178290"/>
                <a:chOff x="3691527" y="2073335"/>
                <a:chExt cx="498875" cy="113743"/>
              </a:xfrm>
            </p:grpSpPr>
            <p:cxnSp>
              <p:nvCxnSpPr>
                <p:cNvPr id="209" name="直接连接符 208"/>
                <p:cNvCxnSpPr/>
                <p:nvPr/>
              </p:nvCxnSpPr>
              <p:spPr>
                <a:xfrm>
                  <a:off x="3691527" y="2132867"/>
                  <a:ext cx="110728" cy="0"/>
                </a:xfrm>
                <a:prstGeom prst="line">
                  <a:avLst/>
                </a:prstGeom>
                <a:ln w="127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连接符 209"/>
                <p:cNvCxnSpPr/>
                <p:nvPr/>
              </p:nvCxnSpPr>
              <p:spPr>
                <a:xfrm>
                  <a:off x="4079674" y="2132868"/>
                  <a:ext cx="110728" cy="0"/>
                </a:xfrm>
                <a:prstGeom prst="line">
                  <a:avLst/>
                </a:prstGeom>
                <a:ln w="127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1" name="矩形 210"/>
                <p:cNvSpPr/>
                <p:nvPr/>
              </p:nvSpPr>
              <p:spPr>
                <a:xfrm>
                  <a:off x="3802255" y="2073335"/>
                  <a:ext cx="277419" cy="113743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212" name="直接连接符 211"/>
              <p:cNvCxnSpPr/>
              <p:nvPr/>
            </p:nvCxnSpPr>
            <p:spPr>
              <a:xfrm flipV="1">
                <a:off x="9294908" y="2399550"/>
                <a:ext cx="0" cy="758106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 212"/>
              <p:cNvCxnSpPr/>
              <p:nvPr/>
            </p:nvCxnSpPr>
            <p:spPr>
              <a:xfrm flipV="1">
                <a:off x="9294908" y="3939635"/>
                <a:ext cx="0" cy="660896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文本框 213"/>
                  <p:cNvSpPr txBox="1"/>
                  <p:nvPr/>
                </p:nvSpPr>
                <p:spPr>
                  <a:xfrm>
                    <a:off x="9511925" y="3346387"/>
                    <a:ext cx="387516" cy="38594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C55A1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rgbClr val="C55A1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4" name="文本框 2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1925" y="3346387"/>
                    <a:ext cx="387516" cy="385947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2" name="组合 221"/>
            <p:cNvGrpSpPr/>
            <p:nvPr/>
          </p:nvGrpSpPr>
          <p:grpSpPr>
            <a:xfrm>
              <a:off x="6371069" y="1716611"/>
              <a:ext cx="434817" cy="385947"/>
              <a:chOff x="6371069" y="1716611"/>
              <a:chExt cx="434817" cy="385947"/>
            </a:xfrm>
          </p:grpSpPr>
          <p:cxnSp>
            <p:nvCxnSpPr>
              <p:cNvPr id="215" name="直接箭头连接符 214"/>
              <p:cNvCxnSpPr/>
              <p:nvPr/>
            </p:nvCxnSpPr>
            <p:spPr>
              <a:xfrm>
                <a:off x="6371069" y="2026777"/>
                <a:ext cx="434817" cy="0"/>
              </a:xfrm>
              <a:prstGeom prst="straightConnector1">
                <a:avLst/>
              </a:prstGeom>
              <a:ln w="12700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文本框 215"/>
                  <p:cNvSpPr txBox="1"/>
                  <p:nvPr/>
                </p:nvSpPr>
                <p:spPr>
                  <a:xfrm>
                    <a:off x="6480260" y="1716611"/>
                    <a:ext cx="206240" cy="3859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smtClean="0">
                              <a:solidFill>
                                <a:srgbClr val="C55A1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oMath>
                      </m:oMathPara>
                    </a14:m>
                    <a:endParaRPr lang="zh-CN" altLang="en-US" sz="1600" dirty="0">
                      <a:solidFill>
                        <a:srgbClr val="C55A1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6" name="文本框 2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0260" y="1716611"/>
                    <a:ext cx="206240" cy="385947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l="-2941" r="-294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20" name="组合 219"/>
            <p:cNvGrpSpPr/>
            <p:nvPr/>
          </p:nvGrpSpPr>
          <p:grpSpPr>
            <a:xfrm>
              <a:off x="2292560" y="2120411"/>
              <a:ext cx="6153634" cy="3183126"/>
              <a:chOff x="2292560" y="2120411"/>
              <a:chExt cx="6153634" cy="3183126"/>
            </a:xfrm>
          </p:grpSpPr>
          <p:grpSp>
            <p:nvGrpSpPr>
              <p:cNvPr id="110" name="组合 109"/>
              <p:cNvGrpSpPr/>
              <p:nvPr/>
            </p:nvGrpSpPr>
            <p:grpSpPr>
              <a:xfrm>
                <a:off x="2292560" y="2120411"/>
                <a:ext cx="6153634" cy="2517730"/>
                <a:chOff x="4451095" y="1309415"/>
                <a:chExt cx="3925805" cy="1606224"/>
              </a:xfrm>
            </p:grpSpPr>
            <p:grpSp>
              <p:nvGrpSpPr>
                <p:cNvPr id="111" name="组合 110"/>
                <p:cNvGrpSpPr/>
                <p:nvPr/>
              </p:nvGrpSpPr>
              <p:grpSpPr>
                <a:xfrm rot="16200000">
                  <a:off x="5621031" y="1272323"/>
                  <a:ext cx="406829" cy="481013"/>
                  <a:chOff x="2503546" y="2345531"/>
                  <a:chExt cx="406829" cy="481013"/>
                </a:xfrm>
              </p:grpSpPr>
              <p:grpSp>
                <p:nvGrpSpPr>
                  <p:cNvPr id="186" name="组合 185"/>
                  <p:cNvGrpSpPr/>
                  <p:nvPr/>
                </p:nvGrpSpPr>
                <p:grpSpPr>
                  <a:xfrm>
                    <a:off x="2780682" y="2465183"/>
                    <a:ext cx="75437" cy="229195"/>
                    <a:chOff x="3043238" y="995887"/>
                    <a:chExt cx="196850" cy="598074"/>
                  </a:xfrm>
                </p:grpSpPr>
                <p:sp>
                  <p:nvSpPr>
                    <p:cNvPr id="202" name="等腰三角形 201"/>
                    <p:cNvSpPr/>
                    <p:nvPr/>
                  </p:nvSpPr>
                  <p:spPr>
                    <a:xfrm>
                      <a:off x="3045101" y="1250496"/>
                      <a:ext cx="193399" cy="153581"/>
                    </a:xfrm>
                    <a:prstGeom prst="triangl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03" name="直接连接符 202"/>
                    <p:cNvCxnSpPr/>
                    <p:nvPr/>
                  </p:nvCxnSpPr>
                  <p:spPr>
                    <a:xfrm>
                      <a:off x="3043238" y="1245734"/>
                      <a:ext cx="196850" cy="0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4" name="直接连接符 203"/>
                    <p:cNvCxnSpPr>
                      <a:endCxn id="202" idx="0"/>
                    </p:cNvCxnSpPr>
                    <p:nvPr/>
                  </p:nvCxnSpPr>
                  <p:spPr>
                    <a:xfrm>
                      <a:off x="3138624" y="995887"/>
                      <a:ext cx="3178" cy="254610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5" name="直接连接符 204"/>
                    <p:cNvCxnSpPr/>
                    <p:nvPr/>
                  </p:nvCxnSpPr>
                  <p:spPr>
                    <a:xfrm>
                      <a:off x="3138624" y="1404076"/>
                      <a:ext cx="0" cy="18988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7" name="直接连接符 186"/>
                  <p:cNvCxnSpPr/>
                  <p:nvPr/>
                </p:nvCxnSpPr>
                <p:spPr>
                  <a:xfrm flipH="1">
                    <a:off x="2732294" y="2471245"/>
                    <a:ext cx="84942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8" name="直接连接符 187"/>
                  <p:cNvCxnSpPr/>
                  <p:nvPr/>
                </p:nvCxnSpPr>
                <p:spPr>
                  <a:xfrm flipH="1">
                    <a:off x="2738925" y="2694378"/>
                    <a:ext cx="84942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9" name="直接连接符 188"/>
                  <p:cNvCxnSpPr/>
                  <p:nvPr/>
                </p:nvCxnSpPr>
                <p:spPr>
                  <a:xfrm>
                    <a:off x="2732294" y="2582659"/>
                    <a:ext cx="4250" cy="24388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直接连接符 189"/>
                  <p:cNvCxnSpPr/>
                  <p:nvPr/>
                </p:nvCxnSpPr>
                <p:spPr>
                  <a:xfrm>
                    <a:off x="2731781" y="2345531"/>
                    <a:ext cx="0" cy="168438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1" name="直接连接符 190"/>
                  <p:cNvCxnSpPr/>
                  <p:nvPr/>
                </p:nvCxnSpPr>
                <p:spPr>
                  <a:xfrm flipH="1">
                    <a:off x="2664968" y="2513969"/>
                    <a:ext cx="73957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直接连接符 191"/>
                  <p:cNvCxnSpPr/>
                  <p:nvPr/>
                </p:nvCxnSpPr>
                <p:spPr>
                  <a:xfrm flipH="1">
                    <a:off x="2503546" y="2683772"/>
                    <a:ext cx="126356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3" name="直接连接符 192"/>
                  <p:cNvCxnSpPr/>
                  <p:nvPr/>
                </p:nvCxnSpPr>
                <p:spPr>
                  <a:xfrm>
                    <a:off x="2631769" y="2475205"/>
                    <a:ext cx="0" cy="213598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直接连接符 193"/>
                  <p:cNvCxnSpPr/>
                  <p:nvPr/>
                </p:nvCxnSpPr>
                <p:spPr>
                  <a:xfrm>
                    <a:off x="2664968" y="2487253"/>
                    <a:ext cx="0" cy="4662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5" name="直接连接符 194"/>
                  <p:cNvCxnSpPr/>
                  <p:nvPr/>
                </p:nvCxnSpPr>
                <p:spPr>
                  <a:xfrm>
                    <a:off x="2664968" y="2558693"/>
                    <a:ext cx="0" cy="4662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直接连接符 195"/>
                  <p:cNvCxnSpPr/>
                  <p:nvPr/>
                </p:nvCxnSpPr>
                <p:spPr>
                  <a:xfrm>
                    <a:off x="2664968" y="2627750"/>
                    <a:ext cx="0" cy="4662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7" name="直接连接符 196"/>
                  <p:cNvCxnSpPr/>
                  <p:nvPr/>
                </p:nvCxnSpPr>
                <p:spPr>
                  <a:xfrm flipH="1">
                    <a:off x="2662587" y="2582004"/>
                    <a:ext cx="73957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8" name="直接连接符 197"/>
                  <p:cNvCxnSpPr/>
                  <p:nvPr/>
                </p:nvCxnSpPr>
                <p:spPr>
                  <a:xfrm flipH="1">
                    <a:off x="2669219" y="2653232"/>
                    <a:ext cx="62562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直接连接符 198"/>
                  <p:cNvCxnSpPr/>
                  <p:nvPr/>
                </p:nvCxnSpPr>
                <p:spPr>
                  <a:xfrm flipH="1">
                    <a:off x="2666391" y="2557306"/>
                    <a:ext cx="40523" cy="2474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直接连接符 199"/>
                  <p:cNvCxnSpPr/>
                  <p:nvPr/>
                </p:nvCxnSpPr>
                <p:spPr>
                  <a:xfrm flipH="1" flipV="1">
                    <a:off x="2666391" y="2578373"/>
                    <a:ext cx="40523" cy="2504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1" name="椭圆 200"/>
                  <p:cNvSpPr/>
                  <p:nvPr/>
                </p:nvSpPr>
                <p:spPr>
                  <a:xfrm>
                    <a:off x="2548425" y="2405292"/>
                    <a:ext cx="361950" cy="361950"/>
                  </a:xfrm>
                  <a:prstGeom prst="ellipse">
                    <a:avLst/>
                  </a:prstGeom>
                  <a:solidFill>
                    <a:schemeClr val="accent1">
                      <a:alpha val="10000"/>
                    </a:schemeClr>
                  </a:solidFill>
                  <a:ln w="63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2" name="组合 111"/>
                <p:cNvGrpSpPr/>
                <p:nvPr/>
              </p:nvGrpSpPr>
              <p:grpSpPr>
                <a:xfrm>
                  <a:off x="6182932" y="2032235"/>
                  <a:ext cx="406829" cy="481013"/>
                  <a:chOff x="2503546" y="2345531"/>
                  <a:chExt cx="406829" cy="481013"/>
                </a:xfrm>
              </p:grpSpPr>
              <p:grpSp>
                <p:nvGrpSpPr>
                  <p:cNvPr id="166" name="组合 165"/>
                  <p:cNvGrpSpPr/>
                  <p:nvPr/>
                </p:nvGrpSpPr>
                <p:grpSpPr>
                  <a:xfrm>
                    <a:off x="2780682" y="2465183"/>
                    <a:ext cx="75437" cy="229195"/>
                    <a:chOff x="3043238" y="995887"/>
                    <a:chExt cx="196850" cy="598074"/>
                  </a:xfrm>
                </p:grpSpPr>
                <p:sp>
                  <p:nvSpPr>
                    <p:cNvPr id="182" name="等腰三角形 181"/>
                    <p:cNvSpPr/>
                    <p:nvPr/>
                  </p:nvSpPr>
                  <p:spPr>
                    <a:xfrm>
                      <a:off x="3045101" y="1250496"/>
                      <a:ext cx="193399" cy="153581"/>
                    </a:xfrm>
                    <a:prstGeom prst="triangl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83" name="直接连接符 182"/>
                    <p:cNvCxnSpPr/>
                    <p:nvPr/>
                  </p:nvCxnSpPr>
                  <p:spPr>
                    <a:xfrm>
                      <a:off x="3043238" y="1245734"/>
                      <a:ext cx="196850" cy="0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" name="直接连接符 183"/>
                    <p:cNvCxnSpPr>
                      <a:endCxn id="182" idx="0"/>
                    </p:cNvCxnSpPr>
                    <p:nvPr/>
                  </p:nvCxnSpPr>
                  <p:spPr>
                    <a:xfrm>
                      <a:off x="3138624" y="995887"/>
                      <a:ext cx="3178" cy="254610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直接连接符 184"/>
                    <p:cNvCxnSpPr/>
                    <p:nvPr/>
                  </p:nvCxnSpPr>
                  <p:spPr>
                    <a:xfrm>
                      <a:off x="3138624" y="1404076"/>
                      <a:ext cx="0" cy="189885"/>
                    </a:xfrm>
                    <a:prstGeom prst="line">
                      <a:avLst/>
                    </a:prstGeom>
                    <a:ln w="12700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67" name="直接连接符 166"/>
                  <p:cNvCxnSpPr/>
                  <p:nvPr/>
                </p:nvCxnSpPr>
                <p:spPr>
                  <a:xfrm flipH="1">
                    <a:off x="2732294" y="2471245"/>
                    <a:ext cx="84942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直接连接符 167"/>
                  <p:cNvCxnSpPr/>
                  <p:nvPr/>
                </p:nvCxnSpPr>
                <p:spPr>
                  <a:xfrm flipH="1">
                    <a:off x="2738925" y="2694378"/>
                    <a:ext cx="84942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直接连接符 168"/>
                  <p:cNvCxnSpPr/>
                  <p:nvPr/>
                </p:nvCxnSpPr>
                <p:spPr>
                  <a:xfrm>
                    <a:off x="2732294" y="2582659"/>
                    <a:ext cx="4250" cy="24388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直接连接符 169"/>
                  <p:cNvCxnSpPr/>
                  <p:nvPr/>
                </p:nvCxnSpPr>
                <p:spPr>
                  <a:xfrm>
                    <a:off x="2731781" y="2345531"/>
                    <a:ext cx="0" cy="168438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直接连接符 170"/>
                  <p:cNvCxnSpPr/>
                  <p:nvPr/>
                </p:nvCxnSpPr>
                <p:spPr>
                  <a:xfrm flipH="1">
                    <a:off x="2664968" y="2513969"/>
                    <a:ext cx="73957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直接连接符 171"/>
                  <p:cNvCxnSpPr/>
                  <p:nvPr/>
                </p:nvCxnSpPr>
                <p:spPr>
                  <a:xfrm flipH="1">
                    <a:off x="2503546" y="2683772"/>
                    <a:ext cx="126356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直接连接符 172"/>
                  <p:cNvCxnSpPr/>
                  <p:nvPr/>
                </p:nvCxnSpPr>
                <p:spPr>
                  <a:xfrm>
                    <a:off x="2631769" y="2475205"/>
                    <a:ext cx="0" cy="213598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直接连接符 173"/>
                  <p:cNvCxnSpPr/>
                  <p:nvPr/>
                </p:nvCxnSpPr>
                <p:spPr>
                  <a:xfrm>
                    <a:off x="2664968" y="2487253"/>
                    <a:ext cx="0" cy="4662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直接连接符 174"/>
                  <p:cNvCxnSpPr/>
                  <p:nvPr/>
                </p:nvCxnSpPr>
                <p:spPr>
                  <a:xfrm>
                    <a:off x="2664968" y="2558693"/>
                    <a:ext cx="0" cy="4662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6" name="直接连接符 175"/>
                  <p:cNvCxnSpPr/>
                  <p:nvPr/>
                </p:nvCxnSpPr>
                <p:spPr>
                  <a:xfrm>
                    <a:off x="2664968" y="2627750"/>
                    <a:ext cx="0" cy="46622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7" name="直接连接符 176"/>
                  <p:cNvCxnSpPr/>
                  <p:nvPr/>
                </p:nvCxnSpPr>
                <p:spPr>
                  <a:xfrm flipH="1">
                    <a:off x="2662587" y="2582004"/>
                    <a:ext cx="73957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8" name="直接连接符 177"/>
                  <p:cNvCxnSpPr/>
                  <p:nvPr/>
                </p:nvCxnSpPr>
                <p:spPr>
                  <a:xfrm flipH="1">
                    <a:off x="2669219" y="2653232"/>
                    <a:ext cx="62562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" name="直接连接符 178"/>
                  <p:cNvCxnSpPr/>
                  <p:nvPr/>
                </p:nvCxnSpPr>
                <p:spPr>
                  <a:xfrm flipH="1">
                    <a:off x="2666391" y="2557306"/>
                    <a:ext cx="40523" cy="24745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" name="直接连接符 179"/>
                  <p:cNvCxnSpPr/>
                  <p:nvPr/>
                </p:nvCxnSpPr>
                <p:spPr>
                  <a:xfrm flipH="1" flipV="1">
                    <a:off x="2666391" y="2578373"/>
                    <a:ext cx="40523" cy="2504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1" name="椭圆 180"/>
                  <p:cNvSpPr/>
                  <p:nvPr/>
                </p:nvSpPr>
                <p:spPr>
                  <a:xfrm>
                    <a:off x="2548425" y="2405292"/>
                    <a:ext cx="361950" cy="361950"/>
                  </a:xfrm>
                  <a:prstGeom prst="ellipse">
                    <a:avLst/>
                  </a:prstGeom>
                  <a:solidFill>
                    <a:schemeClr val="accent1">
                      <a:alpha val="10000"/>
                    </a:schemeClr>
                  </a:solidFill>
                  <a:ln w="63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3" name="组合 112"/>
                <p:cNvGrpSpPr/>
                <p:nvPr/>
              </p:nvGrpSpPr>
              <p:grpSpPr>
                <a:xfrm>
                  <a:off x="6639327" y="1431273"/>
                  <a:ext cx="862013" cy="73756"/>
                  <a:chOff x="1493467" y="1883870"/>
                  <a:chExt cx="862013" cy="73756"/>
                </a:xfrm>
              </p:grpSpPr>
              <p:sp>
                <p:nvSpPr>
                  <p:cNvPr id="160" name="任意多边形 159"/>
                  <p:cNvSpPr/>
                  <p:nvPr/>
                </p:nvSpPr>
                <p:spPr>
                  <a:xfrm>
                    <a:off x="1761358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1" name="任意多边形 160"/>
                  <p:cNvSpPr/>
                  <p:nvPr/>
                </p:nvSpPr>
                <p:spPr>
                  <a:xfrm>
                    <a:off x="1925664" y="1883870"/>
                    <a:ext cx="164306" cy="73756"/>
                  </a:xfrm>
                  <a:custGeom>
                    <a:avLst/>
                    <a:gdLst>
                      <a:gd name="connsiteX0" fmla="*/ 82153 w 164306"/>
                      <a:gd name="connsiteY0" fmla="*/ 0 h 73756"/>
                      <a:gd name="connsiteX1" fmla="*/ 164306 w 164306"/>
                      <a:gd name="connsiteY1" fmla="*/ 71438 h 73756"/>
                      <a:gd name="connsiteX2" fmla="*/ 163202 w 164306"/>
                      <a:gd name="connsiteY2" fmla="*/ 73756 h 73756"/>
                      <a:gd name="connsiteX3" fmla="*/ 1104 w 164306"/>
                      <a:gd name="connsiteY3" fmla="*/ 73756 h 73756"/>
                      <a:gd name="connsiteX4" fmla="*/ 0 w 164306"/>
                      <a:gd name="connsiteY4" fmla="*/ 71438 h 73756"/>
                      <a:gd name="connsiteX5" fmla="*/ 82153 w 164306"/>
                      <a:gd name="connsiteY5" fmla="*/ 0 h 737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6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2" y="73756"/>
                        </a:lnTo>
                        <a:lnTo>
                          <a:pt x="1104" y="73756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2" name="任意多边形 161"/>
                  <p:cNvSpPr/>
                  <p:nvPr/>
                </p:nvSpPr>
                <p:spPr>
                  <a:xfrm>
                    <a:off x="2085208" y="1883870"/>
                    <a:ext cx="164306" cy="73755"/>
                  </a:xfrm>
                  <a:custGeom>
                    <a:avLst/>
                    <a:gdLst>
                      <a:gd name="connsiteX0" fmla="*/ 82153 w 164306"/>
                      <a:gd name="connsiteY0" fmla="*/ 0 h 73755"/>
                      <a:gd name="connsiteX1" fmla="*/ 164306 w 164306"/>
                      <a:gd name="connsiteY1" fmla="*/ 71438 h 73755"/>
                      <a:gd name="connsiteX2" fmla="*/ 163203 w 164306"/>
                      <a:gd name="connsiteY2" fmla="*/ 73755 h 73755"/>
                      <a:gd name="connsiteX3" fmla="*/ 1104 w 164306"/>
                      <a:gd name="connsiteY3" fmla="*/ 73755 h 73755"/>
                      <a:gd name="connsiteX4" fmla="*/ 0 w 164306"/>
                      <a:gd name="connsiteY4" fmla="*/ 71438 h 73755"/>
                      <a:gd name="connsiteX5" fmla="*/ 82153 w 164306"/>
                      <a:gd name="connsiteY5" fmla="*/ 0 h 737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5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5"/>
                        </a:lnTo>
                        <a:lnTo>
                          <a:pt x="1104" y="73755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3" name="任意多边形 162"/>
                  <p:cNvSpPr/>
                  <p:nvPr/>
                </p:nvSpPr>
                <p:spPr>
                  <a:xfrm>
                    <a:off x="1601814" y="1883870"/>
                    <a:ext cx="164306" cy="73754"/>
                  </a:xfrm>
                  <a:custGeom>
                    <a:avLst/>
                    <a:gdLst>
                      <a:gd name="connsiteX0" fmla="*/ 82153 w 164306"/>
                      <a:gd name="connsiteY0" fmla="*/ 0 h 73754"/>
                      <a:gd name="connsiteX1" fmla="*/ 164306 w 164306"/>
                      <a:gd name="connsiteY1" fmla="*/ 71438 h 73754"/>
                      <a:gd name="connsiteX2" fmla="*/ 163203 w 164306"/>
                      <a:gd name="connsiteY2" fmla="*/ 73754 h 73754"/>
                      <a:gd name="connsiteX3" fmla="*/ 1103 w 164306"/>
                      <a:gd name="connsiteY3" fmla="*/ 73754 h 73754"/>
                      <a:gd name="connsiteX4" fmla="*/ 0 w 164306"/>
                      <a:gd name="connsiteY4" fmla="*/ 71438 h 73754"/>
                      <a:gd name="connsiteX5" fmla="*/ 82153 w 164306"/>
                      <a:gd name="connsiteY5" fmla="*/ 0 h 737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64306" h="73754">
                        <a:moveTo>
                          <a:pt x="82153" y="0"/>
                        </a:moveTo>
                        <a:cubicBezTo>
                          <a:pt x="127525" y="0"/>
                          <a:pt x="164306" y="31984"/>
                          <a:pt x="164306" y="71438"/>
                        </a:cubicBezTo>
                        <a:lnTo>
                          <a:pt x="163203" y="73754"/>
                        </a:lnTo>
                        <a:lnTo>
                          <a:pt x="1103" y="73754"/>
                        </a:lnTo>
                        <a:lnTo>
                          <a:pt x="0" y="71438"/>
                        </a:lnTo>
                        <a:cubicBezTo>
                          <a:pt x="0" y="31984"/>
                          <a:pt x="36781" y="0"/>
                          <a:pt x="82153" y="0"/>
                        </a:cubicBezTo>
                        <a:close/>
                      </a:path>
                    </a:pathLst>
                  </a:custGeom>
                  <a:noFill/>
                  <a:ln>
                    <a:gradFill>
                      <a:gsLst>
                        <a:gs pos="0">
                          <a:schemeClr val="accent1"/>
                        </a:gs>
                        <a:gs pos="79000">
                          <a:schemeClr val="bg1">
                            <a:alpha val="0"/>
                          </a:schemeClr>
                        </a:gs>
                        <a:gs pos="70000">
                          <a:schemeClr val="accent1"/>
                        </a:gs>
                      </a:gsLst>
                      <a:lin ang="54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64" name="直接连接符 163"/>
                  <p:cNvCxnSpPr/>
                  <p:nvPr/>
                </p:nvCxnSpPr>
                <p:spPr>
                  <a:xfrm>
                    <a:off x="1493467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直接连接符 164"/>
                  <p:cNvCxnSpPr/>
                  <p:nvPr/>
                </p:nvCxnSpPr>
                <p:spPr>
                  <a:xfrm>
                    <a:off x="2244752" y="1936195"/>
                    <a:ext cx="110728" cy="0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4" name="组合 113"/>
                <p:cNvGrpSpPr/>
                <p:nvPr/>
              </p:nvGrpSpPr>
              <p:grpSpPr>
                <a:xfrm rot="5400000">
                  <a:off x="4825668" y="2074588"/>
                  <a:ext cx="411164" cy="291983"/>
                  <a:chOff x="5612081" y="2321455"/>
                  <a:chExt cx="411164" cy="291983"/>
                </a:xfrm>
              </p:grpSpPr>
              <p:cxnSp>
                <p:nvCxnSpPr>
                  <p:cNvPr id="155" name="直接连接符 154"/>
                  <p:cNvCxnSpPr/>
                  <p:nvPr/>
                </p:nvCxnSpPr>
                <p:spPr>
                  <a:xfrm>
                    <a:off x="5768451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直接连接符 155"/>
                  <p:cNvCxnSpPr/>
                  <p:nvPr/>
                </p:nvCxnSpPr>
                <p:spPr>
                  <a:xfrm>
                    <a:off x="5866876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直接连接符 156"/>
                  <p:cNvCxnSpPr/>
                  <p:nvPr/>
                </p:nvCxnSpPr>
                <p:spPr>
                  <a:xfrm flipH="1">
                    <a:off x="5866876" y="2462684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接连接符 157"/>
                  <p:cNvCxnSpPr/>
                  <p:nvPr/>
                </p:nvCxnSpPr>
                <p:spPr>
                  <a:xfrm flipH="1">
                    <a:off x="5612081" y="2461773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9" name="矩形 158"/>
                  <p:cNvSpPr/>
                  <p:nvPr/>
                </p:nvSpPr>
                <p:spPr>
                  <a:xfrm>
                    <a:off x="5768450" y="2321455"/>
                    <a:ext cx="98426" cy="291983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5" name="组合 114"/>
                <p:cNvGrpSpPr/>
                <p:nvPr/>
              </p:nvGrpSpPr>
              <p:grpSpPr>
                <a:xfrm rot="5400000">
                  <a:off x="7578240" y="2098020"/>
                  <a:ext cx="411164" cy="291983"/>
                  <a:chOff x="5612081" y="2321455"/>
                  <a:chExt cx="411164" cy="291983"/>
                </a:xfrm>
              </p:grpSpPr>
              <p:cxnSp>
                <p:nvCxnSpPr>
                  <p:cNvPr id="150" name="直接连接符 149"/>
                  <p:cNvCxnSpPr/>
                  <p:nvPr/>
                </p:nvCxnSpPr>
                <p:spPr>
                  <a:xfrm>
                    <a:off x="5768451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直接连接符 150"/>
                  <p:cNvCxnSpPr/>
                  <p:nvPr/>
                </p:nvCxnSpPr>
                <p:spPr>
                  <a:xfrm>
                    <a:off x="5866876" y="2321455"/>
                    <a:ext cx="0" cy="291983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直接连接符 151"/>
                  <p:cNvCxnSpPr/>
                  <p:nvPr/>
                </p:nvCxnSpPr>
                <p:spPr>
                  <a:xfrm flipH="1">
                    <a:off x="5866876" y="2462684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直接连接符 152"/>
                  <p:cNvCxnSpPr/>
                  <p:nvPr/>
                </p:nvCxnSpPr>
                <p:spPr>
                  <a:xfrm flipH="1">
                    <a:off x="5612081" y="2461773"/>
                    <a:ext cx="156369" cy="1"/>
                  </a:xfrm>
                  <a:prstGeom prst="line">
                    <a:avLst/>
                  </a:prstGeom>
                  <a:ln w="127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矩形 153"/>
                  <p:cNvSpPr/>
                  <p:nvPr/>
                </p:nvSpPr>
                <p:spPr>
                  <a:xfrm>
                    <a:off x="5768450" y="2321455"/>
                    <a:ext cx="98426" cy="291983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16" name="椭圆 115"/>
                <p:cNvSpPr/>
                <p:nvPr/>
              </p:nvSpPr>
              <p:spPr>
                <a:xfrm>
                  <a:off x="4573610" y="2850744"/>
                  <a:ext cx="64895" cy="64895"/>
                </a:xfrm>
                <a:prstGeom prst="ellipse">
                  <a:avLst/>
                </a:prstGeom>
                <a:noFill/>
                <a:ln>
                  <a:solidFill>
                    <a:srgbClr val="5B9BD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7" name="椭圆 116"/>
                <p:cNvSpPr/>
                <p:nvPr/>
              </p:nvSpPr>
              <p:spPr>
                <a:xfrm>
                  <a:off x="8138596" y="2850744"/>
                  <a:ext cx="64895" cy="64895"/>
                </a:xfrm>
                <a:prstGeom prst="ellipse">
                  <a:avLst/>
                </a:prstGeom>
                <a:noFill/>
                <a:ln>
                  <a:solidFill>
                    <a:srgbClr val="5B9BD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18" name="直接连接符 117"/>
                <p:cNvCxnSpPr>
                  <a:stCxn id="116" idx="6"/>
                  <a:endCxn id="117" idx="2"/>
                </p:cNvCxnSpPr>
                <p:nvPr/>
              </p:nvCxnSpPr>
              <p:spPr>
                <a:xfrm>
                  <a:off x="4638505" y="2883192"/>
                  <a:ext cx="3500091" cy="0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" name="椭圆 118"/>
                <p:cNvSpPr/>
                <p:nvPr/>
              </p:nvSpPr>
              <p:spPr>
                <a:xfrm>
                  <a:off x="8138596" y="1451150"/>
                  <a:ext cx="64895" cy="64895"/>
                </a:xfrm>
                <a:prstGeom prst="ellipse">
                  <a:avLst/>
                </a:prstGeom>
                <a:noFill/>
                <a:ln>
                  <a:solidFill>
                    <a:srgbClr val="5B9BD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20" name="直接连接符 119"/>
                <p:cNvCxnSpPr>
                  <a:endCxn id="119" idx="2"/>
                </p:cNvCxnSpPr>
                <p:nvPr/>
              </p:nvCxnSpPr>
              <p:spPr>
                <a:xfrm>
                  <a:off x="7501340" y="1483598"/>
                  <a:ext cx="637256" cy="0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椭圆 120"/>
                <p:cNvSpPr/>
                <p:nvPr/>
              </p:nvSpPr>
              <p:spPr>
                <a:xfrm>
                  <a:off x="4573610" y="1455912"/>
                  <a:ext cx="64895" cy="64895"/>
                </a:xfrm>
                <a:prstGeom prst="ellipse">
                  <a:avLst/>
                </a:prstGeom>
                <a:noFill/>
                <a:ln>
                  <a:solidFill>
                    <a:srgbClr val="5B9BD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22" name="直接连接符 121"/>
                <p:cNvCxnSpPr>
                  <a:stCxn id="121" idx="6"/>
                </p:cNvCxnSpPr>
                <p:nvPr/>
              </p:nvCxnSpPr>
              <p:spPr>
                <a:xfrm>
                  <a:off x="4638505" y="1488360"/>
                  <a:ext cx="945434" cy="0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直接连接符 122"/>
                <p:cNvCxnSpPr/>
                <p:nvPr/>
              </p:nvCxnSpPr>
              <p:spPr>
                <a:xfrm>
                  <a:off x="6062180" y="1483790"/>
                  <a:ext cx="577147" cy="0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直接连接符 123"/>
                <p:cNvCxnSpPr/>
                <p:nvPr/>
              </p:nvCxnSpPr>
              <p:spPr>
                <a:xfrm flipH="1">
                  <a:off x="5035472" y="1481622"/>
                  <a:ext cx="3005" cy="554038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/>
                <p:cNvCxnSpPr/>
                <p:nvPr/>
              </p:nvCxnSpPr>
              <p:spPr>
                <a:xfrm flipH="1">
                  <a:off x="5034255" y="2417707"/>
                  <a:ext cx="1" cy="465484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/>
                <p:cNvCxnSpPr/>
                <p:nvPr/>
              </p:nvCxnSpPr>
              <p:spPr>
                <a:xfrm flipH="1">
                  <a:off x="6414747" y="2501863"/>
                  <a:ext cx="1" cy="381328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/>
                <p:cNvCxnSpPr/>
                <p:nvPr/>
              </p:nvCxnSpPr>
              <p:spPr>
                <a:xfrm flipH="1">
                  <a:off x="6409539" y="1485500"/>
                  <a:ext cx="6960" cy="550115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/>
                <p:cNvCxnSpPr/>
                <p:nvPr/>
              </p:nvCxnSpPr>
              <p:spPr>
                <a:xfrm>
                  <a:off x="7790742" y="1479469"/>
                  <a:ext cx="0" cy="562861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/>
                <p:cNvCxnSpPr/>
                <p:nvPr/>
              </p:nvCxnSpPr>
              <p:spPr>
                <a:xfrm flipH="1">
                  <a:off x="7788989" y="2426162"/>
                  <a:ext cx="1" cy="465484"/>
                </a:xfrm>
                <a:prstGeom prst="line">
                  <a:avLst/>
                </a:prstGeom>
                <a:ln w="12700">
                  <a:solidFill>
                    <a:srgbClr val="5B9BD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0" name="组合 129"/>
                <p:cNvGrpSpPr/>
                <p:nvPr/>
              </p:nvGrpSpPr>
              <p:grpSpPr>
                <a:xfrm>
                  <a:off x="5629925" y="1993359"/>
                  <a:ext cx="419293" cy="170228"/>
                  <a:chOff x="5472347" y="2035980"/>
                  <a:chExt cx="548655" cy="222747"/>
                </a:xfrm>
              </p:grpSpPr>
              <p:cxnSp>
                <p:nvCxnSpPr>
                  <p:cNvPr id="141" name="直接连接符 140"/>
                  <p:cNvCxnSpPr/>
                  <p:nvPr/>
                </p:nvCxnSpPr>
                <p:spPr>
                  <a:xfrm>
                    <a:off x="5583939" y="2035980"/>
                    <a:ext cx="0" cy="22274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直接连接符 141"/>
                  <p:cNvCxnSpPr/>
                  <p:nvPr/>
                </p:nvCxnSpPr>
                <p:spPr>
                  <a:xfrm>
                    <a:off x="5693553" y="2035980"/>
                    <a:ext cx="0" cy="22274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直接连接符 142"/>
                  <p:cNvCxnSpPr/>
                  <p:nvPr/>
                </p:nvCxnSpPr>
                <p:spPr>
                  <a:xfrm>
                    <a:off x="5803167" y="2035980"/>
                    <a:ext cx="0" cy="22274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直接连接符 143"/>
                  <p:cNvCxnSpPr/>
                  <p:nvPr/>
                </p:nvCxnSpPr>
                <p:spPr>
                  <a:xfrm>
                    <a:off x="5912780" y="2035980"/>
                    <a:ext cx="0" cy="22274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直接连接符 144"/>
                  <p:cNvCxnSpPr/>
                  <p:nvPr/>
                </p:nvCxnSpPr>
                <p:spPr>
                  <a:xfrm>
                    <a:off x="5582950" y="2040742"/>
                    <a:ext cx="11060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接连接符 145"/>
                  <p:cNvCxnSpPr/>
                  <p:nvPr/>
                </p:nvCxnSpPr>
                <p:spPr>
                  <a:xfrm>
                    <a:off x="5804716" y="2039960"/>
                    <a:ext cx="11060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7" name="直接连接符 146"/>
                  <p:cNvCxnSpPr/>
                  <p:nvPr/>
                </p:nvCxnSpPr>
                <p:spPr>
                  <a:xfrm>
                    <a:off x="5910399" y="2251631"/>
                    <a:ext cx="11060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直接连接符 147"/>
                  <p:cNvCxnSpPr/>
                  <p:nvPr/>
                </p:nvCxnSpPr>
                <p:spPr>
                  <a:xfrm>
                    <a:off x="5472347" y="2251631"/>
                    <a:ext cx="11060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直接连接符 148"/>
                  <p:cNvCxnSpPr/>
                  <p:nvPr/>
                </p:nvCxnSpPr>
                <p:spPr>
                  <a:xfrm>
                    <a:off x="5695580" y="2251631"/>
                    <a:ext cx="11060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1" name="文本框 130"/>
                    <p:cNvSpPr txBox="1"/>
                    <p:nvPr/>
                  </p:nvSpPr>
                  <p:spPr>
                    <a:xfrm>
                      <a:off x="4451095" y="2070999"/>
                      <a:ext cx="309252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𝑖𝑛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1" name="文本框 1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51095" y="2070999"/>
                      <a:ext cx="309252" cy="246221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2" name="文本框 131"/>
                    <p:cNvSpPr txBox="1"/>
                    <p:nvPr/>
                  </p:nvSpPr>
                  <p:spPr>
                    <a:xfrm>
                      <a:off x="7965185" y="2081832"/>
                      <a:ext cx="411715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32" name="文本框 1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65185" y="2081832"/>
                      <a:ext cx="411715" cy="246221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33" name="组合 132"/>
                <p:cNvGrpSpPr/>
                <p:nvPr/>
              </p:nvGrpSpPr>
              <p:grpSpPr>
                <a:xfrm>
                  <a:off x="4547331" y="1624013"/>
                  <a:ext cx="96802" cy="96993"/>
                  <a:chOff x="4547331" y="1624013"/>
                  <a:chExt cx="96802" cy="96993"/>
                </a:xfrm>
              </p:grpSpPr>
              <p:cxnSp>
                <p:nvCxnSpPr>
                  <p:cNvPr id="139" name="直接连接符 138"/>
                  <p:cNvCxnSpPr/>
                  <p:nvPr/>
                </p:nvCxnSpPr>
                <p:spPr>
                  <a:xfrm>
                    <a:off x="4547331" y="1671365"/>
                    <a:ext cx="9680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连接符 139"/>
                  <p:cNvCxnSpPr/>
                  <p:nvPr/>
                </p:nvCxnSpPr>
                <p:spPr>
                  <a:xfrm>
                    <a:off x="4595732" y="1624013"/>
                    <a:ext cx="0" cy="9699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4" name="直接连接符 133"/>
                <p:cNvCxnSpPr/>
                <p:nvPr/>
              </p:nvCxnSpPr>
              <p:spPr>
                <a:xfrm>
                  <a:off x="4541703" y="2766740"/>
                  <a:ext cx="968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5" name="组合 134"/>
                <p:cNvGrpSpPr/>
                <p:nvPr/>
              </p:nvGrpSpPr>
              <p:grpSpPr>
                <a:xfrm>
                  <a:off x="8125176" y="1624013"/>
                  <a:ext cx="96802" cy="96993"/>
                  <a:chOff x="4547331" y="1624013"/>
                  <a:chExt cx="96802" cy="96993"/>
                </a:xfrm>
              </p:grpSpPr>
              <p:cxnSp>
                <p:nvCxnSpPr>
                  <p:cNvPr id="137" name="直接连接符 136"/>
                  <p:cNvCxnSpPr/>
                  <p:nvPr/>
                </p:nvCxnSpPr>
                <p:spPr>
                  <a:xfrm>
                    <a:off x="4547331" y="1671365"/>
                    <a:ext cx="96802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直接连接符 137"/>
                  <p:cNvCxnSpPr/>
                  <p:nvPr/>
                </p:nvCxnSpPr>
                <p:spPr>
                  <a:xfrm>
                    <a:off x="4595732" y="1624013"/>
                    <a:ext cx="0" cy="96993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6" name="直接连接符 135"/>
                <p:cNvCxnSpPr/>
                <p:nvPr/>
              </p:nvCxnSpPr>
              <p:spPr>
                <a:xfrm>
                  <a:off x="8119548" y="2766740"/>
                  <a:ext cx="9680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7" name="文本框 216"/>
              <p:cNvSpPr txBox="1"/>
              <p:nvPr/>
            </p:nvSpPr>
            <p:spPr>
              <a:xfrm>
                <a:off x="5014037" y="4724615"/>
                <a:ext cx="1839785" cy="5789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Buck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拓扑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6277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52"/>
    </mc:Choice>
    <mc:Fallback>
      <p:transition spd="slow" advTm="34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61081" y="437270"/>
            <a:ext cx="6669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功率电感为什么不考虑</a:t>
            </a:r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值？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746903" y="2889411"/>
            <a:ext cx="4952338" cy="394723"/>
            <a:chOff x="2864503" y="2889411"/>
            <a:chExt cx="4952338" cy="394723"/>
          </a:xfrm>
        </p:grpSpPr>
        <p:cxnSp>
          <p:nvCxnSpPr>
            <p:cNvPr id="223" name="直接连接符 222"/>
            <p:cNvCxnSpPr/>
            <p:nvPr/>
          </p:nvCxnSpPr>
          <p:spPr>
            <a:xfrm flipV="1">
              <a:off x="2864503" y="2893541"/>
              <a:ext cx="1593617" cy="3905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>
              <a:off x="4458120" y="2889411"/>
              <a:ext cx="1792819" cy="3947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flipV="1">
              <a:off x="6223224" y="2893541"/>
              <a:ext cx="1593617" cy="3905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6" name="直接连接符 225"/>
          <p:cNvCxnSpPr/>
          <p:nvPr/>
        </p:nvCxnSpPr>
        <p:spPr>
          <a:xfrm>
            <a:off x="1746903" y="2889411"/>
            <a:ext cx="5023019" cy="0"/>
          </a:xfrm>
          <a:prstGeom prst="line">
            <a:avLst/>
          </a:prstGeom>
          <a:ln w="0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>
            <a:off x="1746903" y="3086771"/>
            <a:ext cx="5023019" cy="0"/>
          </a:xfrm>
          <a:prstGeom prst="line">
            <a:avLst/>
          </a:prstGeom>
          <a:ln w="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箭头连接符 230"/>
          <p:cNvCxnSpPr/>
          <p:nvPr/>
        </p:nvCxnSpPr>
        <p:spPr>
          <a:xfrm>
            <a:off x="6762116" y="2889411"/>
            <a:ext cx="0" cy="394723"/>
          </a:xfrm>
          <a:prstGeom prst="straightConnector1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文本框 232"/>
          <p:cNvSpPr txBox="1"/>
          <p:nvPr/>
        </p:nvSpPr>
        <p:spPr>
          <a:xfrm>
            <a:off x="825073" y="2284217"/>
            <a:ext cx="827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/A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746903" y="2284217"/>
            <a:ext cx="5856753" cy="2748113"/>
            <a:chOff x="2864503" y="2284217"/>
            <a:chExt cx="5856753" cy="2748113"/>
          </a:xfrm>
        </p:grpSpPr>
        <p:cxnSp>
          <p:nvCxnSpPr>
            <p:cNvPr id="218" name="直接箭头连接符 217"/>
            <p:cNvCxnSpPr/>
            <p:nvPr/>
          </p:nvCxnSpPr>
          <p:spPr>
            <a:xfrm>
              <a:off x="2872316" y="4588713"/>
              <a:ext cx="58123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箭头连接符 218"/>
            <p:cNvCxnSpPr/>
            <p:nvPr/>
          </p:nvCxnSpPr>
          <p:spPr>
            <a:xfrm flipV="1">
              <a:off x="2864503" y="2284217"/>
              <a:ext cx="0" cy="23044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文本框 233"/>
            <p:cNvSpPr txBox="1"/>
            <p:nvPr/>
          </p:nvSpPr>
          <p:spPr>
            <a:xfrm>
              <a:off x="7816841" y="4598671"/>
              <a:ext cx="9044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/us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4172524" y="4632220"/>
              <a:ext cx="2589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DC-DC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电感电流波形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76266" y="3086771"/>
            <a:ext cx="1884555" cy="1501942"/>
            <a:chOff x="3693866" y="3086771"/>
            <a:chExt cx="1884555" cy="1501942"/>
          </a:xfrm>
        </p:grpSpPr>
        <p:cxnSp>
          <p:nvCxnSpPr>
            <p:cNvPr id="229" name="直接箭头连接符 228"/>
            <p:cNvCxnSpPr/>
            <p:nvPr/>
          </p:nvCxnSpPr>
          <p:spPr>
            <a:xfrm>
              <a:off x="4372191" y="4034071"/>
              <a:ext cx="0" cy="554642"/>
            </a:xfrm>
            <a:prstGeom prst="straightConnector1">
              <a:avLst/>
            </a:prstGeom>
            <a:ln w="6350">
              <a:solidFill>
                <a:schemeClr val="tx1"/>
              </a:solidFill>
              <a:prstDash val="solid"/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箭头连接符 229"/>
            <p:cNvCxnSpPr/>
            <p:nvPr/>
          </p:nvCxnSpPr>
          <p:spPr>
            <a:xfrm flipV="1">
              <a:off x="4372191" y="3086771"/>
              <a:ext cx="0" cy="59370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/>
                <p:cNvSpPr txBox="1"/>
                <p:nvPr/>
              </p:nvSpPr>
              <p:spPr>
                <a:xfrm>
                  <a:off x="3693866" y="3687994"/>
                  <a:ext cx="1884555" cy="358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电感平均电流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av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𝑔</m:t>
                          </m:r>
                        </m:sub>
                      </m:sSub>
                    </m:oMath>
                  </a14:m>
                  <a:endPara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6" name="文本框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3866" y="3687994"/>
                  <a:ext cx="1884555" cy="35856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1942" t="-5085" b="-152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/>
          <p:cNvGrpSpPr/>
          <p:nvPr/>
        </p:nvGrpSpPr>
        <p:grpSpPr>
          <a:xfrm>
            <a:off x="3255011" y="1458339"/>
            <a:ext cx="2379736" cy="400110"/>
            <a:chOff x="4372611" y="1458339"/>
            <a:chExt cx="2379736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矩形 239"/>
                <p:cNvSpPr/>
                <p:nvPr/>
              </p:nvSpPr>
              <p:spPr>
                <a:xfrm>
                  <a:off x="4372611" y="1458339"/>
                  <a:ext cx="102444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𝑈𝐼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40" name="矩形 2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2611" y="1458339"/>
                  <a:ext cx="1024448" cy="40011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右箭头 240"/>
            <p:cNvSpPr/>
            <p:nvPr/>
          </p:nvSpPr>
          <p:spPr>
            <a:xfrm>
              <a:off x="5520954" y="1583031"/>
              <a:ext cx="257524" cy="150726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矩形 241"/>
                <p:cNvSpPr/>
                <p:nvPr/>
              </p:nvSpPr>
              <p:spPr>
                <a:xfrm>
                  <a:off x="5904230" y="1458339"/>
                  <a:ext cx="84811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∝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42" name="矩形 2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230" y="1458339"/>
                  <a:ext cx="848117" cy="40011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3" name="文本框 242"/>
          <p:cNvSpPr txBox="1"/>
          <p:nvPr/>
        </p:nvSpPr>
        <p:spPr>
          <a:xfrm>
            <a:off x="816010" y="2602762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4" name="直接连接符 243"/>
          <p:cNvCxnSpPr/>
          <p:nvPr/>
        </p:nvCxnSpPr>
        <p:spPr>
          <a:xfrm>
            <a:off x="1733873" y="3293658"/>
            <a:ext cx="5023019" cy="0"/>
          </a:xfrm>
          <a:prstGeom prst="line">
            <a:avLst/>
          </a:prstGeom>
          <a:ln w="63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769922" y="380343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直流电流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本框 245"/>
              <p:cNvSpPr txBox="1"/>
              <p:nvPr/>
            </p:nvSpPr>
            <p:spPr>
              <a:xfrm>
                <a:off x="6756891" y="2939088"/>
                <a:ext cx="14362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交流电流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zh-CN" altLang="en-US" sz="1600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46" name="文本框 2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891" y="2939088"/>
                <a:ext cx="1436291" cy="338554"/>
              </a:xfrm>
              <a:prstGeom prst="rect">
                <a:avLst/>
              </a:prstGeom>
              <a:blipFill rotWithShape="0">
                <a:blip r:embed="rId6"/>
                <a:stretch>
                  <a:fillRect l="-2119" t="-535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7" name="直接箭头连接符 246"/>
          <p:cNvCxnSpPr/>
          <p:nvPr/>
        </p:nvCxnSpPr>
        <p:spPr>
          <a:xfrm>
            <a:off x="6756891" y="3277642"/>
            <a:ext cx="0" cy="1311071"/>
          </a:xfrm>
          <a:prstGeom prst="straightConnector1">
            <a:avLst/>
          </a:prstGeom>
          <a:ln>
            <a:solidFill>
              <a:srgbClr val="7030A0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8410729" y="1945797"/>
                <a:ext cx="1678408" cy="303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ac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=30%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∗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avg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0729" y="1945797"/>
                <a:ext cx="1678408" cy="303160"/>
              </a:xfrm>
              <a:prstGeom prst="rect">
                <a:avLst/>
              </a:prstGeom>
              <a:blipFill>
                <a:blip r:embed="rId7"/>
                <a:stretch>
                  <a:fillRect l="-2545" r="-727" b="-2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1746902" y="3293658"/>
            <a:ext cx="4952339" cy="1295055"/>
          </a:xfrm>
          <a:prstGeom prst="rect">
            <a:avLst/>
          </a:prstGeom>
          <a:solidFill>
            <a:srgbClr val="7030A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34" name="组合 33"/>
          <p:cNvGrpSpPr/>
          <p:nvPr/>
        </p:nvGrpSpPr>
        <p:grpSpPr>
          <a:xfrm>
            <a:off x="1752161" y="2903249"/>
            <a:ext cx="4949775" cy="388503"/>
            <a:chOff x="2869761" y="2903249"/>
            <a:chExt cx="4949775" cy="388503"/>
          </a:xfrm>
        </p:grpSpPr>
        <p:sp>
          <p:nvSpPr>
            <p:cNvPr id="15" name="直角三角形 14"/>
            <p:cNvSpPr/>
            <p:nvPr/>
          </p:nvSpPr>
          <p:spPr>
            <a:xfrm>
              <a:off x="2869761" y="2903249"/>
              <a:ext cx="3341645" cy="386301"/>
            </a:xfrm>
            <a:custGeom>
              <a:avLst/>
              <a:gdLst>
                <a:gd name="connsiteX0" fmla="*/ 0 w 2589170"/>
                <a:gd name="connsiteY0" fmla="*/ 481551 h 481551"/>
                <a:gd name="connsiteX1" fmla="*/ 0 w 2589170"/>
                <a:gd name="connsiteY1" fmla="*/ 0 h 481551"/>
                <a:gd name="connsiteX2" fmla="*/ 2589170 w 2589170"/>
                <a:gd name="connsiteY2" fmla="*/ 481551 h 481551"/>
                <a:gd name="connsiteX3" fmla="*/ 0 w 2589170"/>
                <a:gd name="connsiteY3" fmla="*/ 481551 h 481551"/>
                <a:gd name="connsiteX0" fmla="*/ 0 w 3632157"/>
                <a:gd name="connsiteY0" fmla="*/ 486313 h 486313"/>
                <a:gd name="connsiteX1" fmla="*/ 1042987 w 3632157"/>
                <a:gd name="connsiteY1" fmla="*/ 0 h 486313"/>
                <a:gd name="connsiteX2" fmla="*/ 3632157 w 3632157"/>
                <a:gd name="connsiteY2" fmla="*/ 481551 h 486313"/>
                <a:gd name="connsiteX3" fmla="*/ 0 w 3632157"/>
                <a:gd name="connsiteY3" fmla="*/ 486313 h 486313"/>
                <a:gd name="connsiteX0" fmla="*/ 0 w 3632157"/>
                <a:gd name="connsiteY0" fmla="*/ 314863 h 314863"/>
                <a:gd name="connsiteX1" fmla="*/ 1585912 w 3632157"/>
                <a:gd name="connsiteY1" fmla="*/ 0 h 314863"/>
                <a:gd name="connsiteX2" fmla="*/ 3632157 w 3632157"/>
                <a:gd name="connsiteY2" fmla="*/ 310101 h 314863"/>
                <a:gd name="connsiteX3" fmla="*/ 0 w 3632157"/>
                <a:gd name="connsiteY3" fmla="*/ 314863 h 314863"/>
                <a:gd name="connsiteX0" fmla="*/ 0 w 3632157"/>
                <a:gd name="connsiteY0" fmla="*/ 381538 h 381538"/>
                <a:gd name="connsiteX1" fmla="*/ 1600199 w 3632157"/>
                <a:gd name="connsiteY1" fmla="*/ 0 h 381538"/>
                <a:gd name="connsiteX2" fmla="*/ 3632157 w 3632157"/>
                <a:gd name="connsiteY2" fmla="*/ 376776 h 381538"/>
                <a:gd name="connsiteX3" fmla="*/ 0 w 3632157"/>
                <a:gd name="connsiteY3" fmla="*/ 381538 h 381538"/>
                <a:gd name="connsiteX0" fmla="*/ 0 w 3384507"/>
                <a:gd name="connsiteY0" fmla="*/ 381538 h 381538"/>
                <a:gd name="connsiteX1" fmla="*/ 1600199 w 3384507"/>
                <a:gd name="connsiteY1" fmla="*/ 0 h 381538"/>
                <a:gd name="connsiteX2" fmla="*/ 3384507 w 3384507"/>
                <a:gd name="connsiteY2" fmla="*/ 376776 h 381538"/>
                <a:gd name="connsiteX3" fmla="*/ 0 w 3384507"/>
                <a:gd name="connsiteY3" fmla="*/ 381538 h 381538"/>
                <a:gd name="connsiteX0" fmla="*/ 0 w 3341645"/>
                <a:gd name="connsiteY0" fmla="*/ 381538 h 386301"/>
                <a:gd name="connsiteX1" fmla="*/ 1600199 w 3341645"/>
                <a:gd name="connsiteY1" fmla="*/ 0 h 386301"/>
                <a:gd name="connsiteX2" fmla="*/ 3341645 w 3341645"/>
                <a:gd name="connsiteY2" fmla="*/ 386301 h 386301"/>
                <a:gd name="connsiteX3" fmla="*/ 0 w 3341645"/>
                <a:gd name="connsiteY3" fmla="*/ 381538 h 386301"/>
                <a:gd name="connsiteX0" fmla="*/ 0 w 3341645"/>
                <a:gd name="connsiteY0" fmla="*/ 381538 h 386301"/>
                <a:gd name="connsiteX1" fmla="*/ 1600199 w 3341645"/>
                <a:gd name="connsiteY1" fmla="*/ 0 h 386301"/>
                <a:gd name="connsiteX2" fmla="*/ 3341645 w 3341645"/>
                <a:gd name="connsiteY2" fmla="*/ 386301 h 386301"/>
                <a:gd name="connsiteX3" fmla="*/ 0 w 3341645"/>
                <a:gd name="connsiteY3" fmla="*/ 381538 h 38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1645" h="386301">
                  <a:moveTo>
                    <a:pt x="0" y="381538"/>
                  </a:moveTo>
                  <a:lnTo>
                    <a:pt x="1600199" y="0"/>
                  </a:lnTo>
                  <a:lnTo>
                    <a:pt x="3341645" y="386301"/>
                  </a:lnTo>
                  <a:lnTo>
                    <a:pt x="0" y="381538"/>
                  </a:lnTo>
                  <a:close/>
                </a:path>
              </a:pathLst>
            </a:custGeom>
            <a:solidFill>
              <a:srgbClr val="00B0F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51" name="直角三角形 14"/>
            <p:cNvSpPr/>
            <p:nvPr/>
          </p:nvSpPr>
          <p:spPr>
            <a:xfrm>
              <a:off x="6274281" y="2908811"/>
              <a:ext cx="1545255" cy="382941"/>
            </a:xfrm>
            <a:custGeom>
              <a:avLst/>
              <a:gdLst>
                <a:gd name="connsiteX0" fmla="*/ 0 w 2589170"/>
                <a:gd name="connsiteY0" fmla="*/ 481551 h 481551"/>
                <a:gd name="connsiteX1" fmla="*/ 0 w 2589170"/>
                <a:gd name="connsiteY1" fmla="*/ 0 h 481551"/>
                <a:gd name="connsiteX2" fmla="*/ 2589170 w 2589170"/>
                <a:gd name="connsiteY2" fmla="*/ 481551 h 481551"/>
                <a:gd name="connsiteX3" fmla="*/ 0 w 2589170"/>
                <a:gd name="connsiteY3" fmla="*/ 481551 h 481551"/>
                <a:gd name="connsiteX0" fmla="*/ 0 w 3632157"/>
                <a:gd name="connsiteY0" fmla="*/ 486313 h 486313"/>
                <a:gd name="connsiteX1" fmla="*/ 1042987 w 3632157"/>
                <a:gd name="connsiteY1" fmla="*/ 0 h 486313"/>
                <a:gd name="connsiteX2" fmla="*/ 3632157 w 3632157"/>
                <a:gd name="connsiteY2" fmla="*/ 481551 h 486313"/>
                <a:gd name="connsiteX3" fmla="*/ 0 w 3632157"/>
                <a:gd name="connsiteY3" fmla="*/ 486313 h 486313"/>
                <a:gd name="connsiteX0" fmla="*/ 0 w 3632157"/>
                <a:gd name="connsiteY0" fmla="*/ 314863 h 314863"/>
                <a:gd name="connsiteX1" fmla="*/ 1585912 w 3632157"/>
                <a:gd name="connsiteY1" fmla="*/ 0 h 314863"/>
                <a:gd name="connsiteX2" fmla="*/ 3632157 w 3632157"/>
                <a:gd name="connsiteY2" fmla="*/ 310101 h 314863"/>
                <a:gd name="connsiteX3" fmla="*/ 0 w 3632157"/>
                <a:gd name="connsiteY3" fmla="*/ 314863 h 314863"/>
                <a:gd name="connsiteX0" fmla="*/ 0 w 3632157"/>
                <a:gd name="connsiteY0" fmla="*/ 381538 h 381538"/>
                <a:gd name="connsiteX1" fmla="*/ 1600199 w 3632157"/>
                <a:gd name="connsiteY1" fmla="*/ 0 h 381538"/>
                <a:gd name="connsiteX2" fmla="*/ 3632157 w 3632157"/>
                <a:gd name="connsiteY2" fmla="*/ 376776 h 381538"/>
                <a:gd name="connsiteX3" fmla="*/ 0 w 3632157"/>
                <a:gd name="connsiteY3" fmla="*/ 381538 h 381538"/>
                <a:gd name="connsiteX0" fmla="*/ 0 w 3384507"/>
                <a:gd name="connsiteY0" fmla="*/ 381538 h 381538"/>
                <a:gd name="connsiteX1" fmla="*/ 1600199 w 3384507"/>
                <a:gd name="connsiteY1" fmla="*/ 0 h 381538"/>
                <a:gd name="connsiteX2" fmla="*/ 3384507 w 3384507"/>
                <a:gd name="connsiteY2" fmla="*/ 376776 h 381538"/>
                <a:gd name="connsiteX3" fmla="*/ 0 w 3384507"/>
                <a:gd name="connsiteY3" fmla="*/ 381538 h 381538"/>
                <a:gd name="connsiteX0" fmla="*/ 0 w 3341645"/>
                <a:gd name="connsiteY0" fmla="*/ 381538 h 386301"/>
                <a:gd name="connsiteX1" fmla="*/ 1600199 w 3341645"/>
                <a:gd name="connsiteY1" fmla="*/ 0 h 386301"/>
                <a:gd name="connsiteX2" fmla="*/ 3341645 w 3341645"/>
                <a:gd name="connsiteY2" fmla="*/ 386301 h 386301"/>
                <a:gd name="connsiteX3" fmla="*/ 0 w 3341645"/>
                <a:gd name="connsiteY3" fmla="*/ 381538 h 386301"/>
                <a:gd name="connsiteX0" fmla="*/ 0 w 3341645"/>
                <a:gd name="connsiteY0" fmla="*/ 381538 h 386301"/>
                <a:gd name="connsiteX1" fmla="*/ 1600199 w 3341645"/>
                <a:gd name="connsiteY1" fmla="*/ 0 h 386301"/>
                <a:gd name="connsiteX2" fmla="*/ 3341645 w 3341645"/>
                <a:gd name="connsiteY2" fmla="*/ 386301 h 386301"/>
                <a:gd name="connsiteX3" fmla="*/ 0 w 3341645"/>
                <a:gd name="connsiteY3" fmla="*/ 381538 h 386301"/>
                <a:gd name="connsiteX0" fmla="*/ 0 w 1604285"/>
                <a:gd name="connsiteY0" fmla="*/ 381538 h 381538"/>
                <a:gd name="connsiteX1" fmla="*/ 1600199 w 1604285"/>
                <a:gd name="connsiteY1" fmla="*/ 0 h 381538"/>
                <a:gd name="connsiteX2" fmla="*/ 1604285 w 1604285"/>
                <a:gd name="connsiteY2" fmla="*/ 378681 h 381538"/>
                <a:gd name="connsiteX3" fmla="*/ 0 w 1604285"/>
                <a:gd name="connsiteY3" fmla="*/ 381538 h 381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04285" h="381538">
                  <a:moveTo>
                    <a:pt x="0" y="381538"/>
                  </a:moveTo>
                  <a:lnTo>
                    <a:pt x="1600199" y="0"/>
                  </a:lnTo>
                  <a:lnTo>
                    <a:pt x="1604285" y="378681"/>
                  </a:lnTo>
                  <a:lnTo>
                    <a:pt x="0" y="381538"/>
                  </a:lnTo>
                  <a:close/>
                </a:path>
              </a:pathLst>
            </a:custGeom>
            <a:solidFill>
              <a:srgbClr val="00B0F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210688" y="3972714"/>
            <a:ext cx="1591220" cy="1382332"/>
            <a:chOff x="6328288" y="3972714"/>
            <a:chExt cx="1591220" cy="1382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7236692" y="4931311"/>
                  <a:ext cx="682816" cy="360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直流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692" y="4931311"/>
                  <a:ext cx="682816" cy="36048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7143" r="-10714" b="-322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连接符 20"/>
            <p:cNvCxnSpPr/>
            <p:nvPr/>
          </p:nvCxnSpPr>
          <p:spPr>
            <a:xfrm>
              <a:off x="6328288" y="3972714"/>
              <a:ext cx="824987" cy="1382332"/>
            </a:xfrm>
            <a:prstGeom prst="line">
              <a:avLst/>
            </a:prstGeom>
            <a:ln w="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153275" y="5355046"/>
              <a:ext cx="721216" cy="0"/>
            </a:xfrm>
            <a:prstGeom prst="line">
              <a:avLst/>
            </a:prstGeom>
            <a:ln w="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/>
          <p:cNvGrpSpPr/>
          <p:nvPr/>
        </p:nvGrpSpPr>
        <p:grpSpPr>
          <a:xfrm>
            <a:off x="3767235" y="1946832"/>
            <a:ext cx="3191894" cy="1330811"/>
            <a:chOff x="4884835" y="1946832"/>
            <a:chExt cx="3191894" cy="1330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/>
                <p:cNvSpPr txBox="1"/>
                <p:nvPr/>
              </p:nvSpPr>
              <p:spPr>
                <a:xfrm>
                  <a:off x="7393913" y="1946832"/>
                  <a:ext cx="682816" cy="3604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交流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53" name="文本框 2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913" y="1946832"/>
                  <a:ext cx="682816" cy="360483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7143" r="-10714" b="-322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连接符 24"/>
            <p:cNvCxnSpPr/>
            <p:nvPr/>
          </p:nvCxnSpPr>
          <p:spPr>
            <a:xfrm flipV="1">
              <a:off x="4884835" y="2385327"/>
              <a:ext cx="2497086" cy="892316"/>
            </a:xfrm>
            <a:prstGeom prst="line">
              <a:avLst/>
            </a:prstGeom>
            <a:ln w="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V="1">
              <a:off x="7044528" y="2368389"/>
              <a:ext cx="349385" cy="815351"/>
            </a:xfrm>
            <a:prstGeom prst="line">
              <a:avLst/>
            </a:prstGeom>
            <a:ln w="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7381921" y="2385327"/>
              <a:ext cx="611459" cy="0"/>
            </a:xfrm>
            <a:prstGeom prst="line">
              <a:avLst/>
            </a:prstGeom>
            <a:ln w="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4" name="右箭头 253"/>
          <p:cNvSpPr/>
          <p:nvPr/>
        </p:nvSpPr>
        <p:spPr>
          <a:xfrm rot="5400000">
            <a:off x="9121171" y="2475628"/>
            <a:ext cx="257524" cy="15072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文本框 254"/>
              <p:cNvSpPr txBox="1"/>
              <p:nvPr/>
            </p:nvSpPr>
            <p:spPr>
              <a:xfrm>
                <a:off x="8375559" y="2904372"/>
                <a:ext cx="1748748" cy="360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交流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总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</a:t>
                </a:r>
                <a:r>
                  <a:rPr lang="en-US" altLang="zh-CN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15%</a:t>
                </a:r>
                <a:endParaRPr lang="zh-CN" altLang="en-US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5" name="文本框 2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559" y="2904372"/>
                <a:ext cx="1748748" cy="360483"/>
              </a:xfrm>
              <a:prstGeom prst="rect">
                <a:avLst/>
              </a:prstGeom>
              <a:blipFill>
                <a:blip r:embed="rId10"/>
                <a:stretch>
                  <a:fillRect l="-4878" t="-21667" r="-7317" b="-3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文本框 255"/>
              <p:cNvSpPr txBox="1"/>
              <p:nvPr/>
            </p:nvSpPr>
            <p:spPr>
              <a:xfrm>
                <a:off x="8375559" y="3414515"/>
                <a:ext cx="1748748" cy="360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直流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𝑃</m:t>
                        </m:r>
                      </m:e>
                      <m:sub>
                        <m:r>
                          <a:rPr lang="zh-CN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总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</a:t>
                </a:r>
                <a:r>
                  <a:rPr lang="en-US" altLang="zh-CN" dirty="0">
                    <a:solidFill>
                      <a:srgbClr val="00B0F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85%</a:t>
                </a:r>
                <a:endParaRPr lang="zh-CN" altLang="en-US" dirty="0">
                  <a:solidFill>
                    <a:srgbClr val="00B0F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56" name="文本框 2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559" y="3414515"/>
                <a:ext cx="1748748" cy="360483"/>
              </a:xfrm>
              <a:prstGeom prst="rect">
                <a:avLst/>
              </a:prstGeom>
              <a:blipFill>
                <a:blip r:embed="rId11"/>
                <a:stretch>
                  <a:fillRect l="-4878" t="-22034" r="-7317" b="-322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1" name="文本框 260"/>
          <p:cNvSpPr txBox="1"/>
          <p:nvPr/>
        </p:nvSpPr>
        <p:spPr>
          <a:xfrm>
            <a:off x="8263156" y="4141991"/>
            <a:ext cx="3651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Q=10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，则交流损耗约为</a:t>
            </a:r>
            <a:r>
              <a:rPr lang="en-US" altLang="zh-CN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1.5%</a:t>
            </a:r>
            <a:endParaRPr lang="zh-CN" altLang="en-US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052069" y="5606585"/>
            <a:ext cx="80878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DCDC</a:t>
            </a:r>
            <a:r>
              <a:rPr lang="zh-CN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电路中，一般不用去考虑电感的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值，因为它的影响比较小</a:t>
            </a:r>
            <a:endParaRPr lang="zh-CN" altLang="en-US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08435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921"/>
    </mc:Choice>
    <mc:Fallback>
      <p:transition spd="slow" advTm="25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0"/>
                            </p:stCondLst>
                            <p:childTnLst>
                              <p:par>
                                <p:cTn id="3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8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9000"/>
                            </p:stCondLst>
                            <p:childTnLst>
                              <p:par>
                                <p:cTn id="4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1500"/>
                            </p:stCondLst>
                            <p:childTnLst>
                              <p:par>
                                <p:cTn id="5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4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4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6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8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9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5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/>
      <p:bldP spid="243" grpId="0"/>
      <p:bldP spid="8" grpId="0"/>
      <p:bldP spid="246" grpId="0"/>
      <p:bldP spid="13" grpId="0"/>
      <p:bldP spid="14" grpId="0" animBg="1"/>
      <p:bldP spid="254" grpId="0" animBg="1"/>
      <p:bldP spid="255" grpId="0"/>
      <p:bldP spid="256" grpId="0"/>
      <p:bldP spid="261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A04A1E75-F1A5-43B5-9C87-FF3A2577D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054" y="1710322"/>
            <a:ext cx="6683892" cy="436703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61081" y="437270"/>
            <a:ext cx="6669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功率电感</a:t>
            </a:r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值曲线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172E46-E24D-4A4E-8F49-C3775FF367BC}"/>
              </a:ext>
            </a:extLst>
          </p:cNvPr>
          <p:cNvSpPr txBox="1"/>
          <p:nvPr/>
        </p:nvSpPr>
        <p:spPr>
          <a:xfrm>
            <a:off x="4182381" y="1340990"/>
            <a:ext cx="3827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村田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1264EY-4R7M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电感（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4.7uH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65F58E5-967A-40CE-9DB7-7159F6BA456E}"/>
              </a:ext>
            </a:extLst>
          </p:cNvPr>
          <p:cNvSpPr txBox="1"/>
          <p:nvPr/>
        </p:nvSpPr>
        <p:spPr>
          <a:xfrm>
            <a:off x="8009620" y="20908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9E4F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阻抗曲线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17202A8-3E43-4035-8174-6C37C996D6B8}"/>
              </a:ext>
            </a:extLst>
          </p:cNvPr>
          <p:cNvSpPr txBox="1"/>
          <p:nvPr/>
        </p:nvSpPr>
        <p:spPr>
          <a:xfrm>
            <a:off x="8052901" y="4084088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9E4F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dirty="0">
                <a:solidFill>
                  <a:srgbClr val="9E4F0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值曲线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CDD602A-33C9-441E-BB9B-5089599D0A25}"/>
              </a:ext>
            </a:extLst>
          </p:cNvPr>
          <p:cNvGrpSpPr/>
          <p:nvPr/>
        </p:nvGrpSpPr>
        <p:grpSpPr>
          <a:xfrm>
            <a:off x="6195994" y="2121715"/>
            <a:ext cx="1723521" cy="3870222"/>
            <a:chOff x="6195994" y="2121715"/>
            <a:chExt cx="1723521" cy="3870222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BBE79FA-5545-4783-96D0-88AFD01DBB48}"/>
                </a:ext>
              </a:extLst>
            </p:cNvPr>
            <p:cNvCxnSpPr>
              <a:cxnSpLocks/>
            </p:cNvCxnSpPr>
            <p:nvPr/>
          </p:nvCxnSpPr>
          <p:spPr>
            <a:xfrm>
              <a:off x="6195994" y="2121715"/>
              <a:ext cx="0" cy="3283150"/>
            </a:xfrm>
            <a:prstGeom prst="line">
              <a:avLst/>
            </a:prstGeom>
            <a:ln w="22225">
              <a:solidFill>
                <a:srgbClr val="9E4F0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58ABEFA-6798-40EA-AA9B-2809380B1811}"/>
                </a:ext>
              </a:extLst>
            </p:cNvPr>
            <p:cNvSpPr txBox="1"/>
            <p:nvPr/>
          </p:nvSpPr>
          <p:spPr>
            <a:xfrm>
              <a:off x="7016704" y="5684160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9E4F0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谐振频率</a:t>
              </a: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3C11979-342B-4FF6-B8AB-71D23A3D4C40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6195994" y="5404865"/>
              <a:ext cx="820710" cy="433184"/>
            </a:xfrm>
            <a:prstGeom prst="line">
              <a:avLst/>
            </a:prstGeom>
            <a:ln w="12700" cmpd="sng">
              <a:solidFill>
                <a:srgbClr val="9E4F0D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3956157F-3BD5-4F50-9FBA-8E13C1BBAB61}"/>
              </a:ext>
            </a:extLst>
          </p:cNvPr>
          <p:cNvSpPr/>
          <p:nvPr/>
        </p:nvSpPr>
        <p:spPr>
          <a:xfrm>
            <a:off x="3262492" y="4178444"/>
            <a:ext cx="2110410" cy="766090"/>
          </a:xfrm>
          <a:prstGeom prst="rect">
            <a:avLst/>
          </a:prstGeom>
          <a:solidFill>
            <a:srgbClr val="9E4F0D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691678F4-3410-46D2-A40D-EE34092C4DAE}"/>
                  </a:ext>
                </a:extLst>
              </p:cNvPr>
              <p:cNvSpPr/>
              <p:nvPr/>
            </p:nvSpPr>
            <p:spPr>
              <a:xfrm>
                <a:off x="8266807" y="1565489"/>
                <a:ext cx="1483506" cy="56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zh-CN" altLang="en-US" sz="20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=25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691678F4-3410-46D2-A40D-EE34092C4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807" y="1565489"/>
                <a:ext cx="1483506" cy="567528"/>
              </a:xfrm>
              <a:prstGeom prst="rect">
                <a:avLst/>
              </a:prstGeom>
              <a:blipFill>
                <a:blip r:embed="rId4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93786361-83C5-4549-B6D7-EFE16FBB89E5}"/>
                  </a:ext>
                </a:extLst>
              </p:cNvPr>
              <p:cNvSpPr txBox="1"/>
              <p:nvPr/>
            </p:nvSpPr>
            <p:spPr>
              <a:xfrm>
                <a:off x="8404010" y="2257439"/>
                <a:ext cx="120910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f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93786361-83C5-4549-B6D7-EFE16FBB8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10" y="2257439"/>
                <a:ext cx="1209101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DDA0DF8-E257-4DE5-BDE4-6FA449719752}"/>
                  </a:ext>
                </a:extLst>
              </p:cNvPr>
              <p:cNvSpPr txBox="1"/>
              <p:nvPr/>
            </p:nvSpPr>
            <p:spPr>
              <a:xfrm>
                <a:off x="8293877" y="3306503"/>
                <a:ext cx="14293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4.7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𝑢𝐻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DDA0DF8-E257-4DE5-BDE4-6FA449719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877" y="3306503"/>
                <a:ext cx="142936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B680375-8D5B-46DA-8C2D-306A04B7F615}"/>
                  </a:ext>
                </a:extLst>
              </p:cNvPr>
              <p:cNvSpPr txBox="1"/>
              <p:nvPr/>
            </p:nvSpPr>
            <p:spPr>
              <a:xfrm>
                <a:off x="8266807" y="2781971"/>
                <a:ext cx="14835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𝑀𝐻𝑧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B680375-8D5B-46DA-8C2D-306A04B7F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6807" y="2781971"/>
                <a:ext cx="1483506" cy="400110"/>
              </a:xfrm>
              <a:prstGeom prst="rect">
                <a:avLst/>
              </a:prstGeom>
              <a:blipFill>
                <a:blip r:embed="rId7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右箭头 253">
            <a:extLst>
              <a:ext uri="{FF2B5EF4-FFF2-40B4-BE49-F238E27FC236}">
                <a16:creationId xmlns:a16="http://schemas.microsoft.com/office/drawing/2014/main" id="{A57224CA-F85A-4AFF-9F51-8DF0DDD35162}"/>
              </a:ext>
            </a:extLst>
          </p:cNvPr>
          <p:cNvSpPr/>
          <p:nvPr/>
        </p:nvSpPr>
        <p:spPr>
          <a:xfrm rot="5400000">
            <a:off x="8879798" y="3876089"/>
            <a:ext cx="257524" cy="16741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AE7C5C9-1754-43CF-897A-F241330B0424}"/>
                  </a:ext>
                </a:extLst>
              </p:cNvPr>
              <p:cNvSpPr txBox="1"/>
              <p:nvPr/>
            </p:nvSpPr>
            <p:spPr>
              <a:xfrm>
                <a:off x="7479749" y="4212981"/>
                <a:ext cx="305762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zh-CN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2000" dirty="0"/>
                  <a:t>=1.18Ω  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zh-CN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sub>
                    </m:sSub>
                  </m:oMath>
                </a14:m>
                <a:r>
                  <a:rPr lang="en-US" altLang="zh-CN" sz="2000" dirty="0"/>
                  <a:t>=0.029Ω</a:t>
                </a:r>
                <a:endParaRPr lang="zh-CN" altLang="en-US" sz="2000" dirty="0"/>
              </a:p>
            </p:txBody>
          </p:sp>
        </mc:Choice>
        <mc:Fallback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AE7C5C9-1754-43CF-897A-F241330B0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749" y="4212981"/>
                <a:ext cx="3057622" cy="400110"/>
              </a:xfrm>
              <a:prstGeom prst="rect">
                <a:avLst/>
              </a:prstGeom>
              <a:blipFill>
                <a:blip r:embed="rId8"/>
                <a:stretch>
                  <a:fillRect t="-7576" r="-199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12338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778"/>
    </mc:Choice>
    <mc:Fallback>
      <p:transition spd="slow" advTm="15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" presetID="35" presetClass="path" presetSubtype="0" accel="50000" decel="5000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3.7037E-6 L -0.25 -3.7037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-2.59259E-6 L -0.25 -2.59259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75E-6 -2.96296E-6 L -0.25 -2.96296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-3.7037E-6 L -0.25 -3.7037E-6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75E-6 4.81481E-6 L -0.25 4.81481E-6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accel="50000" decel="5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33333E-6 3.7037E-6 L -0.25065 -0.00047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3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9" grpId="0"/>
      <p:bldP spid="39" grpId="1"/>
      <p:bldP spid="36" grpId="0"/>
      <p:bldP spid="36" grpId="1"/>
      <p:bldP spid="37" grpId="0"/>
      <p:bldP spid="37" grpId="1"/>
      <p:bldP spid="31" grpId="0" animBg="1"/>
      <p:bldP spid="31" grpId="1" animBg="1"/>
      <p:bldP spid="62" grpId="0"/>
      <p:bldP spid="63" grpId="0"/>
      <p:bldP spid="64" grpId="0"/>
      <p:bldP spid="65" grpId="0"/>
      <p:bldP spid="66" grpId="0" animBg="1"/>
      <p:bldP spid="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C2D1A75A-62BB-4225-AB03-527A338EFE95}"/>
              </a:ext>
            </a:extLst>
          </p:cNvPr>
          <p:cNvSpPr txBox="1"/>
          <p:nvPr/>
        </p:nvSpPr>
        <p:spPr>
          <a:xfrm>
            <a:off x="2761081" y="437270"/>
            <a:ext cx="6669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什么时候考虑电感</a:t>
            </a:r>
            <a:r>
              <a:rPr lang="en-US" altLang="zh-CN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22F453-6B72-4393-8985-69C5084FC198}"/>
              </a:ext>
            </a:extLst>
          </p:cNvPr>
          <p:cNvSpPr txBox="1"/>
          <p:nvPr/>
        </p:nvSpPr>
        <p:spPr>
          <a:xfrm>
            <a:off x="2351315" y="1876586"/>
            <a:ext cx="5265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值的大小取决于实际应用，并不是越大越好</a:t>
            </a:r>
            <a:endParaRPr lang="zh-CN" altLang="en-US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443957-9387-44E8-8B12-6291E2FACB78}"/>
              </a:ext>
            </a:extLst>
          </p:cNvPr>
          <p:cNvSpPr txBox="1"/>
          <p:nvPr/>
        </p:nvSpPr>
        <p:spPr>
          <a:xfrm>
            <a:off x="2351315" y="2588476"/>
            <a:ext cx="5265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LC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滤波器，电感</a:t>
            </a: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值不能太大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AFCCCB-5722-49B7-88F3-AC85E2655315}"/>
              </a:ext>
            </a:extLst>
          </p:cNvPr>
          <p:cNvSpPr txBox="1"/>
          <p:nvPr/>
        </p:nvSpPr>
        <p:spPr>
          <a:xfrm>
            <a:off x="2351315" y="3300366"/>
            <a:ext cx="5265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、谐振电路，射频电路要求电感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3339552-EE56-4966-9E93-32875C626148}"/>
              </a:ext>
            </a:extLst>
          </p:cNvPr>
          <p:cNvSpPr txBox="1"/>
          <p:nvPr/>
        </p:nvSpPr>
        <p:spPr>
          <a:xfrm>
            <a:off x="2761081" y="4885422"/>
            <a:ext cx="7489371" cy="418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https://ds.murata.co.jp/simsurfing/powerinductor.html?lcid=zh-cn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2FDD195-A49A-4FFA-83FD-54716790DF20}"/>
              </a:ext>
            </a:extLst>
          </p:cNvPr>
          <p:cNvSpPr txBox="1"/>
          <p:nvPr/>
        </p:nvSpPr>
        <p:spPr>
          <a:xfrm>
            <a:off x="2351314" y="4382628"/>
            <a:ext cx="60960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8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村田电感参数查询网址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9481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938"/>
    </mc:Choice>
    <mc:Fallback>
      <p:transition spd="slow" advTm="129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  <p:bldP spid="22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0834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99"/>
    </mc:Choice>
    <mc:Fallback>
      <p:transition spd="slow" advTm="239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查看源图像">
            <a:extLst>
              <a:ext uri="{FF2B5EF4-FFF2-40B4-BE49-F238E27FC236}">
                <a16:creationId xmlns:a16="http://schemas.microsoft.com/office/drawing/2014/main" id="{4AF6C525-2EC7-481C-8D27-2E16AA22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1" r="24671"/>
          <a:stretch>
            <a:fillRect/>
          </a:stretch>
        </p:blipFill>
        <p:spPr bwMode="auto">
          <a:xfrm>
            <a:off x="279148" y="838071"/>
            <a:ext cx="4585846" cy="5088577"/>
          </a:xfrm>
          <a:custGeom>
            <a:avLst/>
            <a:gdLst>
              <a:gd name="connsiteX0" fmla="*/ 0 w 2901382"/>
              <a:gd name="connsiteY0" fmla="*/ 0 h 3219451"/>
              <a:gd name="connsiteX1" fmla="*/ 2901382 w 2901382"/>
              <a:gd name="connsiteY1" fmla="*/ 0 h 3219451"/>
              <a:gd name="connsiteX2" fmla="*/ 2901382 w 2901382"/>
              <a:gd name="connsiteY2" fmla="*/ 3219451 h 3219451"/>
              <a:gd name="connsiteX3" fmla="*/ 0 w 2901382"/>
              <a:gd name="connsiteY3" fmla="*/ 3219451 h 3219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382" h="3219451">
                <a:moveTo>
                  <a:pt x="0" y="0"/>
                </a:moveTo>
                <a:lnTo>
                  <a:pt x="2901382" y="0"/>
                </a:lnTo>
                <a:lnTo>
                  <a:pt x="2901382" y="3219451"/>
                </a:lnTo>
                <a:lnTo>
                  <a:pt x="0" y="3219451"/>
                </a:lnTo>
                <a:close/>
              </a:path>
            </a:pathLst>
          </a:custGeom>
          <a:noFill/>
          <a:ln w="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96EAD5-8E87-425A-A155-8C300F1E8567}"/>
              </a:ext>
            </a:extLst>
          </p:cNvPr>
          <p:cNvSpPr txBox="1"/>
          <p:nvPr/>
        </p:nvSpPr>
        <p:spPr>
          <a:xfrm>
            <a:off x="4100421" y="1019212"/>
            <a:ext cx="3991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b="1" spc="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电感</a:t>
            </a:r>
            <a:r>
              <a:rPr lang="en-US" altLang="zh-CN" sz="7200" b="1" spc="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7200" b="1" spc="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FC6846A-F6E3-4DF5-8AE1-9158276554EB}"/>
              </a:ext>
            </a:extLst>
          </p:cNvPr>
          <p:cNvGrpSpPr/>
          <p:nvPr/>
        </p:nvGrpSpPr>
        <p:grpSpPr>
          <a:xfrm>
            <a:off x="3407731" y="2949056"/>
            <a:ext cx="5376539" cy="2152162"/>
            <a:chOff x="3865514" y="2949056"/>
            <a:chExt cx="5376539" cy="2152162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EB683FBC-CF20-4D08-994E-2B696B493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4661" y="2949056"/>
              <a:ext cx="408489" cy="433304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AFB0BA1-2A1F-44AA-A485-0E6807AF56FD}"/>
                </a:ext>
              </a:extLst>
            </p:cNvPr>
            <p:cNvSpPr txBox="1"/>
            <p:nvPr/>
          </p:nvSpPr>
          <p:spPr>
            <a:xfrm>
              <a:off x="4488829" y="2965653"/>
              <a:ext cx="47179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DCDC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电路电感选型不考虑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值？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0CC92A3-495E-49E5-AFA2-16F16C8F2571}"/>
                </a:ext>
              </a:extLst>
            </p:cNvPr>
            <p:cNvSpPr txBox="1"/>
            <p:nvPr/>
          </p:nvSpPr>
          <p:spPr>
            <a:xfrm>
              <a:off x="4488829" y="3522009"/>
              <a:ext cx="39837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功率电感的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值曲线是怎么样的？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FD6CE3C-C7A7-4FC2-B15A-CB5FD07A6767}"/>
                </a:ext>
              </a:extLst>
            </p:cNvPr>
            <p:cNvSpPr txBox="1"/>
            <p:nvPr/>
          </p:nvSpPr>
          <p:spPr>
            <a:xfrm>
              <a:off x="4488829" y="4119857"/>
              <a:ext cx="47532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电感的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值在自谐振频率处是最大的吗？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0F3C6D5-ACA1-484C-AF0D-86FA03AB16DF}"/>
                </a:ext>
              </a:extLst>
            </p:cNvPr>
            <p:cNvSpPr txBox="1"/>
            <p:nvPr/>
          </p:nvSpPr>
          <p:spPr>
            <a:xfrm>
              <a:off x="4488829" y="4684511"/>
              <a:ext cx="32143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电感的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Q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值是越大越好吗？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0F8235F-4EFE-49B7-8EE8-3B25A2511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74660" y="3505412"/>
              <a:ext cx="408489" cy="43330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35274DC-67A1-4C12-9BB3-FB6606E7D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5515" y="4103260"/>
              <a:ext cx="408489" cy="433304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EB349C0-2AC3-471F-BC62-05147E8B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5514" y="4667914"/>
              <a:ext cx="408489" cy="433304"/>
            </a:xfrm>
            <a:prstGeom prst="rect">
              <a:avLst/>
            </a:prstGeom>
          </p:spPr>
        </p:pic>
      </p:grpSp>
      <p:pic>
        <p:nvPicPr>
          <p:cNvPr id="14" name="图片 13" descr="查看源图像">
            <a:extLst>
              <a:ext uri="{FF2B5EF4-FFF2-40B4-BE49-F238E27FC236}">
                <a16:creationId xmlns:a16="http://schemas.microsoft.com/office/drawing/2014/main" id="{E52808DC-9D31-4664-9EEB-CA4232FAB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8" t="12792" r="17333" b="13562"/>
          <a:stretch>
            <a:fillRect/>
          </a:stretch>
        </p:blipFill>
        <p:spPr bwMode="auto">
          <a:xfrm>
            <a:off x="8408410" y="3707799"/>
            <a:ext cx="3214341" cy="2684792"/>
          </a:xfrm>
          <a:custGeom>
            <a:avLst/>
            <a:gdLst>
              <a:gd name="connsiteX0" fmla="*/ 0 w 3247594"/>
              <a:gd name="connsiteY0" fmla="*/ 0 h 2712566"/>
              <a:gd name="connsiteX1" fmla="*/ 3247594 w 3247594"/>
              <a:gd name="connsiteY1" fmla="*/ 0 h 2712566"/>
              <a:gd name="connsiteX2" fmla="*/ 3247594 w 3247594"/>
              <a:gd name="connsiteY2" fmla="*/ 2712566 h 2712566"/>
              <a:gd name="connsiteX3" fmla="*/ 0 w 3247594"/>
              <a:gd name="connsiteY3" fmla="*/ 2712566 h 2712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47594" h="2712566">
                <a:moveTo>
                  <a:pt x="0" y="0"/>
                </a:moveTo>
                <a:lnTo>
                  <a:pt x="3247594" y="0"/>
                </a:lnTo>
                <a:lnTo>
                  <a:pt x="3247594" y="2712566"/>
                </a:lnTo>
                <a:lnTo>
                  <a:pt x="0" y="27125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 descr="查看源图像">
            <a:extLst>
              <a:ext uri="{FF2B5EF4-FFF2-40B4-BE49-F238E27FC236}">
                <a16:creationId xmlns:a16="http://schemas.microsoft.com/office/drawing/2014/main" id="{F7F2267B-D6A5-4924-9BF5-4B86EE3D5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3" t="12087" r="20497" b="19253"/>
          <a:stretch>
            <a:fillRect/>
          </a:stretch>
        </p:blipFill>
        <p:spPr bwMode="auto">
          <a:xfrm>
            <a:off x="8408410" y="179651"/>
            <a:ext cx="3214341" cy="2612840"/>
          </a:xfrm>
          <a:custGeom>
            <a:avLst/>
            <a:gdLst>
              <a:gd name="connsiteX0" fmla="*/ 0 w 2697905"/>
              <a:gd name="connsiteY0" fmla="*/ 0 h 2193045"/>
              <a:gd name="connsiteX1" fmla="*/ 2697905 w 2697905"/>
              <a:gd name="connsiteY1" fmla="*/ 0 h 2193045"/>
              <a:gd name="connsiteX2" fmla="*/ 2697905 w 2697905"/>
              <a:gd name="connsiteY2" fmla="*/ 2193045 h 2193045"/>
              <a:gd name="connsiteX3" fmla="*/ 0 w 2697905"/>
              <a:gd name="connsiteY3" fmla="*/ 2193045 h 219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7905" h="2193045">
                <a:moveTo>
                  <a:pt x="0" y="0"/>
                </a:moveTo>
                <a:lnTo>
                  <a:pt x="2697905" y="0"/>
                </a:lnTo>
                <a:lnTo>
                  <a:pt x="2697905" y="2193045"/>
                </a:lnTo>
                <a:lnTo>
                  <a:pt x="0" y="219304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162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42"/>
    </mc:Choice>
    <mc:Fallback>
      <p:transition spd="slow" advTm="2942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4906</TotalTime>
  <Words>427</Words>
  <Application>Microsoft Office PowerPoint</Application>
  <PresentationFormat>宽屏</PresentationFormat>
  <Paragraphs>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570</cp:revision>
  <dcterms:created xsi:type="dcterms:W3CDTF">2020-08-24T03:54:07Z</dcterms:created>
  <dcterms:modified xsi:type="dcterms:W3CDTF">2020-10-28T15:26:31Z</dcterms:modified>
</cp:coreProperties>
</file>